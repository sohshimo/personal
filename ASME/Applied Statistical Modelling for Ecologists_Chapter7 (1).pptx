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CC6D3B-DE21-6EAC-5D2A-634944F25A9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8DDC94E-0A8A-02B3-86B8-67F8AB4AD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5902414-41A8-14CF-CA4C-0BC7A1F22091}"/>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2965CCE0-646D-510B-5E1A-E6FC3DA4EB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140ADAA-BA7B-D393-C571-9BB8D5EDA36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16943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689CA-809D-EC2E-F42D-51DA21E10E8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71E619-DDD1-A880-251B-8618138E4D4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54BE2D-F637-3F7F-C2EE-4AF004B18FED}"/>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8F5F4E32-7EBC-9328-50AA-0127818051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1E142-AEAB-CBC9-6AA7-02191D3E27F2}"/>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259703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6BE4B-4A35-1360-8BC3-620E0FEA0AB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DCE3DD8-BADC-F81E-FD4F-6F5C3A752C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E403AC6-230A-A712-8397-57460796F17E}"/>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5A509A3C-BD45-2301-A19A-D8F47DE0410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2B8E95-19B8-562A-195E-B97CAB19F14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44154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3CF66-0CE0-9770-4B3D-EDE4BF22CF5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2430839-DC72-6840-7135-880B6F3318E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68C0A13-BC41-C2C2-254E-959725D366E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C3FC1AD-844F-F2EB-5CD4-7ECBE986C228}"/>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6" name="フッター プレースホルダー 5">
            <a:extLst>
              <a:ext uri="{FF2B5EF4-FFF2-40B4-BE49-F238E27FC236}">
                <a16:creationId xmlns:a16="http://schemas.microsoft.com/office/drawing/2014/main" id="{2DFD71B2-B10A-3189-AE8E-C8770E7B4E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58EB0C-CD20-EA24-3C4D-B8C7DB7A71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830975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0BD50-8C71-827A-6EC1-AF51D847CA8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89B170-986F-C31F-825B-7EBED4BD4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318AC9C-6C90-D8D2-6288-1D513D83EC2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F24543-B2CB-E027-40CC-B0FF7FE6D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DD201EA-DB17-A7BD-790C-13263CC2A71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2CFFB64-C910-8328-522C-65422DC5BDC3}"/>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8" name="フッター プレースホルダー 7">
            <a:extLst>
              <a:ext uri="{FF2B5EF4-FFF2-40B4-BE49-F238E27FC236}">
                <a16:creationId xmlns:a16="http://schemas.microsoft.com/office/drawing/2014/main" id="{71ACDE15-9236-F758-F8DA-AA2CE97AE8C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3F28DB3-43AE-A9D6-2402-6609B39C3364}"/>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300025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5505AF-A1C2-CBC5-4541-E3BBD7C6C5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4C82E2D-EB7E-2F58-1D8E-DFD5E9ED666A}"/>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4" name="フッター プレースホルダー 3">
            <a:extLst>
              <a:ext uri="{FF2B5EF4-FFF2-40B4-BE49-F238E27FC236}">
                <a16:creationId xmlns:a16="http://schemas.microsoft.com/office/drawing/2014/main" id="{E61517C2-9DC9-1FC7-BAA1-F079D0EBF6D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AB984E0-F2A7-0601-1D98-ADAABBA13D15}"/>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41202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45A27BF-84F8-7F53-609F-4F8A70924D59}"/>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3" name="フッター プレースホルダー 2">
            <a:extLst>
              <a:ext uri="{FF2B5EF4-FFF2-40B4-BE49-F238E27FC236}">
                <a16:creationId xmlns:a16="http://schemas.microsoft.com/office/drawing/2014/main" id="{7BC85232-C11B-8E0B-2796-3620AB78825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63503A-3C58-B141-4C18-B8662B7A572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671484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FBC3C-7162-359A-EF01-13661AD826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354480-09EF-2E42-E3FE-EF8ED81B70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0E653F2-221C-99A3-C1B8-DB77BEAFB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90D2D9-092D-0C41-9CE2-7C104E31D310}"/>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6" name="フッター プレースホルダー 5">
            <a:extLst>
              <a:ext uri="{FF2B5EF4-FFF2-40B4-BE49-F238E27FC236}">
                <a16:creationId xmlns:a16="http://schemas.microsoft.com/office/drawing/2014/main" id="{46BD2603-912B-32D5-C64F-36FC10DE33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239B87-DEE4-474D-D6A6-40621140231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72735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52B2CF-351C-10E8-9400-DFE83250F34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40F68A4-4F5F-A43A-0798-CFFCB204EE9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7CF935-3E83-2100-57AC-CD42FE903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5ECA0EA-9447-A015-BEC4-F179CFB34C5A}"/>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6" name="フッター プレースホルダー 5">
            <a:extLst>
              <a:ext uri="{FF2B5EF4-FFF2-40B4-BE49-F238E27FC236}">
                <a16:creationId xmlns:a16="http://schemas.microsoft.com/office/drawing/2014/main" id="{D1D4A49E-132A-9075-B13E-0F9CF0F0712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2D7FD69-1261-377E-B2E9-4FAC302B1E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0705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E86154-6B32-9FA7-AC64-0401BBA865B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18E00B-875E-22FB-0F3E-C86D394A8E1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5EC8F4-56D4-7835-4D70-10A949B38340}"/>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5B721F0E-8EB6-74D5-90A2-DBF52A6942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3BE141-607E-04CC-8BC3-3BE43A0D6E9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42602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F714B61-1775-8DD8-7529-027DE6E9F24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B42191-A290-F301-F947-9D924AF33EC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3FE194-4488-3B20-9F7D-BD0FC38CEE67}"/>
              </a:ext>
            </a:extLst>
          </p:cNvPr>
          <p:cNvSpPr>
            <a:spLocks noGrp="1"/>
          </p:cNvSpPr>
          <p:nvPr>
            <p:ph type="dt" sz="half" idx="10"/>
          </p:nvPr>
        </p:nvSpPr>
        <p:spPr/>
        <p:txBody>
          <a:bodyPr/>
          <a:lstStyle/>
          <a:p>
            <a:fld id="{337D95D0-8BB4-41AF-BC7D-0DD2CBA9C5B7}"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2F66573A-78EB-526D-3D9C-70CC93A639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1D1A8A-E8E3-CA69-39C9-1A2CCBC63F5F}"/>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173366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4F7D86-38D1-B73A-6E09-30D692630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92B2C88-8058-D973-C51F-094C1EB44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1471AE-E4DB-F7BA-533C-DF217BD2F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7D95D0-8BB4-41AF-BC7D-0DD2CBA9C5B7}"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53AFA1C1-1EF2-D9E0-5A4C-B9A1EA0D6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28741D-5005-70D2-EB07-8383A143C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C072CE-95FA-40FE-BC99-878DBE9A4B81}" type="slidenum">
              <a:rPr kumimoji="1" lang="ja-JP" altLang="en-US" smtClean="0"/>
              <a:t>‹#›</a:t>
            </a:fld>
            <a:endParaRPr kumimoji="1" lang="ja-JP" altLang="en-US"/>
          </a:p>
        </p:txBody>
      </p:sp>
      <p:sp>
        <p:nvSpPr>
          <p:cNvPr id="8" name="テキスト ボックス 7">
            <a:extLst>
              <a:ext uri="{FF2B5EF4-FFF2-40B4-BE49-F238E27FC236}">
                <a16:creationId xmlns:a16="http://schemas.microsoft.com/office/drawing/2014/main" id="{48E4CB5C-2952-02E4-ED93-80C2AC616E36}"/>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998248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7</a:t>
            </a:r>
          </a:p>
          <a:p>
            <a:r>
              <a:rPr kumimoji="1" lang="ja-JP" altLang="en-US" sz="2000" dirty="0">
                <a:latin typeface="BIZ UDゴシック" panose="020B0400000000000000" pitchFamily="49" charset="-128"/>
                <a:ea typeface="BIZ UDゴシック" panose="020B0400000000000000" pitchFamily="49" charset="-128"/>
              </a:rPr>
              <a:t>第</a:t>
            </a:r>
            <a:r>
              <a:rPr kumimoji="1" lang="en-US" altLang="ja-JP" sz="2000" dirty="0">
                <a:latin typeface="BIZ UDゴシック" panose="020B0400000000000000" pitchFamily="49" charset="-128"/>
                <a:ea typeface="BIZ UDゴシック" panose="020B0400000000000000" pitchFamily="49" charset="-128"/>
              </a:rPr>
              <a:t>7</a:t>
            </a:r>
            <a:r>
              <a:rPr kumimoji="1" lang="ja-JP" altLang="en-US" sz="2000" dirty="0">
                <a:latin typeface="BIZ UDゴシック" panose="020B0400000000000000" pitchFamily="49" charset="-128"/>
                <a:ea typeface="BIZ UDゴシック" panose="020B0400000000000000" pitchFamily="49" charset="-128"/>
              </a:rPr>
              <a:t>章：</a:t>
            </a:r>
            <a:r>
              <a:rPr kumimoji="1" lang="en-US" altLang="ja-JP" sz="2000" dirty="0">
                <a:latin typeface="BIZ UDゴシック" panose="020B0400000000000000" pitchFamily="49" charset="-128"/>
                <a:ea typeface="BIZ UDゴシック" panose="020B0400000000000000" pitchFamily="49" charset="-128"/>
              </a:rPr>
              <a:t>3</a:t>
            </a:r>
            <a:r>
              <a:rPr kumimoji="1" lang="ja-JP" altLang="en-US" sz="2000" dirty="0">
                <a:latin typeface="BIZ UDゴシック" panose="020B0400000000000000" pitchFamily="49" charset="-128"/>
                <a:ea typeface="BIZ UDゴシック" panose="020B0400000000000000" pitchFamily="49" charset="-128"/>
              </a:rPr>
              <a:t>つ以上の水準を持つ単一カテゴリ共変量のモデル </a:t>
            </a:r>
            <a:r>
              <a:rPr kumimoji="1" lang="en-US" altLang="ja-JP" sz="2000" dirty="0">
                <a:latin typeface="BIZ UDゴシック" panose="020B0400000000000000" pitchFamily="49" charset="-128"/>
                <a:ea typeface="BIZ UDゴシック" panose="020B0400000000000000" pitchFamily="49" charset="-128"/>
              </a:rPr>
              <a:t>(Models with a single categorical covariate with more than two levels)</a:t>
            </a:r>
            <a:endParaRPr kumimoji="1" lang="ja-JP" altLang="en-US" sz="2000"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r>
              <a:rPr kumimoji="1" lang="ja-JP" altLang="en-US" dirty="0">
                <a:latin typeface="BIZ UDゴシック" panose="020B0400000000000000" pitchFamily="49" charset="-128"/>
                <a:ea typeface="BIZ UDゴシック" panose="020B0400000000000000" pitchFamily="49" charset="-128"/>
              </a:rPr>
              <a:t>本章では、第</a:t>
            </a:r>
            <a:r>
              <a:rPr kumimoji="1" lang="en-US" altLang="ja-JP" dirty="0">
                <a:latin typeface="BIZ UDゴシック" panose="020B0400000000000000" pitchFamily="49" charset="-128"/>
                <a:ea typeface="BIZ UDゴシック" panose="020B0400000000000000" pitchFamily="49" charset="-128"/>
              </a:rPr>
              <a:t>6</a:t>
            </a:r>
            <a:r>
              <a:rPr kumimoji="1" lang="ja-JP" altLang="en-US" dirty="0">
                <a:latin typeface="BIZ UDゴシック" panose="020B0400000000000000" pitchFamily="49" charset="-128"/>
                <a:ea typeface="BIZ UDゴシック" panose="020B0400000000000000" pitchFamily="49" charset="-128"/>
              </a:rPr>
              <a:t>章の「</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グループ比較」を拡張し、</a:t>
            </a:r>
            <a:r>
              <a:rPr kumimoji="1" lang="en-US" altLang="ja-JP" dirty="0">
                <a:latin typeface="BIZ UDゴシック" panose="020B0400000000000000" pitchFamily="49" charset="-128"/>
                <a:ea typeface="BIZ UDゴシック" panose="020B0400000000000000" pitchFamily="49" charset="-128"/>
              </a:rPr>
              <a:t>3</a:t>
            </a:r>
            <a:r>
              <a:rPr kumimoji="1" lang="ja-JP" altLang="en-US" dirty="0">
                <a:latin typeface="BIZ UDゴシック" panose="020B0400000000000000" pitchFamily="49" charset="-128"/>
                <a:ea typeface="BIZ UDゴシック" panose="020B0400000000000000" pitchFamily="49" charset="-128"/>
              </a:rPr>
              <a:t>つ以上のグループ（水準）を持つ単一因子（</a:t>
            </a:r>
            <a:r>
              <a:rPr kumimoji="1" lang="en-US" altLang="ja-JP" dirty="0">
                <a:latin typeface="BIZ UDゴシック" panose="020B0400000000000000" pitchFamily="49" charset="-128"/>
                <a:ea typeface="BIZ UDゴシック" panose="020B0400000000000000" pitchFamily="49" charset="-128"/>
              </a:rPr>
              <a:t>Factor</a:t>
            </a:r>
            <a:r>
              <a:rPr kumimoji="1" lang="ja-JP" altLang="en-US" dirty="0">
                <a:latin typeface="BIZ UDゴシック" panose="020B0400000000000000" pitchFamily="49" charset="-128"/>
                <a:ea typeface="BIZ UDゴシック" panose="020B0400000000000000" pitchFamily="49" charset="-128"/>
              </a:rPr>
              <a:t>）を扱います。</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前半では固定効果モデル（</a:t>
            </a:r>
            <a:r>
              <a:rPr kumimoji="1" lang="en-US" altLang="ja-JP" dirty="0">
                <a:latin typeface="BIZ UDゴシック" panose="020B0400000000000000" pitchFamily="49" charset="-128"/>
                <a:ea typeface="BIZ UDゴシック" panose="020B0400000000000000" pitchFamily="49" charset="-128"/>
              </a:rPr>
              <a:t>Fixed-effects model</a:t>
            </a:r>
            <a:r>
              <a:rPr kumimoji="1" lang="ja-JP" altLang="en-US" dirty="0">
                <a:latin typeface="BIZ UDゴシック" panose="020B0400000000000000" pitchFamily="49" charset="-128"/>
                <a:ea typeface="BIZ UDゴシック" panose="020B0400000000000000" pitchFamily="49" charset="-128"/>
              </a:rPr>
              <a:t>）、後半では群間分散を考慮するランダム効果モデル（</a:t>
            </a:r>
            <a:r>
              <a:rPr kumimoji="1" lang="en-US" altLang="ja-JP" dirty="0">
                <a:latin typeface="BIZ UDゴシック" panose="020B0400000000000000" pitchFamily="49" charset="-128"/>
                <a:ea typeface="BIZ UDゴシック" panose="020B0400000000000000" pitchFamily="49" charset="-128"/>
              </a:rPr>
              <a:t>Random-effects model</a:t>
            </a:r>
            <a:r>
              <a:rPr kumimoji="1" lang="ja-JP" altLang="en-US" dirty="0">
                <a:latin typeface="BIZ UDゴシック" panose="020B0400000000000000" pitchFamily="49" charset="-128"/>
                <a:ea typeface="BIZ UDゴシック" panose="020B0400000000000000" pitchFamily="49" charset="-128"/>
              </a:rPr>
              <a:t>）（一元配置分散分析 </a:t>
            </a:r>
            <a:r>
              <a:rPr kumimoji="1" lang="en-US" altLang="ja-JP" dirty="0">
                <a:latin typeface="BIZ UDゴシック" panose="020B0400000000000000" pitchFamily="49" charset="-128"/>
                <a:ea typeface="BIZ UDゴシック" panose="020B0400000000000000" pitchFamily="49" charset="-128"/>
              </a:rPr>
              <a:t>[ANOVA] </a:t>
            </a:r>
            <a:r>
              <a:rPr kumimoji="1" lang="ja-JP" altLang="en-US" dirty="0">
                <a:latin typeface="BIZ UDゴシック" panose="020B0400000000000000" pitchFamily="49" charset="-128"/>
                <a:ea typeface="BIZ UDゴシック" panose="020B0400000000000000" pitchFamily="49" charset="-128"/>
              </a:rPr>
              <a:t>に相当）を取り上げ、両者の考え方や推定結果（縮小推定・強みの貸し借りなど）の違いを比較・解説します。</a:t>
            </a:r>
          </a:p>
        </p:txBody>
      </p:sp>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8CBA-82E1-5EF9-109D-6B49ADE613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880368-FA97-560F-8BC7-31E59687AA31}"/>
              </a:ext>
            </a:extLst>
          </p:cNvPr>
          <p:cNvSpPr>
            <a:spLocks noGrp="1"/>
          </p:cNvSpPr>
          <p:nvPr>
            <p:ph type="title"/>
          </p:nvPr>
        </p:nvSpPr>
        <p:spPr>
          <a:xfrm>
            <a:off x="838200" y="365126"/>
            <a:ext cx="10515600" cy="315912"/>
          </a:xfrm>
        </p:spPr>
        <p:txBody>
          <a:bodyPr>
            <a:normAutofit fontScale="90000"/>
          </a:bodyPr>
          <a:lstStyle/>
          <a:p>
            <a:r>
              <a:rPr kumimoji="1" lang="en-US" altLang="ja-JP" sz="3200" dirty="0">
                <a:latin typeface="BIZ UDゴシック" panose="020B0400000000000000" pitchFamily="49" charset="-128"/>
                <a:ea typeface="BIZ UDゴシック" panose="020B0400000000000000" pitchFamily="49" charset="-128"/>
              </a:rPr>
              <a:t>7.1 </a:t>
            </a:r>
            <a:r>
              <a:rPr kumimoji="1" lang="ja-JP" altLang="en-US" sz="3200" dirty="0">
                <a:latin typeface="BIZ UDゴシック" panose="020B0400000000000000" pitchFamily="49" charset="-128"/>
                <a:ea typeface="BIZ UDゴシック" panose="020B0400000000000000" pitchFamily="49" charset="-128"/>
              </a:rPr>
              <a:t>導入：固定効果とランダム効果 </a:t>
            </a:r>
            <a:r>
              <a:rPr kumimoji="1" lang="en-US" altLang="ja-JP" sz="3200" dirty="0">
                <a:latin typeface="BIZ UDゴシック" panose="020B0400000000000000" pitchFamily="49" charset="-128"/>
                <a:ea typeface="BIZ UDゴシック" panose="020B0400000000000000" pitchFamily="49" charset="-128"/>
              </a:rPr>
              <a:t>(Introduction: fixed and random effects)</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A843F03F-51EA-94FA-6651-E4DA69D21B5E}"/>
              </a:ext>
            </a:extLst>
          </p:cNvPr>
          <p:cNvSpPr>
            <a:spLocks noGrp="1"/>
          </p:cNvSpPr>
          <p:nvPr>
            <p:ph idx="1"/>
          </p:nvPr>
        </p:nvSpPr>
        <p:spPr>
          <a:xfrm>
            <a:off x="164387" y="1119883"/>
            <a:ext cx="11866651" cy="5609690"/>
          </a:xfrm>
        </p:spPr>
        <p:txBody>
          <a:bodyPr>
            <a:normAutofit fontScale="55000" lnSpcReduction="20000"/>
          </a:bodyPr>
          <a:lstStyle/>
          <a:p>
            <a:r>
              <a:rPr kumimoji="1" lang="ja-JP" altLang="en-US" dirty="0">
                <a:latin typeface="BIZ UDゴシック" panose="020B0400000000000000" pitchFamily="49" charset="-128"/>
                <a:ea typeface="BIZ UDゴシック" panose="020B0400000000000000" pitchFamily="49" charset="-128"/>
              </a:rPr>
              <a:t>スイスに棲息するヘビの一種・ナメラカガシ（</a:t>
            </a:r>
            <a:r>
              <a:rPr kumimoji="1" lang="en-US" altLang="ja-JP" dirty="0">
                <a:latin typeface="BIZ UDゴシック" panose="020B0400000000000000" pitchFamily="49" charset="-128"/>
                <a:ea typeface="BIZ UDゴシック" panose="020B0400000000000000" pitchFamily="49" charset="-128"/>
              </a:rPr>
              <a:t>Coronella austriaca</a:t>
            </a:r>
            <a:r>
              <a:rPr kumimoji="1" lang="ja-JP" altLang="en-US" dirty="0">
                <a:latin typeface="BIZ UDゴシック" panose="020B0400000000000000" pitchFamily="49" charset="-128"/>
                <a:ea typeface="BIZ UDゴシック" panose="020B0400000000000000" pitchFamily="49" charset="-128"/>
              </a:rPr>
              <a:t>）の</a:t>
            </a:r>
            <a:r>
              <a:rPr kumimoji="1" lang="en-US" altLang="ja-JP" dirty="0">
                <a:latin typeface="BIZ UDゴシック" panose="020B0400000000000000" pitchFamily="49" charset="-128"/>
                <a:ea typeface="BIZ UDゴシック" panose="020B0400000000000000" pitchFamily="49" charset="-128"/>
              </a:rPr>
              <a:t>5</a:t>
            </a:r>
            <a:r>
              <a:rPr kumimoji="1" lang="ja-JP" altLang="en-US" dirty="0">
                <a:latin typeface="BIZ UDゴシック" panose="020B0400000000000000" pitchFamily="49" charset="-128"/>
                <a:ea typeface="BIZ UDゴシック" panose="020B0400000000000000" pitchFamily="49" charset="-128"/>
              </a:rPr>
              <a:t>つの集団における体長（</a:t>
            </a:r>
            <a:r>
              <a:rPr kumimoji="1" lang="en-US" altLang="ja-JP" dirty="0">
                <a:latin typeface="BIZ UDゴシック" panose="020B0400000000000000" pitchFamily="49" charset="-128"/>
                <a:ea typeface="BIZ UDゴシック" panose="020B0400000000000000" pitchFamily="49" charset="-128"/>
              </a:rPr>
              <a:t>SVL</a:t>
            </a:r>
            <a:r>
              <a:rPr kumimoji="1" lang="ja-JP" altLang="en-US" dirty="0">
                <a:latin typeface="BIZ UDゴシック" panose="020B0400000000000000" pitchFamily="49" charset="-128"/>
                <a:ea typeface="BIZ UDゴシック" panose="020B0400000000000000" pitchFamily="49" charset="-128"/>
              </a:rPr>
              <a:t>）比較を例題とする。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モデル表現</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平均値母数化（</a:t>
            </a:r>
            <a:r>
              <a:rPr kumimoji="1" lang="en-US" altLang="ja-JP" dirty="0">
                <a:latin typeface="BIZ UDゴシック" panose="020B0400000000000000" pitchFamily="49" charset="-128"/>
                <a:ea typeface="BIZ UDゴシック" panose="020B0400000000000000" pitchFamily="49" charset="-128"/>
              </a:rPr>
              <a:t>Means parameterization</a:t>
            </a:r>
            <a:r>
              <a:rPr kumimoji="1" lang="ja-JP" altLang="en-US" dirty="0">
                <a:latin typeface="BIZ UDゴシック" panose="020B0400000000000000" pitchFamily="49" charset="-128"/>
                <a:ea typeface="BIZ UDゴシック" panose="020B0400000000000000" pitchFamily="49" charset="-128"/>
              </a:rPr>
              <a:t>）を用い、</a:t>
            </a:r>
            <a:r>
              <a:rPr kumimoji="1" lang="en-US" altLang="ja-JP" dirty="0">
                <a:latin typeface="BIZ UDゴシック" panose="020B0400000000000000" pitchFamily="49" charset="-128"/>
                <a:ea typeface="BIZ UDゴシック" panose="020B0400000000000000" pitchFamily="49" charset="-128"/>
              </a:rPr>
              <a:t>$</a:t>
            </a:r>
            <a:r>
              <a:rPr kumimoji="1" lang="en-US" altLang="ja-JP" dirty="0" err="1">
                <a:latin typeface="BIZ UDゴシック" panose="020B0400000000000000" pitchFamily="49" charset="-128"/>
                <a:ea typeface="BIZ UDゴシック" panose="020B0400000000000000" pitchFamily="49" charset="-128"/>
              </a:rPr>
              <a:t>y_i</a:t>
            </a:r>
            <a:r>
              <a:rPr kumimoji="1" lang="en-US" altLang="ja-JP" dirty="0">
                <a:latin typeface="BIZ UDゴシック" panose="020B0400000000000000" pitchFamily="49" charset="-128"/>
                <a:ea typeface="BIZ UDゴシック" panose="020B0400000000000000" pitchFamily="49" charset="-128"/>
              </a:rPr>
              <a:t> = \alpha_{j(</a:t>
            </a:r>
            <a:r>
              <a:rPr kumimoji="1" lang="en-US" altLang="ja-JP" dirty="0" err="1">
                <a:latin typeface="BIZ UDゴシック" panose="020B0400000000000000" pitchFamily="49" charset="-128"/>
                <a:ea typeface="BIZ UDゴシック" panose="020B0400000000000000" pitchFamily="49" charset="-128"/>
              </a:rPr>
              <a:t>i</a:t>
            </a:r>
            <a:r>
              <a:rPr kumimoji="1" lang="en-US" altLang="ja-JP" dirty="0">
                <a:latin typeface="BIZ UDゴシック" panose="020B0400000000000000" pitchFamily="49" charset="-128"/>
                <a:ea typeface="BIZ UDゴシック" panose="020B0400000000000000" pitchFamily="49" charset="-128"/>
              </a:rPr>
              <a:t>)} + \</a:t>
            </a:r>
            <a:r>
              <a:rPr kumimoji="1" lang="en-US" altLang="ja-JP" dirty="0" err="1">
                <a:latin typeface="BIZ UDゴシック" panose="020B0400000000000000" pitchFamily="49" charset="-128"/>
                <a:ea typeface="BIZ UDゴシック" panose="020B0400000000000000" pitchFamily="49" charset="-128"/>
              </a:rPr>
              <a:t>epsilon_i</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a:t>
            </a:r>
            <a:r>
              <a:rPr kumimoji="1" lang="en-US" altLang="ja-JP" dirty="0" err="1">
                <a:latin typeface="BIZ UDゴシック" panose="020B0400000000000000" pitchFamily="49" charset="-128"/>
                <a:ea typeface="BIZ UDゴシック" panose="020B0400000000000000" pitchFamily="49" charset="-128"/>
              </a:rPr>
              <a:t>epsilon_i</a:t>
            </a:r>
            <a:r>
              <a:rPr kumimoji="1" lang="en-US" altLang="ja-JP" dirty="0">
                <a:latin typeface="BIZ UDゴシック" panose="020B0400000000000000" pitchFamily="49" charset="-128"/>
                <a:ea typeface="BIZ UDゴシック" panose="020B0400000000000000" pitchFamily="49" charset="-128"/>
              </a:rPr>
              <a:t> \sim \text{Normal}(0, \sigma^2)$</a:t>
            </a:r>
            <a:r>
              <a:rPr kumimoji="1" lang="ja-JP" altLang="en-US" dirty="0">
                <a:latin typeface="BIZ UDゴシック" panose="020B0400000000000000" pitchFamily="49" charset="-128"/>
                <a:ea typeface="BIZ UDゴシック" panose="020B0400000000000000" pitchFamily="49" charset="-128"/>
              </a:rPr>
              <a:t>）としてモデル化する。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固定効果とランダム効果の定義</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固定効果</a:t>
            </a:r>
            <a:r>
              <a:rPr kumimoji="1" lang="en-US" altLang="ja-JP" dirty="0">
                <a:latin typeface="BIZ UDゴシック" panose="020B0400000000000000" pitchFamily="49" charset="-128"/>
                <a:ea typeface="BIZ UDゴシック" panose="020B0400000000000000" pitchFamily="49" charset="-128"/>
              </a:rPr>
              <a:t>: $\</a:t>
            </a:r>
            <a:r>
              <a:rPr kumimoji="1" lang="en-US" altLang="ja-JP" dirty="0" err="1">
                <a:latin typeface="BIZ UDゴシック" panose="020B0400000000000000" pitchFamily="49" charset="-128"/>
                <a:ea typeface="BIZ UDゴシック" panose="020B0400000000000000" pitchFamily="49" charset="-128"/>
              </a:rPr>
              <a:t>alpha_j</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を未知の定数として個別に推定する。特定の水準に関心がある場合や、研究に含まれる全水準をカバーしている場合に適する。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ランダム効果</a:t>
            </a:r>
            <a:r>
              <a:rPr kumimoji="1" lang="en-US" altLang="ja-JP" dirty="0">
                <a:latin typeface="BIZ UDゴシック" panose="020B0400000000000000" pitchFamily="49" charset="-128"/>
                <a:ea typeface="BIZ UDゴシック" panose="020B0400000000000000" pitchFamily="49" charset="-128"/>
              </a:rPr>
              <a:t>: $\</a:t>
            </a:r>
            <a:r>
              <a:rPr kumimoji="1" lang="en-US" altLang="ja-JP" dirty="0" err="1">
                <a:latin typeface="BIZ UDゴシック" panose="020B0400000000000000" pitchFamily="49" charset="-128"/>
                <a:ea typeface="BIZ UDゴシック" panose="020B0400000000000000" pitchFamily="49" charset="-128"/>
              </a:rPr>
              <a:t>alpha_j</a:t>
            </a:r>
            <a:r>
              <a:rPr kumimoji="1" lang="en-US" altLang="ja-JP" dirty="0">
                <a:latin typeface="BIZ UDゴシック" panose="020B0400000000000000" pitchFamily="49" charset="-128"/>
                <a:ea typeface="BIZ UDゴシック" panose="020B0400000000000000" pitchFamily="49" charset="-128"/>
              </a:rPr>
              <a:t> \sim \text{Normal}(\mu, \tau^2)$ </a:t>
            </a:r>
            <a:r>
              <a:rPr kumimoji="1" lang="ja-JP" altLang="en-US" dirty="0">
                <a:latin typeface="BIZ UDゴシック" panose="020B0400000000000000" pitchFamily="49" charset="-128"/>
                <a:ea typeface="BIZ UDゴシック" panose="020B0400000000000000" pitchFamily="49" charset="-128"/>
              </a:rPr>
              <a:t>のように、上位の確率分布（ハイパーパラメータ </a:t>
            </a:r>
            <a:r>
              <a:rPr kumimoji="1" lang="en-US" altLang="ja-JP" dirty="0">
                <a:latin typeface="BIZ UDゴシック" panose="020B0400000000000000" pitchFamily="49" charset="-128"/>
                <a:ea typeface="BIZ UDゴシック" panose="020B0400000000000000" pitchFamily="49" charset="-128"/>
              </a:rPr>
              <a:t>$\mu, \tau^2$</a:t>
            </a:r>
            <a:r>
              <a:rPr kumimoji="1" lang="ja-JP" altLang="en-US" dirty="0">
                <a:latin typeface="BIZ UDゴシック" panose="020B0400000000000000" pitchFamily="49" charset="-128"/>
                <a:ea typeface="BIZ UDゴシック" panose="020B0400000000000000" pitchFamily="49" charset="-128"/>
              </a:rPr>
              <a:t>）からの抽出値として扱う。未観察の水準へ外挿したい場合や、共通の生成過程（交換可能性）を仮定できる場合に適する。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ランダム効果化の</a:t>
            </a:r>
            <a:r>
              <a:rPr kumimoji="1" lang="en-US" altLang="ja-JP" dirty="0">
                <a:latin typeface="BIZ UDゴシック" panose="020B0400000000000000" pitchFamily="49" charset="-128"/>
                <a:ea typeface="BIZ UDゴシック" panose="020B0400000000000000" pitchFamily="49" charset="-128"/>
              </a:rPr>
              <a:t>5</a:t>
            </a:r>
            <a:r>
              <a:rPr kumimoji="1" lang="ja-JP" altLang="en-US" dirty="0">
                <a:latin typeface="BIZ UDゴシック" panose="020B0400000000000000" pitchFamily="49" charset="-128"/>
                <a:ea typeface="BIZ UDゴシック" panose="020B0400000000000000" pitchFamily="49" charset="-128"/>
              </a:rPr>
              <a:t>つの利点</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母集団全体のハイパーパラメータ推論・外挿が可能になる。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再現時の変動（不確実性）をより誠実に評価できる。   縮小推定（</a:t>
            </a:r>
            <a:r>
              <a:rPr kumimoji="1" lang="en-US" altLang="ja-JP" dirty="0">
                <a:latin typeface="BIZ UDゴシック" panose="020B0400000000000000" pitchFamily="49" charset="-128"/>
                <a:ea typeface="BIZ UDゴシック" panose="020B0400000000000000" pitchFamily="49" charset="-128"/>
              </a:rPr>
              <a:t>Shrinkage</a:t>
            </a:r>
            <a:r>
              <a:rPr kumimoji="1" lang="ja-JP" altLang="en-US" dirty="0">
                <a:latin typeface="BIZ UDゴシック" panose="020B0400000000000000" pitchFamily="49" charset="-128"/>
                <a:ea typeface="BIZ UDゴシック" panose="020B0400000000000000" pitchFamily="49" charset="-128"/>
              </a:rPr>
              <a:t>）と「強みの貸し借り（</a:t>
            </a:r>
            <a:r>
              <a:rPr kumimoji="1" lang="en-US" altLang="ja-JP" dirty="0">
                <a:latin typeface="BIZ UDゴシック" panose="020B0400000000000000" pitchFamily="49" charset="-128"/>
                <a:ea typeface="BIZ UDゴシック" panose="020B0400000000000000" pitchFamily="49" charset="-128"/>
              </a:rPr>
              <a:t>Borrowing strength</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情報量が少ない水準の推定値が全体平均 </a:t>
            </a:r>
            <a:r>
              <a:rPr kumimoji="1" lang="en-US" altLang="ja-JP" dirty="0">
                <a:latin typeface="BIZ UDゴシック" panose="020B0400000000000000" pitchFamily="49" charset="-128"/>
                <a:ea typeface="BIZ UDゴシック" panose="020B0400000000000000" pitchFamily="49" charset="-128"/>
              </a:rPr>
              <a:t>$\mu$ </a:t>
            </a:r>
            <a:r>
              <a:rPr kumimoji="1" lang="ja-JP" altLang="en-US" dirty="0">
                <a:latin typeface="BIZ UDゴシック" panose="020B0400000000000000" pitchFamily="49" charset="-128"/>
                <a:ea typeface="BIZ UDゴシック" panose="020B0400000000000000" pitchFamily="49" charset="-128"/>
              </a:rPr>
              <a:t>側へ引き寄せられ、予測精度が向上する。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多変量正規分布等を用いた相関構造（時空間自己相関など）のモデル化が可能。   推定値に対する正則化（ペナルティ）として機能する。</a:t>
            </a:r>
          </a:p>
        </p:txBody>
      </p:sp>
    </p:spTree>
    <p:extLst>
      <p:ext uri="{BB962C8B-B14F-4D97-AF65-F5344CB8AC3E}">
        <p14:creationId xmlns:p14="http://schemas.microsoft.com/office/powerpoint/2010/main" val="3681102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2B98-ACD4-59B6-B4BB-6833F6921B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7F450F-F5B1-D41C-B0AD-00103C54E528}"/>
              </a:ext>
            </a:extLst>
          </p:cNvPr>
          <p:cNvSpPr>
            <a:spLocks noGrp="1"/>
          </p:cNvSpPr>
          <p:nvPr>
            <p:ph type="title"/>
          </p:nvPr>
        </p:nvSpPr>
        <p:spPr>
          <a:xfrm>
            <a:off x="838200" y="365126"/>
            <a:ext cx="10515600" cy="315912"/>
          </a:xfrm>
        </p:spPr>
        <p:txBody>
          <a:bodyPr>
            <a:normAutofit fontScale="90000"/>
          </a:bodyPr>
          <a:lstStyle/>
          <a:p>
            <a:r>
              <a:rPr kumimoji="1" lang="en-US" altLang="ja-JP" sz="3600" dirty="0">
                <a:latin typeface="BIZ UDゴシック" panose="020B0400000000000000" pitchFamily="49" charset="-128"/>
                <a:ea typeface="BIZ UDゴシック" panose="020B0400000000000000" pitchFamily="49" charset="-128"/>
              </a:rPr>
              <a:t>7.2 </a:t>
            </a:r>
            <a:r>
              <a:rPr kumimoji="1" lang="ja-JP" altLang="en-US" sz="3600" dirty="0">
                <a:latin typeface="BIZ UDゴシック" panose="020B0400000000000000" pitchFamily="49" charset="-128"/>
                <a:ea typeface="BIZ UDゴシック" panose="020B0400000000000000" pitchFamily="49" charset="-128"/>
              </a:rPr>
              <a:t>固定効果モデル</a:t>
            </a:r>
            <a:br>
              <a:rPr kumimoji="1" lang="en-US" altLang="ja-JP" sz="3600" dirty="0">
                <a:latin typeface="BIZ UDゴシック" panose="020B0400000000000000" pitchFamily="49" charset="-128"/>
                <a:ea typeface="BIZ UDゴシック" panose="020B0400000000000000" pitchFamily="49" charset="-128"/>
              </a:rPr>
            </a:br>
            <a:r>
              <a:rPr kumimoji="1" lang="ja-JP" altLang="en-US" sz="3600" dirty="0">
                <a:latin typeface="BIZ UDゴシック" panose="020B0400000000000000" pitchFamily="49" charset="-128"/>
                <a:ea typeface="BIZ UDゴシック" panose="020B0400000000000000" pitchFamily="49" charset="-128"/>
              </a:rPr>
              <a:t> </a:t>
            </a:r>
            <a:r>
              <a:rPr kumimoji="1" lang="en-US" altLang="ja-JP" sz="3600" dirty="0">
                <a:latin typeface="BIZ UDゴシック" panose="020B0400000000000000" pitchFamily="49" charset="-128"/>
                <a:ea typeface="BIZ UDゴシック" panose="020B0400000000000000" pitchFamily="49" charset="-128"/>
              </a:rPr>
              <a:t>(Fixed-effects models)</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A740BD5-4E95-147C-EEEF-11AF2A099DA9}"/>
              </a:ext>
            </a:extLst>
          </p:cNvPr>
          <p:cNvSpPr>
            <a:spLocks noGrp="1"/>
          </p:cNvSpPr>
          <p:nvPr>
            <p:ph idx="1"/>
          </p:nvPr>
        </p:nvSpPr>
        <p:spPr>
          <a:xfrm>
            <a:off x="113017" y="1222624"/>
            <a:ext cx="11979666" cy="5414481"/>
          </a:xfrm>
        </p:spPr>
        <p:txBody>
          <a:bodyPr>
            <a:normAutofit fontScale="55000" lnSpcReduction="20000"/>
          </a:bodyPr>
          <a:lstStyle/>
          <a:p>
            <a:r>
              <a:rPr kumimoji="1" lang="en-US" altLang="ja-JP" dirty="0">
                <a:latin typeface="BIZ UDゴシック" panose="020B0400000000000000" pitchFamily="49" charset="-128"/>
                <a:ea typeface="BIZ UDゴシック" panose="020B0400000000000000" pitchFamily="49" charset="-128"/>
              </a:rPr>
              <a:t>7.2.1 </a:t>
            </a:r>
            <a:r>
              <a:rPr kumimoji="1" lang="ja-JP" altLang="en-US" dirty="0">
                <a:latin typeface="BIZ UDゴシック" panose="020B0400000000000000" pitchFamily="49" charset="-128"/>
                <a:ea typeface="BIZ UDゴシック" panose="020B0400000000000000" pitchFamily="49" charset="-128"/>
              </a:rPr>
              <a:t>データの生成</a:t>
            </a:r>
            <a:r>
              <a:rPr kumimoji="1" lang="en-US" altLang="ja-JP" dirty="0">
                <a:latin typeface="BIZ UDゴシック" panose="020B0400000000000000" pitchFamily="49" charset="-128"/>
                <a:ea typeface="BIZ UDゴシック" panose="020B0400000000000000" pitchFamily="49" charset="-128"/>
              </a:rPr>
              <a:t>: 5</a:t>
            </a:r>
            <a:r>
              <a:rPr kumimoji="1" lang="ja-JP" altLang="en-US" dirty="0">
                <a:latin typeface="BIZ UDゴシック" panose="020B0400000000000000" pitchFamily="49" charset="-128"/>
                <a:ea typeface="BIZ UDゴシック" panose="020B0400000000000000" pitchFamily="49" charset="-128"/>
              </a:rPr>
              <a:t>集団（各</a:t>
            </a:r>
            <a:r>
              <a:rPr kumimoji="1" lang="en-US" altLang="ja-JP" dirty="0">
                <a:latin typeface="BIZ UDゴシック" panose="020B0400000000000000" pitchFamily="49" charset="-128"/>
                <a:ea typeface="BIZ UDゴシック" panose="020B0400000000000000" pitchFamily="49" charset="-128"/>
              </a:rPr>
              <a:t>10</a:t>
            </a:r>
            <a:r>
              <a:rPr kumimoji="1" lang="ja-JP" altLang="en-US" dirty="0">
                <a:latin typeface="BIZ UDゴシック" panose="020B0400000000000000" pitchFamily="49" charset="-128"/>
                <a:ea typeface="BIZ UDゴシック" panose="020B0400000000000000" pitchFamily="49" charset="-128"/>
              </a:rPr>
              <a:t>個体、</a:t>
            </a:r>
            <a:r>
              <a:rPr kumimoji="1" lang="en-US" altLang="ja-JP" dirty="0">
                <a:latin typeface="BIZ UDゴシック" panose="020B0400000000000000" pitchFamily="49" charset="-128"/>
                <a:ea typeface="BIZ UDゴシック" panose="020B0400000000000000" pitchFamily="49" charset="-128"/>
              </a:rPr>
              <a:t>$n=50$</a:t>
            </a:r>
            <a:r>
              <a:rPr kumimoji="1" lang="ja-JP" altLang="en-US" dirty="0">
                <a:latin typeface="BIZ UDゴシック" panose="020B0400000000000000" pitchFamily="49" charset="-128"/>
                <a:ea typeface="BIZ UDゴシック" panose="020B0400000000000000" pitchFamily="49" charset="-128"/>
              </a:rPr>
              <a:t>）、平均値（</a:t>
            </a:r>
            <a:r>
              <a:rPr kumimoji="1" lang="en-US" altLang="ja-JP" dirty="0">
                <a:latin typeface="BIZ UDゴシック" panose="020B0400000000000000" pitchFamily="49" charset="-128"/>
                <a:ea typeface="BIZ UDゴシック" panose="020B0400000000000000" pitchFamily="49" charset="-128"/>
              </a:rPr>
              <a:t>50, 40, 45, 55, 60</a:t>
            </a:r>
            <a:r>
              <a:rPr kumimoji="1" lang="ja-JP" altLang="en-US" dirty="0">
                <a:latin typeface="BIZ UDゴシック" panose="020B0400000000000000" pitchFamily="49" charset="-128"/>
                <a:ea typeface="BIZ UDゴシック" panose="020B0400000000000000" pitchFamily="49" charset="-128"/>
              </a:rPr>
              <a:t>）、残差</a:t>
            </a:r>
            <a:r>
              <a:rPr kumimoji="1" lang="en-US" altLang="ja-JP" dirty="0">
                <a:latin typeface="BIZ UDゴシック" panose="020B0400000000000000" pitchFamily="49" charset="-128"/>
                <a:ea typeface="BIZ UDゴシック" panose="020B0400000000000000" pitchFamily="49" charset="-128"/>
              </a:rPr>
              <a:t>SD $\sigma=5$ </a:t>
            </a:r>
            <a:r>
              <a:rPr kumimoji="1" lang="ja-JP" altLang="en-US" dirty="0">
                <a:latin typeface="BIZ UDゴシック" panose="020B0400000000000000" pitchFamily="49" charset="-128"/>
                <a:ea typeface="BIZ UDゴシック" panose="020B0400000000000000" pitchFamily="49" charset="-128"/>
              </a:rPr>
              <a:t>のシミュレーションデータを生成する。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7.2.2 R</a:t>
            </a:r>
            <a:r>
              <a:rPr kumimoji="1" lang="ja-JP" altLang="en-US" dirty="0">
                <a:latin typeface="BIZ UDゴシック" panose="020B0400000000000000" pitchFamily="49" charset="-128"/>
                <a:ea typeface="BIZ UDゴシック" panose="020B0400000000000000" pitchFamily="49" charset="-128"/>
              </a:rPr>
              <a:t>の標準関数による最尤分析</a:t>
            </a:r>
            <a:r>
              <a:rPr kumimoji="1" lang="en-US" altLang="ja-JP" dirty="0">
                <a:latin typeface="BIZ UDゴシック" panose="020B0400000000000000" pitchFamily="49" charset="-128"/>
                <a:ea typeface="BIZ UDゴシック" panose="020B0400000000000000" pitchFamily="49" charset="-128"/>
              </a:rPr>
              <a:t>: </a:t>
            </a:r>
            <a:r>
              <a:rPr kumimoji="1" lang="en-US" altLang="ja-JP" dirty="0" err="1">
                <a:latin typeface="BIZ UDゴシック" panose="020B0400000000000000" pitchFamily="49" charset="-128"/>
                <a:ea typeface="BIZ UDゴシック" panose="020B0400000000000000" pitchFamily="49" charset="-128"/>
              </a:rPr>
              <a:t>lm</a:t>
            </a:r>
            <a:r>
              <a:rPr kumimoji="1" lang="en-US" altLang="ja-JP" dirty="0">
                <a:latin typeface="BIZ UDゴシック" panose="020B0400000000000000" pitchFamily="49" charset="-128"/>
                <a:ea typeface="BIZ UDゴシック" panose="020B0400000000000000" pitchFamily="49" charset="-128"/>
              </a:rPr>
              <a:t>(y ~ pop - 1)</a:t>
            </a:r>
            <a:r>
              <a:rPr kumimoji="1" lang="ja-JP" altLang="en-US" dirty="0">
                <a:latin typeface="BIZ UDゴシック" panose="020B0400000000000000" pitchFamily="49" charset="-128"/>
                <a:ea typeface="BIZ UDゴシック" panose="020B0400000000000000" pitchFamily="49" charset="-128"/>
              </a:rPr>
              <a:t>（平均値母数化）を用いて最小二乗法（最尤法と同等）で推定し、</a:t>
            </a:r>
            <a:r>
              <a:rPr kumimoji="1" lang="en-US" altLang="ja-JP" dirty="0" err="1">
                <a:latin typeface="BIZ UDゴシック" panose="020B0400000000000000" pitchFamily="49" charset="-128"/>
                <a:ea typeface="BIZ UDゴシック" panose="020B0400000000000000" pitchFamily="49" charset="-128"/>
              </a:rPr>
              <a:t>DHARMa</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による分位残差でモデル適合度を診断する。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7.2.3 JAGS</a:t>
            </a:r>
            <a:r>
              <a:rPr kumimoji="1" lang="ja-JP" altLang="en-US" dirty="0">
                <a:latin typeface="BIZ UDゴシック" panose="020B0400000000000000" pitchFamily="49" charset="-128"/>
                <a:ea typeface="BIZ UDゴシック" panose="020B0400000000000000" pitchFamily="49" charset="-128"/>
              </a:rPr>
              <a:t>によるベイズ分析</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二重インデックス（</a:t>
            </a:r>
            <a:r>
              <a:rPr kumimoji="1" lang="en-US" altLang="ja-JP" dirty="0">
                <a:latin typeface="BIZ UDゴシック" panose="020B0400000000000000" pitchFamily="49" charset="-128"/>
                <a:ea typeface="BIZ UDゴシック" panose="020B0400000000000000" pitchFamily="49" charset="-128"/>
              </a:rPr>
              <a:t>alpha[pop[</a:t>
            </a:r>
            <a:r>
              <a:rPr kumimoji="1" lang="en-US" altLang="ja-JP" dirty="0" err="1">
                <a:latin typeface="BIZ UDゴシック" panose="020B0400000000000000" pitchFamily="49" charset="-128"/>
                <a:ea typeface="BIZ UDゴシック" panose="020B0400000000000000" pitchFamily="49" charset="-128"/>
              </a:rPr>
              <a:t>i</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）を用いてコードを記述する。   派生パラメータとして効果量（基準群との差分）や、独自の定量的対比（カスタム仮説テスト</a:t>
            </a:r>
            <a:r>
              <a:rPr kumimoji="1" lang="en-US" altLang="ja-JP" dirty="0">
                <a:latin typeface="BIZ UDゴシック" panose="020B0400000000000000" pitchFamily="49" charset="-128"/>
                <a:ea typeface="BIZ UDゴシック" panose="020B0400000000000000" pitchFamily="49" charset="-128"/>
              </a:rPr>
              <a:t>: test1, test2</a:t>
            </a:r>
            <a:r>
              <a:rPr kumimoji="1" lang="ja-JP" altLang="en-US" dirty="0">
                <a:latin typeface="BIZ UDゴシック" panose="020B0400000000000000" pitchFamily="49" charset="-128"/>
                <a:ea typeface="BIZ UDゴシック" panose="020B0400000000000000" pitchFamily="49" charset="-128"/>
              </a:rPr>
              <a:t>）を誤差伝播を伴って容易に計算できるベイズ法の強みを示す。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7.2.4 NIMBLE</a:t>
            </a:r>
            <a:r>
              <a:rPr kumimoji="1" lang="ja-JP" altLang="en-US" dirty="0">
                <a:latin typeface="BIZ UDゴシック" panose="020B0400000000000000" pitchFamily="49" charset="-128"/>
                <a:ea typeface="BIZ UDゴシック" panose="020B0400000000000000" pitchFamily="49" charset="-128"/>
              </a:rPr>
              <a:t>によるベイズ分析</a:t>
            </a:r>
            <a:r>
              <a:rPr kumimoji="1" lang="en-US" altLang="ja-JP" dirty="0">
                <a:latin typeface="BIZ UDゴシック" panose="020B0400000000000000" pitchFamily="49" charset="-128"/>
                <a:ea typeface="BIZ UDゴシック" panose="020B0400000000000000" pitchFamily="49" charset="-128"/>
              </a:rPr>
              <a:t>: Web</a:t>
            </a:r>
            <a:r>
              <a:rPr kumimoji="1" lang="ja-JP" altLang="en-US" dirty="0">
                <a:latin typeface="BIZ UDゴシック" panose="020B0400000000000000" pitchFamily="49" charset="-128"/>
                <a:ea typeface="BIZ UDゴシック" panose="020B0400000000000000" pitchFamily="49" charset="-128"/>
              </a:rPr>
              <a:t>サイト提供のコードで同等のモデルを実行する。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7.2.5 Stan</a:t>
            </a:r>
            <a:r>
              <a:rPr kumimoji="1" lang="ja-JP" altLang="en-US" dirty="0">
                <a:latin typeface="BIZ UDゴシック" panose="020B0400000000000000" pitchFamily="49" charset="-128"/>
                <a:ea typeface="BIZ UDゴシック" panose="020B0400000000000000" pitchFamily="49" charset="-128"/>
              </a:rPr>
              <a:t>によるベイズ分析</a:t>
            </a:r>
            <a:r>
              <a:rPr kumimoji="1" lang="en-US" altLang="ja-JP" dirty="0">
                <a:latin typeface="BIZ UDゴシック" panose="020B0400000000000000" pitchFamily="49" charset="-128"/>
                <a:ea typeface="BIZ UDゴシック" panose="020B0400000000000000" pitchFamily="49" charset="-128"/>
              </a:rPr>
              <a:t>: data, parameters, model, generated quantities </a:t>
            </a:r>
            <a:r>
              <a:rPr kumimoji="1" lang="ja-JP" altLang="en-US" dirty="0">
                <a:latin typeface="BIZ UDゴシック" panose="020B0400000000000000" pitchFamily="49" charset="-128"/>
                <a:ea typeface="BIZ UDゴシック" panose="020B0400000000000000" pitchFamily="49" charset="-128"/>
              </a:rPr>
              <a:t>ブロックを構築して推定する。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7.2.6 DIY</a:t>
            </a:r>
            <a:r>
              <a:rPr kumimoji="1" lang="ja-JP" altLang="en-US" dirty="0">
                <a:latin typeface="BIZ UDゴシック" panose="020B0400000000000000" pitchFamily="49" charset="-128"/>
                <a:ea typeface="BIZ UDゴシック" panose="020B0400000000000000" pitchFamily="49" charset="-128"/>
              </a:rPr>
              <a:t>による最尤推定</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デザイン行列 </a:t>
            </a:r>
            <a:r>
              <a:rPr kumimoji="1" lang="en-US" altLang="ja-JP" dirty="0">
                <a:latin typeface="BIZ UDゴシック" panose="020B0400000000000000" pitchFamily="49" charset="-128"/>
                <a:ea typeface="BIZ UDゴシック" panose="020B0400000000000000" pitchFamily="49" charset="-128"/>
              </a:rPr>
              <a:t>$X$ </a:t>
            </a:r>
            <a:r>
              <a:rPr kumimoji="1" lang="ja-JP" altLang="en-US" dirty="0">
                <a:latin typeface="BIZ UDゴシック" panose="020B0400000000000000" pitchFamily="49" charset="-128"/>
                <a:ea typeface="BIZ UDゴシック" panose="020B0400000000000000" pitchFamily="49" charset="-128"/>
              </a:rPr>
              <a:t>と平均パラメータベクトル </a:t>
            </a:r>
            <a:r>
              <a:rPr kumimoji="1" lang="en-US" altLang="ja-JP" dirty="0">
                <a:latin typeface="BIZ UDゴシック" panose="020B0400000000000000" pitchFamily="49" charset="-128"/>
                <a:ea typeface="BIZ UDゴシック" panose="020B0400000000000000" pitchFamily="49" charset="-128"/>
              </a:rPr>
              <a:t>$\alpha$ </a:t>
            </a:r>
            <a:r>
              <a:rPr kumimoji="1" lang="ja-JP" altLang="en-US" dirty="0">
                <a:latin typeface="BIZ UDゴシック" panose="020B0400000000000000" pitchFamily="49" charset="-128"/>
                <a:ea typeface="BIZ UDゴシック" panose="020B0400000000000000" pitchFamily="49" charset="-128"/>
              </a:rPr>
              <a:t>の行列積（</a:t>
            </a:r>
            <a:r>
              <a:rPr kumimoji="1" lang="en-US" altLang="ja-JP" dirty="0">
                <a:latin typeface="BIZ UDゴシック" panose="020B0400000000000000" pitchFamily="49" charset="-128"/>
                <a:ea typeface="BIZ UDゴシック" panose="020B0400000000000000" pitchFamily="49" charset="-128"/>
              </a:rPr>
              <a:t>$\mu = X\alpha$</a:t>
            </a:r>
            <a:r>
              <a:rPr kumimoji="1" lang="ja-JP" altLang="en-US" dirty="0">
                <a:latin typeface="BIZ UDゴシック" panose="020B0400000000000000" pitchFamily="49" charset="-128"/>
                <a:ea typeface="BIZ UDゴシック" panose="020B0400000000000000" pitchFamily="49" charset="-128"/>
              </a:rPr>
              <a:t>）から負の対数尤度（</a:t>
            </a:r>
            <a:r>
              <a:rPr kumimoji="1" lang="en-US" altLang="ja-JP" dirty="0">
                <a:latin typeface="BIZ UDゴシック" panose="020B0400000000000000" pitchFamily="49" charset="-128"/>
                <a:ea typeface="BIZ UDゴシック" panose="020B0400000000000000" pitchFamily="49" charset="-128"/>
              </a:rPr>
              <a:t>NLL</a:t>
            </a:r>
            <a:r>
              <a:rPr kumimoji="1" lang="ja-JP" altLang="en-US" dirty="0">
                <a:latin typeface="BIZ UDゴシック" panose="020B0400000000000000" pitchFamily="49" charset="-128"/>
                <a:ea typeface="BIZ UDゴシック" panose="020B0400000000000000" pitchFamily="49" charset="-128"/>
              </a:rPr>
              <a:t>）を定義し、</a:t>
            </a:r>
            <a:r>
              <a:rPr kumimoji="1" lang="en-US" altLang="ja-JP" dirty="0" err="1">
                <a:latin typeface="BIZ UDゴシック" panose="020B0400000000000000" pitchFamily="49" charset="-128"/>
                <a:ea typeface="BIZ UDゴシック" panose="020B0400000000000000" pitchFamily="49" charset="-128"/>
              </a:rPr>
              <a:t>optim</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で最適化する。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7.2.7 TMB</a:t>
            </a:r>
            <a:r>
              <a:rPr kumimoji="1" lang="ja-JP" altLang="en-US" dirty="0">
                <a:latin typeface="BIZ UDゴシック" panose="020B0400000000000000" pitchFamily="49" charset="-128"/>
                <a:ea typeface="BIZ UDゴシック" panose="020B0400000000000000" pitchFamily="49" charset="-128"/>
              </a:rPr>
              <a:t>による最尤分析</a:t>
            </a:r>
            <a:r>
              <a:rPr kumimoji="1" lang="en-US" altLang="ja-JP" dirty="0">
                <a:latin typeface="BIZ UDゴシック" panose="020B0400000000000000" pitchFamily="49" charset="-128"/>
                <a:ea typeface="BIZ UDゴシック" panose="020B0400000000000000" pitchFamily="49" charset="-128"/>
              </a:rPr>
              <a:t>: C++</a:t>
            </a:r>
            <a:r>
              <a:rPr kumimoji="1" lang="ja-JP" altLang="en-US" dirty="0">
                <a:latin typeface="BIZ UDゴシック" panose="020B0400000000000000" pitchFamily="49" charset="-128"/>
                <a:ea typeface="BIZ UDゴシック" panose="020B0400000000000000" pitchFamily="49" charset="-128"/>
              </a:rPr>
              <a:t>で記述し、</a:t>
            </a:r>
            <a:r>
              <a:rPr kumimoji="1" lang="en-US" altLang="ja-JP" dirty="0">
                <a:latin typeface="BIZ UDゴシック" panose="020B0400000000000000" pitchFamily="49" charset="-128"/>
                <a:ea typeface="BIZ UDゴシック" panose="020B0400000000000000" pitchFamily="49" charset="-128"/>
              </a:rPr>
              <a:t>ADREPORT() </a:t>
            </a:r>
            <a:r>
              <a:rPr kumimoji="1" lang="ja-JP" altLang="en-US" dirty="0">
                <a:latin typeface="BIZ UDゴシック" panose="020B0400000000000000" pitchFamily="49" charset="-128"/>
                <a:ea typeface="BIZ UDゴシック" panose="020B0400000000000000" pitchFamily="49" charset="-128"/>
              </a:rPr>
              <a:t>を用いて派生効果やカスタムテストの標準誤差を取得する。なお、</a:t>
            </a:r>
            <a:r>
              <a:rPr kumimoji="1" lang="en-US" altLang="ja-JP" dirty="0">
                <a:latin typeface="BIZ UDゴシック" panose="020B0400000000000000" pitchFamily="49" charset="-128"/>
                <a:ea typeface="BIZ UDゴシック" panose="020B0400000000000000" pitchFamily="49" charset="-128"/>
              </a:rPr>
              <a:t>TMB</a:t>
            </a:r>
            <a:r>
              <a:rPr kumimoji="1" lang="ja-JP" altLang="en-US" dirty="0">
                <a:latin typeface="BIZ UDゴシック" panose="020B0400000000000000" pitchFamily="49" charset="-128"/>
                <a:ea typeface="BIZ UDゴシック" panose="020B0400000000000000" pitchFamily="49" charset="-128"/>
              </a:rPr>
              <a:t>ではインデックスが</a:t>
            </a:r>
            <a:r>
              <a:rPr kumimoji="1" lang="en-US" altLang="ja-JP" dirty="0">
                <a:latin typeface="BIZ UDゴシック" panose="020B0400000000000000" pitchFamily="49" charset="-128"/>
                <a:ea typeface="BIZ UDゴシック" panose="020B0400000000000000" pitchFamily="49" charset="-128"/>
              </a:rPr>
              <a:t>0</a:t>
            </a:r>
            <a:r>
              <a:rPr kumimoji="1" lang="ja-JP" altLang="en-US" dirty="0">
                <a:latin typeface="BIZ UDゴシック" panose="020B0400000000000000" pitchFamily="49" charset="-128"/>
                <a:ea typeface="BIZ UDゴシック" panose="020B0400000000000000" pitchFamily="49" charset="-128"/>
              </a:rPr>
              <a:t>から始まる点に注意する。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7.2.8 </a:t>
            </a:r>
            <a:r>
              <a:rPr kumimoji="1" lang="ja-JP" altLang="en-US" dirty="0">
                <a:latin typeface="BIZ UDゴシック" panose="020B0400000000000000" pitchFamily="49" charset="-128"/>
                <a:ea typeface="BIZ UDゴシック" panose="020B0400000000000000" pitchFamily="49" charset="-128"/>
              </a:rPr>
              <a:t>パラメータ推定値の比較</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すべてのエンジンで平均のパラメータは一致するが、残差</a:t>
            </a:r>
            <a:r>
              <a:rPr kumimoji="1" lang="en-US" altLang="ja-JP" dirty="0">
                <a:latin typeface="BIZ UDゴシック" panose="020B0400000000000000" pitchFamily="49" charset="-128"/>
                <a:ea typeface="BIZ UDゴシック" panose="020B0400000000000000" pitchFamily="49" charset="-128"/>
              </a:rPr>
              <a:t>SD $\sigma$ </a:t>
            </a:r>
            <a:r>
              <a:rPr kumimoji="1" lang="ja-JP" altLang="en-US" dirty="0">
                <a:latin typeface="BIZ UDゴシック" panose="020B0400000000000000" pitchFamily="49" charset="-128"/>
                <a:ea typeface="BIZ UDゴシック" panose="020B0400000000000000" pitchFamily="49" charset="-128"/>
              </a:rPr>
              <a:t>については小サンプルバイアスや事前分布の影響による僅かな違いが見られる。</a:t>
            </a:r>
          </a:p>
        </p:txBody>
      </p:sp>
    </p:spTree>
    <p:extLst>
      <p:ext uri="{BB962C8B-B14F-4D97-AF65-F5344CB8AC3E}">
        <p14:creationId xmlns:p14="http://schemas.microsoft.com/office/powerpoint/2010/main" val="1105873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95137-4136-CB30-3C62-CBCD6B1582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D00626-B930-9FA1-E129-423A8D7E095D}"/>
              </a:ext>
            </a:extLst>
          </p:cNvPr>
          <p:cNvSpPr>
            <a:spLocks noGrp="1"/>
          </p:cNvSpPr>
          <p:nvPr>
            <p:ph type="title"/>
          </p:nvPr>
        </p:nvSpPr>
        <p:spPr>
          <a:xfrm>
            <a:off x="838200" y="365126"/>
            <a:ext cx="10515600" cy="610920"/>
          </a:xfrm>
        </p:spPr>
        <p:txBody>
          <a:bodyPr>
            <a:normAutofit fontScale="90000"/>
          </a:bodyPr>
          <a:lstStyle/>
          <a:p>
            <a:r>
              <a:rPr kumimoji="1" lang="en-US" altLang="ja-JP" sz="3600" dirty="0">
                <a:latin typeface="BIZ UDゴシック" panose="020B0400000000000000" pitchFamily="49" charset="-128"/>
                <a:ea typeface="BIZ UDゴシック" panose="020B0400000000000000" pitchFamily="49" charset="-128"/>
              </a:rPr>
              <a:t>7.3 </a:t>
            </a:r>
            <a:r>
              <a:rPr kumimoji="1" lang="ja-JP" altLang="en-US" sz="3600" dirty="0">
                <a:latin typeface="BIZ UDゴシック" panose="020B0400000000000000" pitchFamily="49" charset="-128"/>
                <a:ea typeface="BIZ UDゴシック" panose="020B0400000000000000" pitchFamily="49" charset="-128"/>
              </a:rPr>
              <a:t>ランダム効果モデル </a:t>
            </a: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(Random-effects models)</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5310487-AC29-292D-1D09-9578B82E22B6}"/>
              </a:ext>
            </a:extLst>
          </p:cNvPr>
          <p:cNvSpPr>
            <a:spLocks noGrp="1"/>
          </p:cNvSpPr>
          <p:nvPr>
            <p:ph idx="1"/>
          </p:nvPr>
        </p:nvSpPr>
        <p:spPr>
          <a:xfrm>
            <a:off x="359596" y="1202076"/>
            <a:ext cx="11507056" cy="5404207"/>
          </a:xfrm>
        </p:spPr>
        <p:txBody>
          <a:bodyPr>
            <a:normAutofit fontScale="47500" lnSpcReduction="20000"/>
          </a:bodyPr>
          <a:lstStyle/>
          <a:p>
            <a:r>
              <a:rPr kumimoji="1" lang="en-US" altLang="ja-JP" dirty="0">
                <a:latin typeface="BIZ UDゴシック" panose="020B0400000000000000" pitchFamily="49" charset="-128"/>
                <a:ea typeface="BIZ UDゴシック" panose="020B0400000000000000" pitchFamily="49" charset="-128"/>
              </a:rPr>
              <a:t>7.3.1 </a:t>
            </a:r>
            <a:r>
              <a:rPr kumimoji="1" lang="ja-JP" altLang="en-US" dirty="0">
                <a:latin typeface="BIZ UDゴシック" panose="020B0400000000000000" pitchFamily="49" charset="-128"/>
                <a:ea typeface="BIZ UDゴシック" panose="020B0400000000000000" pitchFamily="49" charset="-128"/>
              </a:rPr>
              <a:t>データの生成</a:t>
            </a:r>
            <a:r>
              <a:rPr kumimoji="1" lang="en-US" altLang="ja-JP" dirty="0">
                <a:latin typeface="BIZ UDゴシック" panose="020B0400000000000000" pitchFamily="49" charset="-128"/>
                <a:ea typeface="BIZ UDゴシック" panose="020B0400000000000000" pitchFamily="49" charset="-128"/>
              </a:rPr>
              <a:t>: 10</a:t>
            </a:r>
            <a:r>
              <a:rPr kumimoji="1" lang="ja-JP" altLang="en-US" dirty="0">
                <a:latin typeface="BIZ UDゴシック" panose="020B0400000000000000" pitchFamily="49" charset="-128"/>
                <a:ea typeface="BIZ UDゴシック" panose="020B0400000000000000" pitchFamily="49" charset="-128"/>
              </a:rPr>
              <a:t>集団（各</a:t>
            </a:r>
            <a:r>
              <a:rPr kumimoji="1" lang="en-US" altLang="ja-JP" dirty="0">
                <a:latin typeface="BIZ UDゴシック" panose="020B0400000000000000" pitchFamily="49" charset="-128"/>
                <a:ea typeface="BIZ UDゴシック" panose="020B0400000000000000" pitchFamily="49" charset="-128"/>
              </a:rPr>
              <a:t>12</a:t>
            </a:r>
            <a:r>
              <a:rPr kumimoji="1" lang="ja-JP" altLang="en-US" dirty="0">
                <a:latin typeface="BIZ UDゴシック" panose="020B0400000000000000" pitchFamily="49" charset="-128"/>
                <a:ea typeface="BIZ UDゴシック" panose="020B0400000000000000" pitchFamily="49" charset="-128"/>
              </a:rPr>
              <a:t>個体、</a:t>
            </a:r>
            <a:r>
              <a:rPr kumimoji="1" lang="en-US" altLang="ja-JP" dirty="0">
                <a:latin typeface="BIZ UDゴシック" panose="020B0400000000000000" pitchFamily="49" charset="-128"/>
                <a:ea typeface="BIZ UDゴシック" panose="020B0400000000000000" pitchFamily="49" charset="-128"/>
              </a:rPr>
              <a:t>$n=120$</a:t>
            </a:r>
            <a:r>
              <a:rPr kumimoji="1" lang="ja-JP" altLang="en-US" dirty="0">
                <a:latin typeface="BIZ UDゴシック" panose="020B0400000000000000" pitchFamily="49" charset="-128"/>
                <a:ea typeface="BIZ UDゴシック" panose="020B0400000000000000" pitchFamily="49" charset="-128"/>
              </a:rPr>
              <a:t>）、全体平均 </a:t>
            </a:r>
            <a:r>
              <a:rPr kumimoji="1" lang="en-US" altLang="ja-JP" dirty="0">
                <a:latin typeface="BIZ UDゴシック" panose="020B0400000000000000" pitchFamily="49" charset="-128"/>
                <a:ea typeface="BIZ UDゴシック" panose="020B0400000000000000" pitchFamily="49" charset="-128"/>
              </a:rPr>
              <a:t>$\mu=50$</a:t>
            </a:r>
            <a:r>
              <a:rPr kumimoji="1" lang="ja-JP" altLang="en-US" dirty="0">
                <a:latin typeface="BIZ UDゴシック" panose="020B0400000000000000" pitchFamily="49" charset="-128"/>
                <a:ea typeface="BIZ UDゴシック" panose="020B0400000000000000" pitchFamily="49" charset="-128"/>
              </a:rPr>
              <a:t>、集団間</a:t>
            </a:r>
            <a:r>
              <a:rPr kumimoji="1" lang="en-US" altLang="ja-JP" dirty="0">
                <a:latin typeface="BIZ UDゴシック" panose="020B0400000000000000" pitchFamily="49" charset="-128"/>
                <a:ea typeface="BIZ UDゴシック" panose="020B0400000000000000" pitchFamily="49" charset="-128"/>
              </a:rPr>
              <a:t>SD $\tau=3$</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pop.sd</a:t>
            </a:r>
            <a:r>
              <a:rPr kumimoji="1" lang="ja-JP" altLang="en-US" dirty="0">
                <a:latin typeface="BIZ UDゴシック" panose="020B0400000000000000" pitchFamily="49" charset="-128"/>
                <a:ea typeface="BIZ UDゴシック" panose="020B0400000000000000" pitchFamily="49" charset="-128"/>
              </a:rPr>
              <a:t>）、残差</a:t>
            </a:r>
            <a:r>
              <a:rPr kumimoji="1" lang="en-US" altLang="ja-JP" dirty="0">
                <a:latin typeface="BIZ UDゴシック" panose="020B0400000000000000" pitchFamily="49" charset="-128"/>
                <a:ea typeface="BIZ UDゴシック" panose="020B0400000000000000" pitchFamily="49" charset="-128"/>
              </a:rPr>
              <a:t>SD $\sigma=5$ </a:t>
            </a:r>
            <a:r>
              <a:rPr kumimoji="1" lang="ja-JP" altLang="en-US" dirty="0">
                <a:latin typeface="BIZ UDゴシック" panose="020B0400000000000000" pitchFamily="49" charset="-128"/>
                <a:ea typeface="BIZ UDゴシック" panose="020B0400000000000000" pitchFamily="49" charset="-128"/>
              </a:rPr>
              <a:t>とし、集団平均を </a:t>
            </a:r>
            <a:r>
              <a:rPr kumimoji="1" lang="en-US" altLang="ja-JP" dirty="0">
                <a:latin typeface="BIZ UDゴシック" panose="020B0400000000000000" pitchFamily="49" charset="-128"/>
                <a:ea typeface="BIZ UDゴシック" panose="020B0400000000000000" pitchFamily="49" charset="-128"/>
              </a:rPr>
              <a:t>$\text{Normal}(\mu, \tau^2)$ </a:t>
            </a:r>
            <a:r>
              <a:rPr kumimoji="1" lang="ja-JP" altLang="en-US" dirty="0">
                <a:latin typeface="BIZ UDゴシック" panose="020B0400000000000000" pitchFamily="49" charset="-128"/>
                <a:ea typeface="BIZ UDゴシック" panose="020B0400000000000000" pitchFamily="49" charset="-128"/>
              </a:rPr>
              <a:t>から抽出してデータを生成する。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7.3.2 R</a:t>
            </a:r>
            <a:r>
              <a:rPr kumimoji="1" lang="ja-JP" altLang="en-US" dirty="0">
                <a:latin typeface="BIZ UDゴシック" panose="020B0400000000000000" pitchFamily="49" charset="-128"/>
                <a:ea typeface="BIZ UDゴシック" panose="020B0400000000000000" pitchFamily="49" charset="-128"/>
              </a:rPr>
              <a:t>の標準関数による最尤分析</a:t>
            </a:r>
            <a:r>
              <a:rPr kumimoji="1" lang="en-US" altLang="ja-JP" dirty="0">
                <a:latin typeface="BIZ UDゴシック" panose="020B0400000000000000" pitchFamily="49" charset="-128"/>
                <a:ea typeface="BIZ UDゴシック" panose="020B0400000000000000" pitchFamily="49" charset="-128"/>
              </a:rPr>
              <a:t>:</a:t>
            </a:r>
            <a:r>
              <a:rPr kumimoji="1" lang="en-US" altLang="ja-JP" dirty="0" err="1">
                <a:latin typeface="BIZ UDゴシック" panose="020B0400000000000000" pitchFamily="49" charset="-128"/>
                <a:ea typeface="BIZ UDゴシック" panose="020B0400000000000000" pitchFamily="49" charset="-128"/>
              </a:rPr>
              <a:t>glmmTMB</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パッケージを使用し、公式記法 </a:t>
            </a:r>
            <a:r>
              <a:rPr kumimoji="1" lang="en-US" altLang="ja-JP" dirty="0">
                <a:latin typeface="BIZ UDゴシック" panose="020B0400000000000000" pitchFamily="49" charset="-128"/>
                <a:ea typeface="BIZ UDゴシック" panose="020B0400000000000000" pitchFamily="49" charset="-128"/>
              </a:rPr>
              <a:t>+(1|pop) </a:t>
            </a:r>
            <a:r>
              <a:rPr kumimoji="1" lang="ja-JP" altLang="en-US" dirty="0">
                <a:latin typeface="BIZ UDゴシック" panose="020B0400000000000000" pitchFamily="49" charset="-128"/>
                <a:ea typeface="BIZ UDゴシック" panose="020B0400000000000000" pitchFamily="49" charset="-128"/>
              </a:rPr>
              <a:t>を用いてランダム切片モデルを適合する。   最尤法（</a:t>
            </a:r>
            <a:r>
              <a:rPr kumimoji="1" lang="en-US" altLang="ja-JP" dirty="0">
                <a:latin typeface="BIZ UDゴシック" panose="020B0400000000000000" pitchFamily="49" charset="-128"/>
                <a:ea typeface="BIZ UDゴシック" panose="020B0400000000000000" pitchFamily="49" charset="-128"/>
              </a:rPr>
              <a:t>ML</a:t>
            </a:r>
            <a:r>
              <a:rPr kumimoji="1" lang="ja-JP" altLang="en-US" dirty="0">
                <a:latin typeface="BIZ UDゴシック" panose="020B0400000000000000" pitchFamily="49" charset="-128"/>
                <a:ea typeface="BIZ UDゴシック" panose="020B0400000000000000" pitchFamily="49" charset="-128"/>
              </a:rPr>
              <a:t>）と制限付き最尤法（</a:t>
            </a:r>
            <a:r>
              <a:rPr kumimoji="1" lang="en-US" altLang="ja-JP" dirty="0">
                <a:latin typeface="BIZ UDゴシック" panose="020B0400000000000000" pitchFamily="49" charset="-128"/>
                <a:ea typeface="BIZ UDゴシック" panose="020B0400000000000000" pitchFamily="49" charset="-128"/>
              </a:rPr>
              <a:t>REML</a:t>
            </a:r>
            <a:r>
              <a:rPr kumimoji="1" lang="ja-JP" altLang="en-US" dirty="0">
                <a:latin typeface="BIZ UDゴシック" panose="020B0400000000000000" pitchFamily="49" charset="-128"/>
                <a:ea typeface="BIZ UDゴシック" panose="020B0400000000000000" pitchFamily="49" charset="-128"/>
              </a:rPr>
              <a:t>）を比較し、</a:t>
            </a:r>
            <a:r>
              <a:rPr kumimoji="1" lang="en-US" altLang="ja-JP" dirty="0">
                <a:latin typeface="BIZ UDゴシック" panose="020B0400000000000000" pitchFamily="49" charset="-128"/>
                <a:ea typeface="BIZ UDゴシック" panose="020B0400000000000000" pitchFamily="49" charset="-128"/>
              </a:rPr>
              <a:t>REML</a:t>
            </a:r>
            <a:r>
              <a:rPr kumimoji="1" lang="ja-JP" altLang="en-US" dirty="0">
                <a:latin typeface="BIZ UDゴシック" panose="020B0400000000000000" pitchFamily="49" charset="-128"/>
                <a:ea typeface="BIZ UDゴシック" panose="020B0400000000000000" pitchFamily="49" charset="-128"/>
              </a:rPr>
              <a:t>の方が分散成分のバイアスが小さいことを示す。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7.3.3 JAGS</a:t>
            </a:r>
            <a:r>
              <a:rPr kumimoji="1" lang="ja-JP" altLang="en-US" dirty="0">
                <a:latin typeface="BIZ UDゴシック" panose="020B0400000000000000" pitchFamily="49" charset="-128"/>
                <a:ea typeface="BIZ UDゴシック" panose="020B0400000000000000" pitchFamily="49" charset="-128"/>
              </a:rPr>
              <a:t>によるベイズ分析と固定・ランダム効果の比較</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集団平均の事前分布に </a:t>
            </a:r>
            <a:r>
              <a:rPr kumimoji="1" lang="en-US" altLang="ja-JP" dirty="0" err="1">
                <a:latin typeface="BIZ UDゴシック" panose="020B0400000000000000" pitchFamily="49" charset="-128"/>
                <a:ea typeface="BIZ UDゴシック" panose="020B0400000000000000" pitchFamily="49" charset="-128"/>
              </a:rPr>
              <a:t>dnorm</a:t>
            </a:r>
            <a:r>
              <a:rPr kumimoji="1" lang="en-US" altLang="ja-JP" dirty="0">
                <a:latin typeface="BIZ UDゴシック" panose="020B0400000000000000" pitchFamily="49" charset="-128"/>
                <a:ea typeface="BIZ UDゴシック" panose="020B0400000000000000" pitchFamily="49" charset="-128"/>
              </a:rPr>
              <a:t>(</a:t>
            </a:r>
            <a:r>
              <a:rPr kumimoji="1" lang="en-US" altLang="ja-JP" dirty="0" err="1">
                <a:latin typeface="BIZ UDゴシック" panose="020B0400000000000000" pitchFamily="49" charset="-128"/>
                <a:ea typeface="BIZ UDゴシック" panose="020B0400000000000000" pitchFamily="49" charset="-128"/>
              </a:rPr>
              <a:t>pop.grand.mean</a:t>
            </a:r>
            <a:r>
              <a:rPr kumimoji="1" lang="en-US" altLang="ja-JP" dirty="0">
                <a:latin typeface="BIZ UDゴシック" panose="020B0400000000000000" pitchFamily="49" charset="-128"/>
                <a:ea typeface="BIZ UDゴシック" panose="020B0400000000000000" pitchFamily="49" charset="-128"/>
              </a:rPr>
              <a:t>, </a:t>
            </a:r>
            <a:r>
              <a:rPr kumimoji="1" lang="en-US" altLang="ja-JP" dirty="0" err="1">
                <a:latin typeface="BIZ UDゴシック" panose="020B0400000000000000" pitchFamily="49" charset="-128"/>
                <a:ea typeface="BIZ UDゴシック" panose="020B0400000000000000" pitchFamily="49" charset="-128"/>
              </a:rPr>
              <a:t>pop.tau</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を指定することでランダム効果を表現する。集団間</a:t>
            </a:r>
            <a:r>
              <a:rPr kumimoji="1" lang="en-US" altLang="ja-JP" dirty="0">
                <a:latin typeface="BIZ UDゴシック" panose="020B0400000000000000" pitchFamily="49" charset="-128"/>
                <a:ea typeface="BIZ UDゴシック" panose="020B0400000000000000" pitchFamily="49" charset="-128"/>
              </a:rPr>
              <a:t>SD</a:t>
            </a:r>
            <a:r>
              <a:rPr kumimoji="1" lang="ja-JP" altLang="en-US" dirty="0">
                <a:latin typeface="BIZ UDゴシック" panose="020B0400000000000000" pitchFamily="49" charset="-128"/>
                <a:ea typeface="BIZ UDゴシック" panose="020B0400000000000000" pitchFamily="49" charset="-128"/>
              </a:rPr>
              <a:t>の事前分布には</a:t>
            </a:r>
            <a:r>
              <a:rPr kumimoji="1" lang="en-US" altLang="ja-JP" dirty="0">
                <a:latin typeface="BIZ UDゴシック" panose="020B0400000000000000" pitchFamily="49" charset="-128"/>
                <a:ea typeface="BIZ UDゴシック" panose="020B0400000000000000" pitchFamily="49" charset="-128"/>
              </a:rPr>
              <a:t>Half-Cauchy</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dt(0, 0.01, 1)T(0,)</a:t>
            </a:r>
            <a:r>
              <a:rPr kumimoji="1" lang="ja-JP" altLang="en-US" dirty="0">
                <a:latin typeface="BIZ UDゴシック" panose="020B0400000000000000" pitchFamily="49" charset="-128"/>
                <a:ea typeface="BIZ UDゴシック" panose="020B0400000000000000" pitchFamily="49" charset="-128"/>
              </a:rPr>
              <a:t>）を使用する。   集団間</a:t>
            </a:r>
            <a:r>
              <a:rPr kumimoji="1" lang="en-US" altLang="ja-JP" dirty="0">
                <a:latin typeface="BIZ UDゴシック" panose="020B0400000000000000" pitchFamily="49" charset="-128"/>
                <a:ea typeface="BIZ UDゴシック" panose="020B0400000000000000" pitchFamily="49" charset="-128"/>
              </a:rPr>
              <a:t>SD</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pop.sd</a:t>
            </a:r>
            <a:r>
              <a:rPr kumimoji="1" lang="ja-JP" altLang="en-US" dirty="0">
                <a:latin typeface="BIZ UDゴシック" panose="020B0400000000000000" pitchFamily="49" charset="-128"/>
                <a:ea typeface="BIZ UDゴシック" panose="020B0400000000000000" pitchFamily="49" charset="-128"/>
              </a:rPr>
              <a:t>）の事後分布は右に歪むため、事後平均値よりも事後モード（</a:t>
            </a:r>
            <a:r>
              <a:rPr kumimoji="1" lang="en-US" altLang="ja-JP" dirty="0">
                <a:latin typeface="BIZ UDゴシック" panose="020B0400000000000000" pitchFamily="49" charset="-128"/>
                <a:ea typeface="BIZ UDゴシック" panose="020B0400000000000000" pitchFamily="49" charset="-128"/>
              </a:rPr>
              <a:t>Posterior mode</a:t>
            </a:r>
            <a:r>
              <a:rPr kumimoji="1" lang="ja-JP" altLang="en-US" dirty="0">
                <a:latin typeface="BIZ UDゴシック" panose="020B0400000000000000" pitchFamily="49" charset="-128"/>
                <a:ea typeface="BIZ UDゴシック" panose="020B0400000000000000" pitchFamily="49" charset="-128"/>
              </a:rPr>
              <a:t>）の方が</a:t>
            </a:r>
            <a:r>
              <a:rPr kumimoji="1" lang="en-US" altLang="ja-JP" dirty="0">
                <a:latin typeface="BIZ UDゴシック" panose="020B0400000000000000" pitchFamily="49" charset="-128"/>
                <a:ea typeface="BIZ UDゴシック" panose="020B0400000000000000" pitchFamily="49" charset="-128"/>
              </a:rPr>
              <a:t>MLE/REML</a:t>
            </a:r>
            <a:r>
              <a:rPr kumimoji="1" lang="ja-JP" altLang="en-US" dirty="0">
                <a:latin typeface="BIZ UDゴシック" panose="020B0400000000000000" pitchFamily="49" charset="-128"/>
                <a:ea typeface="BIZ UDゴシック" panose="020B0400000000000000" pitchFamily="49" charset="-128"/>
              </a:rPr>
              <a:t>に近い点推定値となる。   固定効果とランダム効果の直接比較</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同じデータに対して固定効果モデルをあてはめ比較すると、ランダム効果モデルでは全体平均への縮小推定（</a:t>
            </a:r>
            <a:r>
              <a:rPr kumimoji="1" lang="en-US" altLang="ja-JP" dirty="0">
                <a:latin typeface="BIZ UDゴシック" panose="020B0400000000000000" pitchFamily="49" charset="-128"/>
                <a:ea typeface="BIZ UDゴシック" panose="020B0400000000000000" pitchFamily="49" charset="-128"/>
              </a:rPr>
              <a:t>Shrinkage</a:t>
            </a:r>
            <a:r>
              <a:rPr kumimoji="1" lang="ja-JP" altLang="en-US" dirty="0">
                <a:latin typeface="BIZ UDゴシック" panose="020B0400000000000000" pitchFamily="49" charset="-128"/>
                <a:ea typeface="BIZ UDゴシック" panose="020B0400000000000000" pitchFamily="49" charset="-128"/>
              </a:rPr>
              <a:t>）が起きること、および</a:t>
            </a:r>
            <a:r>
              <a:rPr kumimoji="1" lang="en-US" altLang="ja-JP" dirty="0">
                <a:latin typeface="BIZ UDゴシック" panose="020B0400000000000000" pitchFamily="49" charset="-128"/>
                <a:ea typeface="BIZ UDゴシック" panose="020B0400000000000000" pitchFamily="49" charset="-128"/>
              </a:rPr>
              <a:t>95%</a:t>
            </a:r>
            <a:r>
              <a:rPr kumimoji="1" lang="ja-JP" altLang="en-US" dirty="0">
                <a:latin typeface="BIZ UDゴシック" panose="020B0400000000000000" pitchFamily="49" charset="-128"/>
                <a:ea typeface="BIZ UDゴシック" panose="020B0400000000000000" pitchFamily="49" charset="-128"/>
              </a:rPr>
              <a:t>信用区間が狭くなり精度向上（強みの貸し借り）が得られることが視覚的に確認できる。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7.3.4 NIMBLE</a:t>
            </a:r>
            <a:r>
              <a:rPr kumimoji="1" lang="ja-JP" altLang="en-US" dirty="0">
                <a:latin typeface="BIZ UDゴシック" panose="020B0400000000000000" pitchFamily="49" charset="-128"/>
                <a:ea typeface="BIZ UDゴシック" panose="020B0400000000000000" pitchFamily="49" charset="-128"/>
              </a:rPr>
              <a:t>によるベイズ分析</a:t>
            </a:r>
            <a:r>
              <a:rPr kumimoji="1" lang="en-US" altLang="ja-JP" dirty="0">
                <a:latin typeface="BIZ UDゴシック" panose="020B0400000000000000" pitchFamily="49" charset="-128"/>
                <a:ea typeface="BIZ UDゴシック" panose="020B0400000000000000" pitchFamily="49" charset="-128"/>
              </a:rPr>
              <a:t>: Web</a:t>
            </a:r>
            <a:r>
              <a:rPr kumimoji="1" lang="ja-JP" altLang="en-US" dirty="0">
                <a:latin typeface="BIZ UDゴシック" panose="020B0400000000000000" pitchFamily="49" charset="-128"/>
                <a:ea typeface="BIZ UDゴシック" panose="020B0400000000000000" pitchFamily="49" charset="-128"/>
              </a:rPr>
              <a:t>サイト提供のコードで実行する。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7.3.5 Stan</a:t>
            </a:r>
            <a:r>
              <a:rPr kumimoji="1" lang="ja-JP" altLang="en-US" dirty="0">
                <a:latin typeface="BIZ UDゴシック" panose="020B0400000000000000" pitchFamily="49" charset="-128"/>
                <a:ea typeface="BIZ UDゴシック" panose="020B0400000000000000" pitchFamily="49" charset="-128"/>
              </a:rPr>
              <a:t>によるベイズ分析</a:t>
            </a:r>
            <a:r>
              <a:rPr kumimoji="1" lang="en-US" altLang="ja-JP" dirty="0">
                <a:latin typeface="BIZ UDゴシック" panose="020B0400000000000000" pitchFamily="49" charset="-128"/>
                <a:ea typeface="BIZ UDゴシック" panose="020B0400000000000000" pitchFamily="49" charset="-128"/>
              </a:rPr>
              <a:t>: </a:t>
            </a:r>
            <a:r>
              <a:rPr kumimoji="1" lang="en-US" altLang="ja-JP" dirty="0" err="1">
                <a:latin typeface="BIZ UDゴシック" panose="020B0400000000000000" pitchFamily="49" charset="-128"/>
                <a:ea typeface="BIZ UDゴシック" panose="020B0400000000000000" pitchFamily="49" charset="-128"/>
              </a:rPr>
              <a:t>cauchy</a:t>
            </a:r>
            <a:r>
              <a:rPr kumimoji="1" lang="en-US" altLang="ja-JP" dirty="0">
                <a:latin typeface="BIZ UDゴシック" panose="020B0400000000000000" pitchFamily="49" charset="-128"/>
                <a:ea typeface="BIZ UDゴシック" panose="020B0400000000000000" pitchFamily="49" charset="-128"/>
              </a:rPr>
              <a:t>(0, 10) </a:t>
            </a:r>
            <a:r>
              <a:rPr kumimoji="1" lang="ja-JP" altLang="en-US" dirty="0">
                <a:latin typeface="BIZ UDゴシック" panose="020B0400000000000000" pitchFamily="49" charset="-128"/>
                <a:ea typeface="BIZ UDゴシック" panose="020B0400000000000000" pitchFamily="49" charset="-128"/>
              </a:rPr>
              <a:t>と </a:t>
            </a:r>
            <a:r>
              <a:rPr kumimoji="1" lang="en-US" altLang="ja-JP" dirty="0">
                <a:latin typeface="BIZ UDゴシック" panose="020B0400000000000000" pitchFamily="49" charset="-128"/>
                <a:ea typeface="BIZ UDゴシック" panose="020B0400000000000000" pitchFamily="49" charset="-128"/>
              </a:rPr>
              <a:t>&lt;lower=0&gt; </a:t>
            </a:r>
            <a:r>
              <a:rPr kumimoji="1" lang="ja-JP" altLang="en-US" dirty="0">
                <a:latin typeface="BIZ UDゴシック" panose="020B0400000000000000" pitchFamily="49" charset="-128"/>
                <a:ea typeface="BIZ UDゴシック" panose="020B0400000000000000" pitchFamily="49" charset="-128"/>
              </a:rPr>
              <a:t>制約を用いて</a:t>
            </a:r>
            <a:r>
              <a:rPr kumimoji="1" lang="en-US" altLang="ja-JP" dirty="0">
                <a:latin typeface="BIZ UDゴシック" panose="020B0400000000000000" pitchFamily="49" charset="-128"/>
                <a:ea typeface="BIZ UDゴシック" panose="020B0400000000000000" pitchFamily="49" charset="-128"/>
              </a:rPr>
              <a:t>Half-Cauchy</a:t>
            </a:r>
            <a:r>
              <a:rPr kumimoji="1" lang="ja-JP" altLang="en-US" dirty="0">
                <a:latin typeface="BIZ UDゴシック" panose="020B0400000000000000" pitchFamily="49" charset="-128"/>
                <a:ea typeface="BIZ UDゴシック" panose="020B0400000000000000" pitchFamily="49" charset="-128"/>
              </a:rPr>
              <a:t>事前分布を適用し、</a:t>
            </a:r>
            <a:r>
              <a:rPr kumimoji="1" lang="en-US" altLang="ja-JP" dirty="0">
                <a:latin typeface="BIZ UDゴシック" panose="020B0400000000000000" pitchFamily="49" charset="-128"/>
                <a:ea typeface="BIZ UDゴシック" panose="020B0400000000000000" pitchFamily="49" charset="-128"/>
              </a:rPr>
              <a:t>MCMC</a:t>
            </a:r>
            <a:r>
              <a:rPr kumimoji="1" lang="ja-JP" altLang="en-US" dirty="0">
                <a:latin typeface="BIZ UDゴシック" panose="020B0400000000000000" pitchFamily="49" charset="-128"/>
                <a:ea typeface="BIZ UDゴシック" panose="020B0400000000000000" pitchFamily="49" charset="-128"/>
              </a:rPr>
              <a:t>サンプリングを行う。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7.3.6 DIY</a:t>
            </a:r>
            <a:r>
              <a:rPr kumimoji="1" lang="ja-JP" altLang="en-US" dirty="0">
                <a:latin typeface="BIZ UDゴシック" panose="020B0400000000000000" pitchFamily="49" charset="-128"/>
                <a:ea typeface="BIZ UDゴシック" panose="020B0400000000000000" pitchFamily="49" charset="-128"/>
              </a:rPr>
              <a:t>による最尤推定</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ランダム効果モデルではパラメータを直接最適化できず、各集団の尤度に対してランダム効果の取り得る全値を「積分除去（</a:t>
            </a:r>
            <a:r>
              <a:rPr kumimoji="1" lang="en-US" altLang="ja-JP" dirty="0">
                <a:latin typeface="BIZ UDゴシック" panose="020B0400000000000000" pitchFamily="49" charset="-128"/>
                <a:ea typeface="BIZ UDゴシック" panose="020B0400000000000000" pitchFamily="49" charset="-128"/>
              </a:rPr>
              <a:t>Integrate out</a:t>
            </a:r>
            <a:r>
              <a:rPr kumimoji="1" lang="ja-JP" altLang="en-US" dirty="0">
                <a:latin typeface="BIZ UDゴシック" panose="020B0400000000000000" pitchFamily="49" charset="-128"/>
                <a:ea typeface="BIZ UDゴシック" panose="020B0400000000000000" pitchFamily="49" charset="-128"/>
              </a:rPr>
              <a:t>）」する必要がある。   </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の </a:t>
            </a:r>
            <a:r>
              <a:rPr kumimoji="1" lang="en-US" altLang="ja-JP" dirty="0">
                <a:latin typeface="BIZ UDゴシック" panose="020B0400000000000000" pitchFamily="49" charset="-128"/>
                <a:ea typeface="BIZ UDゴシック" panose="020B0400000000000000" pitchFamily="49" charset="-128"/>
              </a:rPr>
              <a:t>integrate() </a:t>
            </a:r>
            <a:r>
              <a:rPr kumimoji="1" lang="ja-JP" altLang="en-US" dirty="0">
                <a:latin typeface="BIZ UDゴシック" panose="020B0400000000000000" pitchFamily="49" charset="-128"/>
                <a:ea typeface="BIZ UDゴシック" panose="020B0400000000000000" pitchFamily="49" charset="-128"/>
              </a:rPr>
              <a:t>関数を組み合わせた</a:t>
            </a:r>
            <a:r>
              <a:rPr kumimoji="1" lang="en-US" altLang="ja-JP" dirty="0">
                <a:latin typeface="BIZ UDゴシック" panose="020B0400000000000000" pitchFamily="49" charset="-128"/>
                <a:ea typeface="BIZ UDゴシック" panose="020B0400000000000000" pitchFamily="49" charset="-128"/>
              </a:rPr>
              <a:t>NLL</a:t>
            </a:r>
            <a:r>
              <a:rPr kumimoji="1" lang="ja-JP" altLang="en-US" dirty="0">
                <a:latin typeface="BIZ UDゴシック" panose="020B0400000000000000" pitchFamily="49" charset="-128"/>
                <a:ea typeface="BIZ UDゴシック" panose="020B0400000000000000" pitchFamily="49" charset="-128"/>
              </a:rPr>
              <a:t>関数を作成し、</a:t>
            </a:r>
            <a:r>
              <a:rPr kumimoji="1" lang="en-US" altLang="ja-JP" dirty="0" err="1">
                <a:latin typeface="BIZ UDゴシック" panose="020B0400000000000000" pitchFamily="49" charset="-128"/>
                <a:ea typeface="BIZ UDゴシック" panose="020B0400000000000000" pitchFamily="49" charset="-128"/>
              </a:rPr>
              <a:t>optim</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でハイパーパラメータ（</a:t>
            </a:r>
            <a:r>
              <a:rPr kumimoji="1" lang="en-US" altLang="ja-JP" dirty="0">
                <a:latin typeface="BIZ UDゴシック" panose="020B0400000000000000" pitchFamily="49" charset="-128"/>
                <a:ea typeface="BIZ UDゴシック" panose="020B0400000000000000" pitchFamily="49" charset="-128"/>
              </a:rPr>
              <a:t>$\mu, \tau, \sigma$</a:t>
            </a:r>
            <a:r>
              <a:rPr kumimoji="1" lang="ja-JP" altLang="en-US" dirty="0">
                <a:latin typeface="BIZ UDゴシック" panose="020B0400000000000000" pitchFamily="49" charset="-128"/>
                <a:ea typeface="BIZ UDゴシック" panose="020B0400000000000000" pitchFamily="49" charset="-128"/>
              </a:rPr>
              <a:t>）の</a:t>
            </a:r>
            <a:r>
              <a:rPr kumimoji="1" lang="en-US" altLang="ja-JP" dirty="0">
                <a:latin typeface="BIZ UDゴシック" panose="020B0400000000000000" pitchFamily="49" charset="-128"/>
                <a:ea typeface="BIZ UDゴシック" panose="020B0400000000000000" pitchFamily="49" charset="-128"/>
              </a:rPr>
              <a:t>MLE</a:t>
            </a:r>
            <a:r>
              <a:rPr kumimoji="1" lang="ja-JP" altLang="en-US" dirty="0">
                <a:latin typeface="BIZ UDゴシック" panose="020B0400000000000000" pitchFamily="49" charset="-128"/>
                <a:ea typeface="BIZ UDゴシック" panose="020B0400000000000000" pitchFamily="49" charset="-128"/>
              </a:rPr>
              <a:t>を算出する。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7.3.7 TMB</a:t>
            </a:r>
            <a:r>
              <a:rPr kumimoji="1" lang="ja-JP" altLang="en-US" dirty="0">
                <a:latin typeface="BIZ UDゴシック" panose="020B0400000000000000" pitchFamily="49" charset="-128"/>
                <a:ea typeface="BIZ UDゴシック" panose="020B0400000000000000" pitchFamily="49" charset="-128"/>
              </a:rPr>
              <a:t>による最尤分析</a:t>
            </a:r>
            <a:r>
              <a:rPr kumimoji="1" lang="en-US" altLang="ja-JP" dirty="0">
                <a:latin typeface="BIZ UDゴシック" panose="020B0400000000000000" pitchFamily="49" charset="-128"/>
                <a:ea typeface="BIZ UDゴシック" panose="020B0400000000000000" pitchFamily="49" charset="-128"/>
              </a:rPr>
              <a:t>: TMB</a:t>
            </a:r>
            <a:r>
              <a:rPr kumimoji="1" lang="ja-JP" altLang="en-US" dirty="0">
                <a:latin typeface="BIZ UDゴシック" panose="020B0400000000000000" pitchFamily="49" charset="-128"/>
                <a:ea typeface="BIZ UDゴシック" panose="020B0400000000000000" pitchFamily="49" charset="-128"/>
              </a:rPr>
              <a:t>では </a:t>
            </a:r>
            <a:r>
              <a:rPr kumimoji="1" lang="en-US" altLang="ja-JP" dirty="0">
                <a:latin typeface="BIZ UDゴシック" panose="020B0400000000000000" pitchFamily="49" charset="-128"/>
                <a:ea typeface="BIZ UDゴシック" panose="020B0400000000000000" pitchFamily="49" charset="-128"/>
              </a:rPr>
              <a:t>random </a:t>
            </a:r>
            <a:r>
              <a:rPr kumimoji="1" lang="ja-JP" altLang="en-US" dirty="0">
                <a:latin typeface="BIZ UDゴシック" panose="020B0400000000000000" pitchFamily="49" charset="-128"/>
                <a:ea typeface="BIZ UDゴシック" panose="020B0400000000000000" pitchFamily="49" charset="-128"/>
              </a:rPr>
              <a:t>引数にランダム効果ベクトル（</a:t>
            </a:r>
            <a:r>
              <a:rPr kumimoji="1" lang="en-US" altLang="ja-JP" dirty="0" err="1">
                <a:latin typeface="BIZ UDゴシック" panose="020B0400000000000000" pitchFamily="49" charset="-128"/>
                <a:ea typeface="BIZ UDゴシック" panose="020B0400000000000000" pitchFamily="49" charset="-128"/>
              </a:rPr>
              <a:t>pop_mean</a:t>
            </a:r>
            <a:r>
              <a:rPr kumimoji="1" lang="ja-JP" altLang="en-US" dirty="0">
                <a:latin typeface="BIZ UDゴシック" panose="020B0400000000000000" pitchFamily="49" charset="-128"/>
                <a:ea typeface="BIZ UDゴシック" panose="020B0400000000000000" pitchFamily="49" charset="-128"/>
              </a:rPr>
              <a:t>）を指定するだけで、自動的にラプラス近似による積分除去が行われるため、簡潔かつ強力にモデルを記述できる。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7.3.8 </a:t>
            </a:r>
            <a:r>
              <a:rPr kumimoji="1" lang="ja-JP" altLang="en-US" dirty="0">
                <a:latin typeface="BIZ UDゴシック" panose="020B0400000000000000" pitchFamily="49" charset="-128"/>
                <a:ea typeface="BIZ UDゴシック" panose="020B0400000000000000" pitchFamily="49" charset="-128"/>
              </a:rPr>
              <a:t>パラメータ推定値の比較</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全体平均 </a:t>
            </a:r>
            <a:r>
              <a:rPr kumimoji="1" lang="en-US" altLang="ja-JP" dirty="0">
                <a:latin typeface="BIZ UDゴシック" panose="020B0400000000000000" pitchFamily="49" charset="-128"/>
                <a:ea typeface="BIZ UDゴシック" panose="020B0400000000000000" pitchFamily="49" charset="-128"/>
              </a:rPr>
              <a:t>$\mu$ </a:t>
            </a:r>
            <a:r>
              <a:rPr kumimoji="1" lang="ja-JP" altLang="en-US" dirty="0">
                <a:latin typeface="BIZ UDゴシック" panose="020B0400000000000000" pitchFamily="49" charset="-128"/>
                <a:ea typeface="BIZ UDゴシック" panose="020B0400000000000000" pitchFamily="49" charset="-128"/>
              </a:rPr>
              <a:t>と残差</a:t>
            </a:r>
            <a:r>
              <a:rPr kumimoji="1" lang="en-US" altLang="ja-JP" dirty="0">
                <a:latin typeface="BIZ UDゴシック" panose="020B0400000000000000" pitchFamily="49" charset="-128"/>
                <a:ea typeface="BIZ UDゴシック" panose="020B0400000000000000" pitchFamily="49" charset="-128"/>
              </a:rPr>
              <a:t>SD $\sigma$ </a:t>
            </a:r>
            <a:r>
              <a:rPr kumimoji="1" lang="ja-JP" altLang="en-US" dirty="0">
                <a:latin typeface="BIZ UDゴシック" panose="020B0400000000000000" pitchFamily="49" charset="-128"/>
                <a:ea typeface="BIZ UDゴシック" panose="020B0400000000000000" pitchFamily="49" charset="-128"/>
              </a:rPr>
              <a:t>は全エンジンで一致するが、集団間</a:t>
            </a:r>
            <a:r>
              <a:rPr kumimoji="1" lang="en-US" altLang="ja-JP" dirty="0">
                <a:latin typeface="BIZ UDゴシック" panose="020B0400000000000000" pitchFamily="49" charset="-128"/>
                <a:ea typeface="BIZ UDゴシック" panose="020B0400000000000000" pitchFamily="49" charset="-128"/>
              </a:rPr>
              <a:t>SD $\tau$ </a:t>
            </a:r>
            <a:r>
              <a:rPr kumimoji="1" lang="ja-JP" altLang="en-US" dirty="0">
                <a:latin typeface="BIZ UDゴシック" panose="020B0400000000000000" pitchFamily="49" charset="-128"/>
                <a:ea typeface="BIZ UDゴシック" panose="020B0400000000000000" pitchFamily="49" charset="-128"/>
              </a:rPr>
              <a:t>については</a:t>
            </a:r>
            <a:r>
              <a:rPr kumimoji="1" lang="en-US" altLang="ja-JP" dirty="0">
                <a:latin typeface="BIZ UDゴシック" panose="020B0400000000000000" pitchFamily="49" charset="-128"/>
                <a:ea typeface="BIZ UDゴシック" panose="020B0400000000000000" pitchFamily="49" charset="-128"/>
              </a:rPr>
              <a:t>ML</a:t>
            </a:r>
            <a:r>
              <a:rPr kumimoji="1" lang="ja-JP" altLang="en-US" dirty="0">
                <a:latin typeface="BIZ UDゴシック" panose="020B0400000000000000" pitchFamily="49" charset="-128"/>
                <a:ea typeface="BIZ UDゴシック" panose="020B0400000000000000" pitchFamily="49" charset="-128"/>
              </a:rPr>
              <a:t>（小サンプルで下方バイアス）、</a:t>
            </a:r>
            <a:r>
              <a:rPr kumimoji="1" lang="en-US" altLang="ja-JP" dirty="0">
                <a:latin typeface="BIZ UDゴシック" panose="020B0400000000000000" pitchFamily="49" charset="-128"/>
                <a:ea typeface="BIZ UDゴシック" panose="020B0400000000000000" pitchFamily="49" charset="-128"/>
              </a:rPr>
              <a:t>REML</a:t>
            </a:r>
            <a:r>
              <a:rPr kumimoji="1" lang="ja-JP" altLang="en-US" dirty="0">
                <a:latin typeface="BIZ UDゴシック" panose="020B0400000000000000" pitchFamily="49" charset="-128"/>
                <a:ea typeface="BIZ UDゴシック" panose="020B0400000000000000" pitchFamily="49" charset="-128"/>
              </a:rPr>
              <a:t>、ベイズ（事後平均）の間でわずかな推定値の差が生じる。</a:t>
            </a:r>
          </a:p>
        </p:txBody>
      </p:sp>
    </p:spTree>
    <p:extLst>
      <p:ext uri="{BB962C8B-B14F-4D97-AF65-F5344CB8AC3E}">
        <p14:creationId xmlns:p14="http://schemas.microsoft.com/office/powerpoint/2010/main" val="48105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EFCF-2E9D-B012-032A-FA31DDD351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2594F6-1127-304D-B37F-61176535A32A}"/>
              </a:ext>
            </a:extLst>
          </p:cNvPr>
          <p:cNvSpPr>
            <a:spLocks noGrp="1"/>
          </p:cNvSpPr>
          <p:nvPr>
            <p:ph type="title"/>
          </p:nvPr>
        </p:nvSpPr>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7.4 </a:t>
            </a:r>
            <a:r>
              <a:rPr kumimoji="1" lang="ja-JP" altLang="en-US" sz="3600" dirty="0">
                <a:latin typeface="BIZ UDゴシック" panose="020B0400000000000000" pitchFamily="49" charset="-128"/>
                <a:ea typeface="BIZ UDゴシック" panose="020B0400000000000000" pitchFamily="49" charset="-128"/>
              </a:rPr>
              <a:t>まとめと展望 </a:t>
            </a: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(Summary and outlook)</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A8C8D27-B1EA-A07B-6930-2B5FE71C9E95}"/>
              </a:ext>
            </a:extLst>
          </p:cNvPr>
          <p:cNvSpPr>
            <a:spLocks noGrp="1"/>
          </p:cNvSpPr>
          <p:nvPr>
            <p:ph idx="1"/>
          </p:nvPr>
        </p:nvSpPr>
        <p:spPr/>
        <p:txBody>
          <a:bodyPr/>
          <a:lstStyle/>
          <a:p>
            <a:r>
              <a:rPr kumimoji="1" lang="ja-JP" altLang="en-US" dirty="0">
                <a:latin typeface="BIZ UDゴシック" panose="020B0400000000000000" pitchFamily="49" charset="-128"/>
                <a:ea typeface="BIZ UDゴシック" panose="020B0400000000000000" pitchFamily="49" charset="-128"/>
              </a:rPr>
              <a:t>固定効果とランダム効果の概念・推定特性（縮小、精度の向上）を整理した。   </a:t>
            </a:r>
            <a:endParaRPr kumimoji="1" lang="en-US" altLang="ja-JP" dirty="0">
              <a:latin typeface="BIZ UDゴシック" panose="020B0400000000000000" pitchFamily="49" charset="-128"/>
              <a:ea typeface="BIZ UDゴシック" panose="020B0400000000000000" pitchFamily="49" charset="-128"/>
            </a:endParaRPr>
          </a:p>
          <a:p>
            <a:endParaRPr lang="en-US" altLang="ja-JP">
              <a:latin typeface="BIZ UDゴシック" panose="020B0400000000000000" pitchFamily="49" charset="-128"/>
              <a:ea typeface="BIZ UDゴシック" panose="020B0400000000000000" pitchFamily="49" charset="-128"/>
            </a:endParaRPr>
          </a:p>
          <a:p>
            <a:r>
              <a:rPr kumimoji="1" lang="ja-JP" altLang="en-US">
                <a:latin typeface="BIZ UDゴシック" panose="020B0400000000000000" pitchFamily="49" charset="-128"/>
                <a:ea typeface="BIZ UDゴシック" panose="020B0400000000000000" pitchFamily="49" charset="-128"/>
              </a:rPr>
              <a:t>次</a:t>
            </a:r>
            <a:r>
              <a:rPr kumimoji="1" lang="ja-JP" altLang="en-US" dirty="0">
                <a:latin typeface="BIZ UDゴシック" panose="020B0400000000000000" pitchFamily="49" charset="-128"/>
                <a:ea typeface="BIZ UDゴシック" panose="020B0400000000000000" pitchFamily="49" charset="-128"/>
              </a:rPr>
              <a:t>章では、</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つの分類（因子）を同時に扱う主効果および相互作用モデルに拡張する</a:t>
            </a:r>
          </a:p>
        </p:txBody>
      </p:sp>
    </p:spTree>
    <p:extLst>
      <p:ext uri="{BB962C8B-B14F-4D97-AF65-F5344CB8AC3E}">
        <p14:creationId xmlns:p14="http://schemas.microsoft.com/office/powerpoint/2010/main" val="123774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C2C9C-3870-1BDF-2457-EEABA4230E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BF8E13-2B16-CBE2-77A9-C644261EA7FF}"/>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11D8B54B-DC09-8267-67E3-AF4F67320172}"/>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2859624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4F3F6-011E-359A-3E8C-306F208AE2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82F90A-EDCD-8B1C-CF00-E23D0DF42862}"/>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A52F3826-30AA-1DA3-432D-9CD68E5BBE64}"/>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3584483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F122-3760-8629-5888-9007EE78AE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F26D12-931A-88BA-87FF-23C688F3C81A}"/>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D6091ED-4EE0-9C13-F151-FEF120222F2D}"/>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135450494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1392</Words>
  <Application>Microsoft Office PowerPoint</Application>
  <PresentationFormat>ワイド画面</PresentationFormat>
  <Paragraphs>56</Paragraphs>
  <Slides>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vt:i4>
      </vt:variant>
    </vt:vector>
  </HeadingPairs>
  <TitlesOfParts>
    <vt:vector size="15" baseType="lpstr">
      <vt:lpstr>BIZ UDゴシック</vt:lpstr>
      <vt:lpstr>游ゴシック</vt:lpstr>
      <vt:lpstr>游ゴシック Light</vt:lpstr>
      <vt:lpstr>Aptos</vt:lpstr>
      <vt:lpstr>Arial</vt:lpstr>
      <vt:lpstr>Office テーマ</vt:lpstr>
      <vt:lpstr>Applied Statistical Modelling for Ecologists  ASME</vt:lpstr>
      <vt:lpstr>PowerPoint プレゼンテーション</vt:lpstr>
      <vt:lpstr>7.1 導入：固定効果とランダム効果 (Introduction: fixed and random effects)</vt:lpstr>
      <vt:lpstr>7.2 固定効果モデル  (Fixed-effects models)</vt:lpstr>
      <vt:lpstr>7.3 ランダム効果モデル  (Random-effects models)</vt:lpstr>
      <vt:lpstr>7.4 まとめと展望  (Summary and outlook)</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大下　誠二</dc:creator>
  <cp:lastModifiedBy>誠二 大下</cp:lastModifiedBy>
  <cp:revision>3</cp:revision>
  <dcterms:created xsi:type="dcterms:W3CDTF">2026-10-06T23:13:34Z</dcterms:created>
  <dcterms:modified xsi:type="dcterms:W3CDTF">2026-10-15T13:02:27Z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2026-10-06T23:15:09Z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1d969f6b-a62f-407a-9855-5580c37b838a</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テーマ:8</vt:lpwstr>
  </property>
  <property fmtid="{D5CDD505-2E9C-101B-9397-08002B2CF9AE}" pid="11" name="ClassificationContentMarkingHeaderText">
    <vt:lpwstr>【機密性2情報】</vt:lpwstr>
  </property>
</Properties>
</file>