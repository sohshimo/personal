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CC6D3B-DE21-6EAC-5D2A-634944F25A9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8DDC94E-0A8A-02B3-86B8-67F8AB4AD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5902414-41A8-14CF-CA4C-0BC7A1F22091}"/>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2965CCE0-646D-510B-5E1A-E6FC3DA4EB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140ADAA-BA7B-D393-C571-9BB8D5EDA36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169437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F689CA-809D-EC2E-F42D-51DA21E10E8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C71E619-DDD1-A880-251B-8618138E4D4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A54BE2D-F637-3F7F-C2EE-4AF004B18FED}"/>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8F5F4E32-7EBC-9328-50AA-0127818051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21E142-AEAB-CBC9-6AA7-02191D3E27F2}"/>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259703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46BE4B-4A35-1360-8BC3-620E0FEA0AB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DCE3DD8-BADC-F81E-FD4F-6F5C3A752C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E403AC6-230A-A712-8397-57460796F17E}"/>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5A509A3C-BD45-2301-A19A-D8F47DE0410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2B8E95-19B8-562A-195E-B97CAB19F14E}"/>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441542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C3CF66-0CE0-9770-4B3D-EDE4BF22CF5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2430839-DC72-6840-7135-880B6F3318E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68C0A13-BC41-C2C2-254E-959725D366E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C3FC1AD-844F-F2EB-5CD4-7ECBE986C228}"/>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6" name="フッター プレースホルダー 5">
            <a:extLst>
              <a:ext uri="{FF2B5EF4-FFF2-40B4-BE49-F238E27FC236}">
                <a16:creationId xmlns:a16="http://schemas.microsoft.com/office/drawing/2014/main" id="{2DFD71B2-B10A-3189-AE8E-C8770E7B4E3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758EB0C-CD20-EA24-3C4D-B8C7DB7A7188}"/>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830975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A0BD50-8C71-827A-6EC1-AF51D847CA8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989B170-986F-C31F-825B-7EBED4BD49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318AC9C-6C90-D8D2-6288-1D513D83EC2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5F24543-B2CB-E027-40CC-B0FF7FE6D1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DD201EA-DB17-A7BD-790C-13263CC2A71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2CFFB64-C910-8328-522C-65422DC5BDC3}"/>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8" name="フッター プレースホルダー 7">
            <a:extLst>
              <a:ext uri="{FF2B5EF4-FFF2-40B4-BE49-F238E27FC236}">
                <a16:creationId xmlns:a16="http://schemas.microsoft.com/office/drawing/2014/main" id="{71ACDE15-9236-F758-F8DA-AA2CE97AE8C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3F28DB3-43AE-A9D6-2402-6609B39C3364}"/>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300025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5505AF-A1C2-CBC5-4541-E3BBD7C6C5F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4C82E2D-EB7E-2F58-1D8E-DFD5E9ED666A}"/>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4" name="フッター プレースホルダー 3">
            <a:extLst>
              <a:ext uri="{FF2B5EF4-FFF2-40B4-BE49-F238E27FC236}">
                <a16:creationId xmlns:a16="http://schemas.microsoft.com/office/drawing/2014/main" id="{E61517C2-9DC9-1FC7-BAA1-F079D0EBF6D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AB984E0-F2A7-0601-1D98-ADAABBA13D15}"/>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412023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45A27BF-84F8-7F53-609F-4F8A70924D59}"/>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3" name="フッター プレースホルダー 2">
            <a:extLst>
              <a:ext uri="{FF2B5EF4-FFF2-40B4-BE49-F238E27FC236}">
                <a16:creationId xmlns:a16="http://schemas.microsoft.com/office/drawing/2014/main" id="{7BC85232-C11B-8E0B-2796-3620AB78825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163503A-3C58-B141-4C18-B8662B7A572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671484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EFBC3C-7162-359A-EF01-13661AD8267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7354480-09EF-2E42-E3FE-EF8ED81B70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0E653F2-221C-99A3-C1B8-DB77BEAFB6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090D2D9-092D-0C41-9CE2-7C104E31D310}"/>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6" name="フッター プレースホルダー 5">
            <a:extLst>
              <a:ext uri="{FF2B5EF4-FFF2-40B4-BE49-F238E27FC236}">
                <a16:creationId xmlns:a16="http://schemas.microsoft.com/office/drawing/2014/main" id="{46BD2603-912B-32D5-C64F-36FC10DE337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D239B87-DEE4-474D-D6A6-40621140231E}"/>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72735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52B2CF-351C-10E8-9400-DFE83250F34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40F68A4-4F5F-A43A-0798-CFFCB204EE9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97CF935-3E83-2100-57AC-CD42FE903F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5ECA0EA-9447-A015-BEC4-F179CFB34C5A}"/>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6" name="フッター プレースホルダー 5">
            <a:extLst>
              <a:ext uri="{FF2B5EF4-FFF2-40B4-BE49-F238E27FC236}">
                <a16:creationId xmlns:a16="http://schemas.microsoft.com/office/drawing/2014/main" id="{D1D4A49E-132A-9075-B13E-0F9CF0F0712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2D7FD69-1261-377E-B2E9-4FAC302B1E88}"/>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070553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E86154-6B32-9FA7-AC64-0401BBA865B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F18E00B-875E-22FB-0F3E-C86D394A8E1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F5EC8F4-56D4-7835-4D70-10A949B38340}"/>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5B721F0E-8EB6-74D5-90A2-DBF52A69428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23BE141-607E-04CC-8BC3-3BE43A0D6E9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426026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F714B61-1775-8DD8-7529-027DE6E9F24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FB42191-A290-F301-F947-9D924AF33EC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3FE194-4488-3B20-9F7D-BD0FC38CEE67}"/>
              </a:ext>
            </a:extLst>
          </p:cNvPr>
          <p:cNvSpPr>
            <a:spLocks noGrp="1"/>
          </p:cNvSpPr>
          <p:nvPr>
            <p:ph type="dt" sz="half" idx="10"/>
          </p:nvPr>
        </p:nvSpPr>
        <p:spPr/>
        <p:txBody>
          <a:bodyPr/>
          <a:lstStyle/>
          <a:p>
            <a:fld id="{337D95D0-8BB4-41AF-BC7D-0DD2CBA9C5B7}" type="datetimeFigureOut">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2F66573A-78EB-526D-3D9C-70CC93A639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01D1A8A-E8E3-CA69-39C9-1A2CCBC63F5F}"/>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173366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04F7D86-38D1-B73A-6E09-30D6926308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92B2C88-8058-D973-C51F-094C1EB448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1471AE-E4DB-F7BA-533C-DF217BD2FA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7D95D0-8BB4-41AF-BC7D-0DD2CBA9C5B7}" type="datetimeFigureOut">
              <a:rPr kumimoji="1" lang="ja-JP" altLang="en-US" smtClean="0"/>
              <a:t>2026/10/10</a:t>
            </a:fld>
            <a:endParaRPr kumimoji="1" lang="ja-JP" altLang="en-US"/>
          </a:p>
        </p:txBody>
      </p:sp>
      <p:sp>
        <p:nvSpPr>
          <p:cNvPr id="5" name="フッター プレースホルダー 4">
            <a:extLst>
              <a:ext uri="{FF2B5EF4-FFF2-40B4-BE49-F238E27FC236}">
                <a16:creationId xmlns:a16="http://schemas.microsoft.com/office/drawing/2014/main" id="{53AFA1C1-1EF2-D9E0-5A4C-B9A1EA0D63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28741D-5005-70D2-EB07-8383A143C0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C072CE-95FA-40FE-BC99-878DBE9A4B81}" type="slidenum">
              <a:rPr kumimoji="1" lang="ja-JP" altLang="en-US" smtClean="0"/>
              <a:t>‹#›</a:t>
            </a:fld>
            <a:endParaRPr kumimoji="1" lang="ja-JP" altLang="en-US"/>
          </a:p>
        </p:txBody>
      </p:sp>
      <p:sp>
        <p:nvSpPr>
          <p:cNvPr id="8" name="テキスト ボックス 7">
            <a:extLst>
              <a:ext uri="{FF2B5EF4-FFF2-40B4-BE49-F238E27FC236}">
                <a16:creationId xmlns:a16="http://schemas.microsoft.com/office/drawing/2014/main" id="{48E4CB5C-2952-02E4-ED93-80C2AC616E36}"/>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998248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ASPM</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4</a:t>
            </a:r>
          </a:p>
          <a:p>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216D2-B67B-D61D-06B1-BEA1B6621244}"/>
              </a:ext>
            </a:extLst>
          </p:cNvPr>
          <p:cNvSpPr>
            <a:spLocks noGrp="1"/>
          </p:cNvSpPr>
          <p:nvPr>
            <p:ph type="title"/>
          </p:nvPr>
        </p:nvSpPr>
        <p:spPr>
          <a:xfrm>
            <a:off x="838200" y="365125"/>
            <a:ext cx="10515600" cy="436259"/>
          </a:xfrm>
        </p:spPr>
        <p:txBody>
          <a:bodyPr>
            <a:normAutofit fontScale="90000"/>
          </a:bodyPr>
          <a:lstStyle/>
          <a:p>
            <a:r>
              <a:rPr kumimoji="1" lang="en-US" altLang="ja-JP" dirty="0">
                <a:latin typeface="BIZ UDゴシック" panose="020B0400000000000000" pitchFamily="49" charset="-128"/>
                <a:ea typeface="BIZ UDゴシック" panose="020B0400000000000000" pitchFamily="49" charset="-128"/>
              </a:rPr>
              <a:t>4.1 </a:t>
            </a:r>
            <a:r>
              <a:rPr kumimoji="1" lang="ja-JP" altLang="en-US" dirty="0">
                <a:latin typeface="BIZ UDゴシック" panose="020B0400000000000000" pitchFamily="49" charset="-128"/>
                <a:ea typeface="BIZ UDゴシック" panose="020B0400000000000000" pitchFamily="49" charset="-128"/>
              </a:rPr>
              <a:t>導入 </a:t>
            </a:r>
            <a:r>
              <a:rPr kumimoji="1" lang="en-US" altLang="ja-JP" dirty="0">
                <a:latin typeface="BIZ UDゴシック" panose="020B0400000000000000" pitchFamily="49" charset="-128"/>
                <a:ea typeface="BIZ UDゴシック" panose="020B0400000000000000" pitchFamily="49" charset="-128"/>
              </a:rPr>
              <a:t>(Introduction)</a:t>
            </a:r>
            <a:endParaRPr kumimoji="1" lang="ja-JP" altLang="en-US"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24EC48E-5702-7412-08D3-54CE807181D6}"/>
              </a:ext>
            </a:extLst>
          </p:cNvPr>
          <p:cNvSpPr>
            <a:spLocks noGrp="1"/>
          </p:cNvSpPr>
          <p:nvPr>
            <p:ph idx="1"/>
          </p:nvPr>
        </p:nvSpPr>
        <p:spPr>
          <a:xfrm>
            <a:off x="195209" y="1140431"/>
            <a:ext cx="11856378" cy="5558320"/>
          </a:xfrm>
        </p:spPr>
        <p:txBody>
          <a:bodyPr>
            <a:normAutofit fontScale="70000" lnSpcReduction="20000"/>
          </a:bodyPr>
          <a:lstStyle/>
          <a:p>
            <a:r>
              <a:rPr kumimoji="1" lang="ja-JP" altLang="en-US" dirty="0">
                <a:latin typeface="BIZ UDゴシック" panose="020B0400000000000000" pitchFamily="49" charset="-128"/>
                <a:ea typeface="BIZ UDゴシック" panose="020B0400000000000000" pitchFamily="49" charset="-128"/>
              </a:rPr>
              <a:t>生態学者は現在、</a:t>
            </a: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のエコシステム等を通じて多様な統計モデルの既製（標準）関数にアクセスできる。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標準関数は便利である一方、研究上の特殊な疑問やカスタムモデルには対応できない場合がある。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そのような場合、統計モデルを明示的に記述する「汎用モデル適合エンジン」が解決策となる。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汎用エンジンでは統計モデルの仕組みを深く理解する必要があるが、圧倒的な柔軟性が得られる。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本書では、ベイズ推論用の</a:t>
            </a:r>
            <a:r>
              <a:rPr kumimoji="1" lang="en-US" altLang="ja-JP" dirty="0">
                <a:latin typeface="BIZ UDゴシック" panose="020B0400000000000000" pitchFamily="49" charset="-128"/>
                <a:ea typeface="BIZ UDゴシック" panose="020B0400000000000000" pitchFamily="49" charset="-128"/>
              </a:rPr>
              <a:t>JAGS</a:t>
            </a:r>
            <a:r>
              <a:rPr kumimoji="1" lang="ja-JP" altLang="en-US" dirty="0">
                <a:latin typeface="BIZ UDゴシック" panose="020B0400000000000000" pitchFamily="49" charset="-128"/>
                <a:ea typeface="BIZ UDゴシック" panose="020B0400000000000000" pitchFamily="49" charset="-128"/>
              </a:rPr>
              <a:t>、</a:t>
            </a:r>
            <a:r>
              <a:rPr kumimoji="1" lang="en-US" altLang="ja-JP" dirty="0">
                <a:latin typeface="BIZ UDゴシック" panose="020B0400000000000000" pitchFamily="49" charset="-128"/>
                <a:ea typeface="BIZ UDゴシック" panose="020B0400000000000000" pitchFamily="49" charset="-128"/>
              </a:rPr>
              <a:t>NIMBLE</a:t>
            </a:r>
            <a:r>
              <a:rPr kumimoji="1" lang="ja-JP" altLang="en-US" dirty="0">
                <a:latin typeface="BIZ UDゴシック" panose="020B0400000000000000" pitchFamily="49" charset="-128"/>
                <a:ea typeface="BIZ UDゴシック" panose="020B0400000000000000" pitchFamily="49" charset="-128"/>
              </a:rPr>
              <a:t>、</a:t>
            </a:r>
            <a:r>
              <a:rPr kumimoji="1" lang="en-US" altLang="ja-JP" dirty="0">
                <a:latin typeface="BIZ UDゴシック" panose="020B0400000000000000" pitchFamily="49" charset="-128"/>
                <a:ea typeface="BIZ UDゴシック" panose="020B0400000000000000" pitchFamily="49" charset="-128"/>
              </a:rPr>
              <a:t>Stan</a:t>
            </a:r>
            <a:r>
              <a:rPr kumimoji="1" lang="ja-JP" altLang="en-US" dirty="0">
                <a:latin typeface="BIZ UDゴシック" panose="020B0400000000000000" pitchFamily="49" charset="-128"/>
                <a:ea typeface="BIZ UDゴシック" panose="020B0400000000000000" pitchFamily="49" charset="-128"/>
              </a:rPr>
              <a:t>と、最尤法用の</a:t>
            </a: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による</a:t>
            </a:r>
            <a:r>
              <a:rPr kumimoji="1" lang="en-US" altLang="ja-JP" dirty="0">
                <a:latin typeface="BIZ UDゴシック" panose="020B0400000000000000" pitchFamily="49" charset="-128"/>
                <a:ea typeface="BIZ UDゴシック" panose="020B0400000000000000" pitchFamily="49" charset="-128"/>
              </a:rPr>
              <a:t>DIY</a:t>
            </a:r>
            <a:r>
              <a:rPr kumimoji="1" lang="ja-JP" altLang="en-US" dirty="0">
                <a:latin typeface="BIZ UDゴシック" panose="020B0400000000000000" pitchFamily="49" charset="-128"/>
                <a:ea typeface="BIZ UDゴシック" panose="020B0400000000000000" pitchFamily="49" charset="-128"/>
              </a:rPr>
              <a:t>最尤推論、</a:t>
            </a:r>
            <a:r>
              <a:rPr kumimoji="1" lang="en-US" altLang="ja-JP" dirty="0">
                <a:latin typeface="BIZ UDゴシック" panose="020B0400000000000000" pitchFamily="49" charset="-128"/>
                <a:ea typeface="BIZ UDゴシック" panose="020B0400000000000000" pitchFamily="49" charset="-128"/>
              </a:rPr>
              <a:t>TMB</a:t>
            </a:r>
            <a:r>
              <a:rPr kumimoji="1" lang="ja-JP" altLang="en-US" dirty="0">
                <a:latin typeface="BIZ UDゴシック" panose="020B0400000000000000" pitchFamily="49" charset="-128"/>
                <a:ea typeface="BIZ UDゴシック" panose="020B0400000000000000" pitchFamily="49" charset="-128"/>
              </a:rPr>
              <a:t>という</a:t>
            </a:r>
            <a:r>
              <a:rPr kumimoji="1" lang="en-US" altLang="ja-JP" dirty="0">
                <a:latin typeface="BIZ UDゴシック" panose="020B0400000000000000" pitchFamily="49" charset="-128"/>
                <a:ea typeface="BIZ UDゴシック" panose="020B0400000000000000" pitchFamily="49" charset="-128"/>
              </a:rPr>
              <a:t>5</a:t>
            </a:r>
            <a:r>
              <a:rPr kumimoji="1" lang="ja-JP" altLang="en-US" dirty="0">
                <a:latin typeface="BIZ UDゴシック" panose="020B0400000000000000" pitchFamily="49" charset="-128"/>
                <a:ea typeface="BIZ UDゴシック" panose="020B0400000000000000" pitchFamily="49" charset="-128"/>
              </a:rPr>
              <a:t>つの主要エンジンを取り上げる。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適切なモデル指定、十分なサンプルサイズ、無情報事前分布のもとでは、どのエンジンを用いてもほぼ同一の数値結果が得られる。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本章では最もシンプルなモデルである「平均のモデル（切片のみの正規線形回帰）」を用いて各エンジンのワークフローを実演する。</a:t>
            </a:r>
          </a:p>
        </p:txBody>
      </p:sp>
    </p:spTree>
    <p:extLst>
      <p:ext uri="{BB962C8B-B14F-4D97-AF65-F5344CB8AC3E}">
        <p14:creationId xmlns:p14="http://schemas.microsoft.com/office/powerpoint/2010/main" val="268388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8CBA-82E1-5EF9-109D-6B49ADE6130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880368-FA97-560F-8BC7-31E59687AA31}"/>
              </a:ext>
            </a:extLst>
          </p:cNvPr>
          <p:cNvSpPr>
            <a:spLocks noGrp="1"/>
          </p:cNvSpPr>
          <p:nvPr>
            <p:ph type="title"/>
          </p:nvPr>
        </p:nvSpPr>
        <p:spPr>
          <a:xfrm>
            <a:off x="838200" y="365126"/>
            <a:ext cx="10515600" cy="477356"/>
          </a:xfrm>
        </p:spPr>
        <p:txBody>
          <a:bodyPr>
            <a:normAutofit fontScale="90000"/>
          </a:bodyPr>
          <a:lstStyle/>
          <a:p>
            <a:r>
              <a:rPr kumimoji="1" lang="en-US" altLang="ja-JP" dirty="0">
                <a:latin typeface="BIZ UDゴシック" panose="020B0400000000000000" pitchFamily="49" charset="-128"/>
                <a:ea typeface="BIZ UDゴシック" panose="020B0400000000000000" pitchFamily="49" charset="-128"/>
              </a:rPr>
              <a:t>4.2 </a:t>
            </a:r>
            <a:r>
              <a:rPr kumimoji="1" lang="ja-JP" altLang="en-US" dirty="0">
                <a:latin typeface="BIZ UDゴシック" panose="020B0400000000000000" pitchFamily="49" charset="-128"/>
                <a:ea typeface="BIZ UDゴシック" panose="020B0400000000000000" pitchFamily="49" charset="-128"/>
              </a:rPr>
              <a:t>データの生成 </a:t>
            </a:r>
            <a:r>
              <a:rPr kumimoji="1" lang="en-US" altLang="ja-JP" dirty="0">
                <a:latin typeface="BIZ UDゴシック" panose="020B0400000000000000" pitchFamily="49" charset="-128"/>
                <a:ea typeface="BIZ UDゴシック" panose="020B0400000000000000" pitchFamily="49" charset="-128"/>
              </a:rPr>
              <a:t>(Data generation)</a:t>
            </a:r>
            <a:endParaRPr kumimoji="1" lang="ja-JP" altLang="en-US"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A843F03F-51EA-94FA-6651-E4DA69D21B5E}"/>
              </a:ext>
            </a:extLst>
          </p:cNvPr>
          <p:cNvSpPr>
            <a:spLocks noGrp="1"/>
          </p:cNvSpPr>
          <p:nvPr>
            <p:ph idx="1"/>
          </p:nvPr>
        </p:nvSpPr>
        <p:spPr>
          <a:xfrm>
            <a:off x="318499" y="1160980"/>
            <a:ext cx="11774184" cy="5015983"/>
          </a:xfrm>
        </p:spPr>
        <p:txBody>
          <a:bodyPr>
            <a:normAutofit fontScale="92500" lnSpcReduction="10000"/>
          </a:bodyPr>
          <a:lstStyle/>
          <a:p>
            <a:r>
              <a:rPr kumimoji="1" lang="ja-JP" altLang="en-US" dirty="0">
                <a:latin typeface="BIZ UDゴシック" panose="020B0400000000000000" pitchFamily="49" charset="-128"/>
                <a:ea typeface="BIZ UDゴシック" panose="020B0400000000000000" pitchFamily="49" charset="-128"/>
              </a:rPr>
              <a:t>データシミュレーションのコードは、パラメトリックな統計モデルの極めて正確な記述であり、非統計学者にとっても強力な説明となる。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代数的には、個体 </a:t>
            </a:r>
            <a:r>
              <a:rPr kumimoji="1" lang="en-US" altLang="ja-JP" dirty="0" err="1">
                <a:latin typeface="BIZ UDゴシック" panose="020B0400000000000000" pitchFamily="49" charset="-128"/>
                <a:ea typeface="BIZ UDゴシック" panose="020B0400000000000000" pitchFamily="49" charset="-128"/>
              </a:rPr>
              <a:t>i</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の質量 </a:t>
            </a:r>
            <a:r>
              <a:rPr kumimoji="1" lang="en-US" altLang="ja-JP" dirty="0" err="1">
                <a:latin typeface="BIZ UDゴシック" panose="020B0400000000000000" pitchFamily="49" charset="-128"/>
                <a:ea typeface="BIZ UDゴシック" panose="020B0400000000000000" pitchFamily="49" charset="-128"/>
              </a:rPr>
              <a:t>yi</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が平均 </a:t>
            </a:r>
            <a:r>
              <a:rPr kumimoji="1" lang="en-US" altLang="ja-JP" dirty="0">
                <a:latin typeface="BIZ UDゴシック" panose="020B0400000000000000" pitchFamily="49" charset="-128"/>
                <a:ea typeface="BIZ UDゴシック" panose="020B0400000000000000" pitchFamily="49" charset="-128"/>
              </a:rPr>
              <a:t>μ</a:t>
            </a:r>
            <a:r>
              <a:rPr kumimoji="1" lang="ja-JP" altLang="en-US" dirty="0">
                <a:latin typeface="BIZ UDゴシック" panose="020B0400000000000000" pitchFamily="49" charset="-128"/>
                <a:ea typeface="BIZ UDゴシック" panose="020B0400000000000000" pitchFamily="49" charset="-128"/>
              </a:rPr>
              <a:t>、分散 </a:t>
            </a:r>
            <a:r>
              <a:rPr kumimoji="1" lang="en-US" altLang="ja-JP" dirty="0">
                <a:latin typeface="BIZ UDゴシック" panose="020B0400000000000000" pitchFamily="49" charset="-128"/>
                <a:ea typeface="BIZ UDゴシック" panose="020B0400000000000000" pitchFamily="49" charset="-128"/>
              </a:rPr>
              <a:t>σ^2 </a:t>
            </a:r>
            <a:r>
              <a:rPr kumimoji="1" lang="ja-JP" altLang="en-US" dirty="0">
                <a:latin typeface="BIZ UDゴシック" panose="020B0400000000000000" pitchFamily="49" charset="-128"/>
                <a:ea typeface="BIZ UDゴシック" panose="020B0400000000000000" pitchFamily="49" charset="-128"/>
              </a:rPr>
              <a:t>の正規分布から独立同一に（</a:t>
            </a:r>
            <a:r>
              <a:rPr kumimoji="1" lang="en-US" altLang="ja-JP" dirty="0" err="1">
                <a:latin typeface="BIZ UDゴシック" panose="020B0400000000000000" pitchFamily="49" charset="-128"/>
                <a:ea typeface="BIZ UDゴシック" panose="020B0400000000000000" pitchFamily="49" charset="-128"/>
              </a:rPr>
              <a:t>i.i.d.</a:t>
            </a:r>
            <a:r>
              <a:rPr kumimoji="1" lang="ja-JP" altLang="en-US" dirty="0">
                <a:latin typeface="BIZ UDゴシック" panose="020B0400000000000000" pitchFamily="49" charset="-128"/>
                <a:ea typeface="BIZ UDゴシック" panose="020B0400000000000000" pitchFamily="49" charset="-128"/>
              </a:rPr>
              <a:t>）生成されると仮定する。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西ヨーロッパのオオハヤブサ（雄）の体重（平均約</a:t>
            </a:r>
            <a:r>
              <a:rPr kumimoji="1" lang="en-US" altLang="ja-JP" dirty="0">
                <a:latin typeface="BIZ UDゴシック" panose="020B0400000000000000" pitchFamily="49" charset="-128"/>
                <a:ea typeface="BIZ UDゴシック" panose="020B0400000000000000" pitchFamily="49" charset="-128"/>
              </a:rPr>
              <a:t>600g</a:t>
            </a:r>
            <a:r>
              <a:rPr kumimoji="1" lang="ja-JP" altLang="en-US" dirty="0">
                <a:latin typeface="BIZ UDゴシック" panose="020B0400000000000000" pitchFamily="49" charset="-128"/>
                <a:ea typeface="BIZ UDゴシック" panose="020B0400000000000000" pitchFamily="49" charset="-128"/>
              </a:rPr>
              <a:t>、標準偏差約</a:t>
            </a:r>
            <a:r>
              <a:rPr kumimoji="1" lang="en-US" altLang="ja-JP" dirty="0">
                <a:latin typeface="BIZ UDゴシック" panose="020B0400000000000000" pitchFamily="49" charset="-128"/>
                <a:ea typeface="BIZ UDゴシック" panose="020B0400000000000000" pitchFamily="49" charset="-128"/>
              </a:rPr>
              <a:t>30g</a:t>
            </a:r>
            <a:r>
              <a:rPr kumimoji="1" lang="ja-JP" altLang="en-US" dirty="0">
                <a:latin typeface="BIZ UDゴシック" panose="020B0400000000000000" pitchFamily="49" charset="-128"/>
                <a:ea typeface="BIZ UDゴシック" panose="020B0400000000000000" pitchFamily="49" charset="-128"/>
              </a:rPr>
              <a:t>）を想定し、小サンプル（</a:t>
            </a:r>
            <a:r>
              <a:rPr kumimoji="1" lang="en-US" altLang="ja-JP" dirty="0">
                <a:latin typeface="BIZ UDゴシック" panose="020B0400000000000000" pitchFamily="49" charset="-128"/>
                <a:ea typeface="BIZ UDゴシック" panose="020B0400000000000000" pitchFamily="49" charset="-128"/>
              </a:rPr>
              <a:t>n=10</a:t>
            </a:r>
            <a:r>
              <a:rPr kumimoji="1" lang="ja-JP" altLang="en-US" dirty="0">
                <a:latin typeface="BIZ UDゴシック" panose="020B0400000000000000" pitchFamily="49" charset="-128"/>
                <a:ea typeface="BIZ UDゴシック" panose="020B0400000000000000" pitchFamily="49" charset="-128"/>
              </a:rPr>
              <a:t>）と大サンプル（</a:t>
            </a:r>
            <a:r>
              <a:rPr kumimoji="1" lang="en-US" altLang="ja-JP" dirty="0">
                <a:latin typeface="BIZ UDゴシック" panose="020B0400000000000000" pitchFamily="49" charset="-128"/>
                <a:ea typeface="BIZ UDゴシック" panose="020B0400000000000000" pitchFamily="49" charset="-128"/>
              </a:rPr>
              <a:t>n=1000</a:t>
            </a:r>
            <a:r>
              <a:rPr kumimoji="1" lang="ja-JP" altLang="en-US" dirty="0">
                <a:latin typeface="BIZ UDゴシック" panose="020B0400000000000000" pitchFamily="49" charset="-128"/>
                <a:ea typeface="BIZ UDゴシック" panose="020B0400000000000000" pitchFamily="49" charset="-128"/>
              </a:rPr>
              <a:t>）の</a:t>
            </a: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つのデータセットを</a:t>
            </a: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の </a:t>
            </a:r>
            <a:r>
              <a:rPr kumimoji="1" lang="en-US" altLang="ja-JP" dirty="0" err="1">
                <a:latin typeface="BIZ UDゴシック" panose="020B0400000000000000" pitchFamily="49" charset="-128"/>
                <a:ea typeface="BIZ UDゴシック" panose="020B0400000000000000" pitchFamily="49" charset="-128"/>
              </a:rPr>
              <a:t>rnorm</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でシミュレートする。   </a:t>
            </a:r>
            <a:endParaRPr kumimoji="1" lang="en-US" altLang="ja-JP" dirty="0">
              <a:latin typeface="BIZ UDゴシック" panose="020B0400000000000000" pitchFamily="49" charset="-128"/>
              <a:ea typeface="BIZ UDゴシック" panose="020B0400000000000000" pitchFamily="49" charset="-128"/>
            </a:endParaRPr>
          </a:p>
          <a:p>
            <a:endParaRPr kumimoji="1"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シードを固定しない状態で繰り返しシミュレーションを行うことで、母集団の一部を観測することに起因する「標本誤差（</a:t>
            </a:r>
            <a:r>
              <a:rPr kumimoji="1" lang="en-US" altLang="ja-JP" dirty="0">
                <a:latin typeface="BIZ UDゴシック" panose="020B0400000000000000" pitchFamily="49" charset="-128"/>
                <a:ea typeface="BIZ UDゴシック" panose="020B0400000000000000" pitchFamily="49" charset="-128"/>
              </a:rPr>
              <a:t>Sampling error</a:t>
            </a:r>
            <a:r>
              <a:rPr kumimoji="1" lang="ja-JP" altLang="en-US" dirty="0">
                <a:latin typeface="BIZ UDゴシック" panose="020B0400000000000000" pitchFamily="49" charset="-128"/>
                <a:ea typeface="BIZ UDゴシック" panose="020B0400000000000000" pitchFamily="49" charset="-128"/>
              </a:rPr>
              <a:t>）」の大きさを実感できる。</a:t>
            </a:r>
          </a:p>
        </p:txBody>
      </p:sp>
    </p:spTree>
    <p:extLst>
      <p:ext uri="{BB962C8B-B14F-4D97-AF65-F5344CB8AC3E}">
        <p14:creationId xmlns:p14="http://schemas.microsoft.com/office/powerpoint/2010/main" val="3681102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2B98-ACD4-59B6-B4BB-6833F6921B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7F450F-F5B1-D41C-B0AD-00103C54E528}"/>
              </a:ext>
            </a:extLst>
          </p:cNvPr>
          <p:cNvSpPr>
            <a:spLocks noGrp="1"/>
          </p:cNvSpPr>
          <p:nvPr>
            <p:ph type="title"/>
          </p:nvPr>
        </p:nvSpPr>
        <p:spPr>
          <a:xfrm>
            <a:off x="838200" y="365125"/>
            <a:ext cx="10515600" cy="652017"/>
          </a:xfrm>
        </p:spPr>
        <p:txBody>
          <a:bodyPr>
            <a:normAutofit fontScale="90000"/>
          </a:bodyPr>
          <a:lstStyle/>
          <a:p>
            <a:r>
              <a:rPr kumimoji="1" lang="en-US" altLang="ja-JP" sz="3600" dirty="0">
                <a:latin typeface="BIZ UDゴシック" panose="020B0400000000000000" pitchFamily="49" charset="-128"/>
                <a:ea typeface="BIZ UDゴシック" panose="020B0400000000000000" pitchFamily="49" charset="-128"/>
              </a:rPr>
              <a:t>4.3 R</a:t>
            </a:r>
            <a:r>
              <a:rPr kumimoji="1" lang="ja-JP" altLang="en-US" sz="3600" dirty="0">
                <a:latin typeface="BIZ UDゴシック" panose="020B0400000000000000" pitchFamily="49" charset="-128"/>
                <a:ea typeface="BIZ UDゴシック" panose="020B0400000000000000" pitchFamily="49" charset="-128"/>
              </a:rPr>
              <a:t>の標準関数による分析 </a:t>
            </a: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(Analysis using canned functions in R)</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3A740BD5-4E95-147C-EEEF-11AF2A099DA9}"/>
              </a:ext>
            </a:extLst>
          </p:cNvPr>
          <p:cNvSpPr>
            <a:spLocks noGrp="1"/>
          </p:cNvSpPr>
          <p:nvPr>
            <p:ph idx="1"/>
          </p:nvPr>
        </p:nvSpPr>
        <p:spPr>
          <a:xfrm>
            <a:off x="256854" y="1345914"/>
            <a:ext cx="11743362" cy="5424755"/>
          </a:xfrm>
        </p:spPr>
        <p:txBody>
          <a:bodyPr/>
          <a:lstStyle/>
          <a:p>
            <a:endParaRPr kumimoji="1"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汎用エンジンに入る前の基準として、</a:t>
            </a: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標準の </a:t>
            </a:r>
            <a:r>
              <a:rPr kumimoji="1" lang="en-US" altLang="ja-JP" dirty="0" err="1">
                <a:latin typeface="BIZ UDゴシック" panose="020B0400000000000000" pitchFamily="49" charset="-128"/>
                <a:ea typeface="BIZ UDゴシック" panose="020B0400000000000000" pitchFamily="49" charset="-128"/>
              </a:rPr>
              <a:t>lm</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関数を用いて公式（</a:t>
            </a:r>
            <a:r>
              <a:rPr kumimoji="1" lang="en-US" altLang="ja-JP" dirty="0">
                <a:latin typeface="BIZ UDゴシック" panose="020B0400000000000000" pitchFamily="49" charset="-128"/>
                <a:ea typeface="BIZ UDゴシック" panose="020B0400000000000000" pitchFamily="49" charset="-128"/>
              </a:rPr>
              <a:t>Wilkinson-Rogers</a:t>
            </a:r>
            <a:r>
              <a:rPr kumimoji="1" lang="ja-JP" altLang="en-US" dirty="0">
                <a:latin typeface="BIZ UDゴシック" panose="020B0400000000000000" pitchFamily="49" charset="-128"/>
                <a:ea typeface="BIZ UDゴシック" panose="020B0400000000000000" pitchFamily="49" charset="-128"/>
              </a:rPr>
              <a:t>記法）による「平均のモデル」を当てはめる。   </a:t>
            </a:r>
            <a:r>
              <a:rPr kumimoji="1" lang="en-US" altLang="ja-JP" dirty="0">
                <a:latin typeface="BIZ UDゴシック" panose="020B0400000000000000" pitchFamily="49" charset="-128"/>
                <a:ea typeface="BIZ UDゴシック" panose="020B0400000000000000" pitchFamily="49" charset="-128"/>
              </a:rPr>
              <a:t>y</a:t>
            </a:r>
            <a:r>
              <a:rPr kumimoji="1" lang="ja-JP" altLang="en-US" dirty="0">
                <a:latin typeface="BIZ UDゴシック" panose="020B0400000000000000" pitchFamily="49" charset="-128"/>
                <a:ea typeface="BIZ UDゴシック" panose="020B0400000000000000" pitchFamily="49" charset="-128"/>
              </a:rPr>
              <a:t>～</a:t>
            </a:r>
            <a:r>
              <a:rPr kumimoji="1" lang="en-US" altLang="ja-JP" dirty="0">
                <a:latin typeface="BIZ UDゴシック" panose="020B0400000000000000" pitchFamily="49" charset="-128"/>
                <a:ea typeface="BIZ UDゴシック" panose="020B0400000000000000" pitchFamily="49" charset="-128"/>
              </a:rPr>
              <a:t>1</a:t>
            </a:r>
            <a:r>
              <a:rPr kumimoji="1" lang="ja-JP" altLang="en-US" dirty="0">
                <a:latin typeface="BIZ UDゴシック" panose="020B0400000000000000" pitchFamily="49" charset="-128"/>
                <a:ea typeface="BIZ UDゴシック" panose="020B0400000000000000" pitchFamily="49" charset="-128"/>
              </a:rPr>
              <a:t>として切片のみ（平均）を推定する。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最小二乗法による推定値（切片と残差標準誤差）は、大サンプルにおいて真値に非常に近くなる。 </a:t>
            </a:r>
          </a:p>
        </p:txBody>
      </p:sp>
    </p:spTree>
    <p:extLst>
      <p:ext uri="{BB962C8B-B14F-4D97-AF65-F5344CB8AC3E}">
        <p14:creationId xmlns:p14="http://schemas.microsoft.com/office/powerpoint/2010/main" val="1105873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95137-4136-CB30-3C62-CBCD6B1582F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D00626-B930-9FA1-E129-423A8D7E095D}"/>
              </a:ext>
            </a:extLst>
          </p:cNvPr>
          <p:cNvSpPr>
            <a:spLocks noGrp="1"/>
          </p:cNvSpPr>
          <p:nvPr>
            <p:ph type="title"/>
          </p:nvPr>
        </p:nvSpPr>
        <p:spPr>
          <a:xfrm>
            <a:off x="838200" y="365125"/>
            <a:ext cx="10515600" cy="518453"/>
          </a:xfrm>
        </p:spPr>
        <p:txBody>
          <a:bodyPr>
            <a:normAutofit fontScale="90000"/>
          </a:bodyPr>
          <a:lstStyle/>
          <a:p>
            <a:r>
              <a:rPr kumimoji="1" lang="en-US" altLang="ja-JP" dirty="0">
                <a:latin typeface="BIZ UDゴシック" panose="020B0400000000000000" pitchFamily="49" charset="-128"/>
                <a:ea typeface="BIZ UDゴシック" panose="020B0400000000000000" pitchFamily="49" charset="-128"/>
              </a:rPr>
              <a:t>4.4 JAGS</a:t>
            </a:r>
            <a:endParaRPr kumimoji="1" lang="ja-JP" altLang="en-US"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45310487-AC29-292D-1D09-9578B82E22B6}"/>
              </a:ext>
            </a:extLst>
          </p:cNvPr>
          <p:cNvSpPr>
            <a:spLocks noGrp="1"/>
          </p:cNvSpPr>
          <p:nvPr>
            <p:ph idx="1"/>
          </p:nvPr>
        </p:nvSpPr>
        <p:spPr>
          <a:xfrm>
            <a:off x="297951" y="1089061"/>
            <a:ext cx="11609797" cy="5661060"/>
          </a:xfrm>
        </p:spPr>
        <p:txBody>
          <a:bodyPr>
            <a:normAutofit fontScale="62500" lnSpcReduction="20000"/>
          </a:bodyPr>
          <a:lstStyle/>
          <a:p>
            <a:r>
              <a:rPr kumimoji="1" lang="en-US" altLang="ja-JP" dirty="0">
                <a:latin typeface="BIZ UDゴシック" panose="020B0400000000000000" pitchFamily="49" charset="-128"/>
                <a:ea typeface="BIZ UDゴシック" panose="020B0400000000000000" pitchFamily="49" charset="-128"/>
              </a:rPr>
              <a:t>4.4.1 JAGS</a:t>
            </a:r>
            <a:r>
              <a:rPr kumimoji="1" lang="ja-JP" altLang="en-US" dirty="0">
                <a:latin typeface="BIZ UDゴシック" panose="020B0400000000000000" pitchFamily="49" charset="-128"/>
                <a:ea typeface="BIZ UDゴシック" panose="020B0400000000000000" pitchFamily="49" charset="-128"/>
              </a:rPr>
              <a:t>の導入 </a:t>
            </a:r>
            <a:r>
              <a:rPr kumimoji="1" lang="en-US" altLang="ja-JP" dirty="0">
                <a:latin typeface="BIZ UDゴシック" panose="020B0400000000000000" pitchFamily="49" charset="-128"/>
                <a:ea typeface="BIZ UDゴシック" panose="020B0400000000000000" pitchFamily="49" charset="-128"/>
              </a:rPr>
              <a:t>(Introduction to JAGS)</a:t>
            </a:r>
          </a:p>
          <a:p>
            <a:pPr marL="0" indent="0">
              <a:buNone/>
            </a:pPr>
            <a:r>
              <a:rPr kumimoji="1" lang="ja-JP" altLang="en-US" dirty="0">
                <a:latin typeface="BIZ UDゴシック" panose="020B0400000000000000" pitchFamily="49" charset="-128"/>
                <a:ea typeface="BIZ UDゴシック" panose="020B0400000000000000" pitchFamily="49" charset="-128"/>
              </a:rPr>
              <a:t>　</a:t>
            </a:r>
            <a:r>
              <a:rPr kumimoji="1" lang="en-US" altLang="ja-JP" dirty="0">
                <a:latin typeface="BIZ UDゴシック" panose="020B0400000000000000" pitchFamily="49" charset="-128"/>
                <a:ea typeface="BIZ UDゴシック" panose="020B0400000000000000" pitchFamily="49" charset="-128"/>
              </a:rPr>
              <a:t>JAGS</a:t>
            </a:r>
            <a:r>
              <a:rPr kumimoji="1" lang="ja-JP" altLang="en-US" dirty="0">
                <a:latin typeface="BIZ UDゴシック" panose="020B0400000000000000" pitchFamily="49" charset="-128"/>
                <a:ea typeface="BIZ UDゴシック" panose="020B0400000000000000" pitchFamily="49" charset="-128"/>
              </a:rPr>
              <a:t>（</a:t>
            </a:r>
            <a:r>
              <a:rPr kumimoji="1" lang="en-US" altLang="ja-JP" dirty="0">
                <a:latin typeface="BIZ UDゴシック" panose="020B0400000000000000" pitchFamily="49" charset="-128"/>
                <a:ea typeface="BIZ UDゴシック" panose="020B0400000000000000" pitchFamily="49" charset="-128"/>
              </a:rPr>
              <a:t>Just Another Gibbs Sampler</a:t>
            </a:r>
            <a:r>
              <a:rPr kumimoji="1" lang="ja-JP" altLang="en-US" dirty="0">
                <a:latin typeface="BIZ UDゴシック" panose="020B0400000000000000" pitchFamily="49" charset="-128"/>
                <a:ea typeface="BIZ UDゴシック" panose="020B0400000000000000" pitchFamily="49" charset="-128"/>
              </a:rPr>
              <a:t>）は、</a:t>
            </a:r>
            <a:r>
              <a:rPr kumimoji="1" lang="en-US" altLang="ja-JP" dirty="0">
                <a:latin typeface="BIZ UDゴシック" panose="020B0400000000000000" pitchFamily="49" charset="-128"/>
                <a:ea typeface="BIZ UDゴシック" panose="020B0400000000000000" pitchFamily="49" charset="-128"/>
              </a:rPr>
              <a:t>BUGS</a:t>
            </a:r>
            <a:r>
              <a:rPr kumimoji="1" lang="ja-JP" altLang="en-US" dirty="0">
                <a:latin typeface="BIZ UDゴシック" panose="020B0400000000000000" pitchFamily="49" charset="-128"/>
                <a:ea typeface="BIZ UDゴシック" panose="020B0400000000000000" pitchFamily="49" charset="-128"/>
              </a:rPr>
              <a:t>言語の変種を用いてベイズ推論を行うエンジンである。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　</a:t>
            </a:r>
            <a:r>
              <a:rPr kumimoji="1" lang="en-US" altLang="ja-JP" dirty="0">
                <a:latin typeface="BIZ UDゴシック" panose="020B0400000000000000" pitchFamily="49" charset="-128"/>
                <a:ea typeface="BIZ UDゴシック" panose="020B0400000000000000" pitchFamily="49" charset="-128"/>
              </a:rPr>
              <a:t>1990</a:t>
            </a:r>
            <a:r>
              <a:rPr kumimoji="1" lang="ja-JP" altLang="en-US" dirty="0">
                <a:latin typeface="BIZ UDゴシック" panose="020B0400000000000000" pitchFamily="49" charset="-128"/>
                <a:ea typeface="BIZ UDゴシック" panose="020B0400000000000000" pitchFamily="49" charset="-128"/>
              </a:rPr>
              <a:t>年代に</a:t>
            </a:r>
            <a:r>
              <a:rPr kumimoji="1" lang="en-US" altLang="ja-JP" dirty="0">
                <a:latin typeface="BIZ UDゴシック" panose="020B0400000000000000" pitchFamily="49" charset="-128"/>
                <a:ea typeface="BIZ UDゴシック" panose="020B0400000000000000" pitchFamily="49" charset="-128"/>
              </a:rPr>
              <a:t>Cambridge</a:t>
            </a:r>
            <a:r>
              <a:rPr kumimoji="1" lang="ja-JP" altLang="en-US" dirty="0">
                <a:latin typeface="BIZ UDゴシック" panose="020B0400000000000000" pitchFamily="49" charset="-128"/>
                <a:ea typeface="BIZ UDゴシック" panose="020B0400000000000000" pitchFamily="49" charset="-128"/>
              </a:rPr>
              <a:t>で開発された</a:t>
            </a:r>
            <a:r>
              <a:rPr kumimoji="1" lang="en-US" altLang="ja-JP" dirty="0" err="1">
                <a:latin typeface="BIZ UDゴシック" panose="020B0400000000000000" pitchFamily="49" charset="-128"/>
                <a:ea typeface="BIZ UDゴシック" panose="020B0400000000000000" pitchFamily="49" charset="-128"/>
              </a:rPr>
              <a:t>WinBUGS</a:t>
            </a:r>
            <a:r>
              <a:rPr kumimoji="1" lang="ja-JP" altLang="en-US" dirty="0">
                <a:latin typeface="BIZ UDゴシック" panose="020B0400000000000000" pitchFamily="49" charset="-128"/>
                <a:ea typeface="BIZ UDゴシック" panose="020B0400000000000000" pitchFamily="49" charset="-128"/>
              </a:rPr>
              <a:t>の系譜を引く。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lang="ja-JP" altLang="en-US"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モデル内のデータやパラメータを「ノード」として定義し、有向非巡回グラフ（</a:t>
            </a:r>
            <a:r>
              <a:rPr kumimoji="1" lang="en-US" altLang="ja-JP" dirty="0">
                <a:latin typeface="BIZ UDゴシック" panose="020B0400000000000000" pitchFamily="49" charset="-128"/>
                <a:ea typeface="BIZ UDゴシック" panose="020B0400000000000000" pitchFamily="49" charset="-128"/>
              </a:rPr>
              <a:t>DAG</a:t>
            </a:r>
            <a:r>
              <a:rPr kumimoji="1" lang="ja-JP" altLang="en-US" dirty="0">
                <a:latin typeface="BIZ UDゴシック" panose="020B0400000000000000" pitchFamily="49" charset="-128"/>
                <a:ea typeface="BIZ UDゴシック" panose="020B0400000000000000" pitchFamily="49" charset="-128"/>
              </a:rPr>
              <a:t>）構造として視覚化・処理できる。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lang="ja-JP" altLang="en-US" dirty="0">
                <a:latin typeface="BIZ UDゴシック" panose="020B0400000000000000" pitchFamily="49" charset="-128"/>
                <a:ea typeface="BIZ UDゴシック" panose="020B0400000000000000" pitchFamily="49" charset="-128"/>
              </a:rPr>
              <a:t>　</a:t>
            </a: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との親和性が高く、クロスプラットフォームで動作するため生態学者の間で広く普及している。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　標準的なワークフローは、データのリスト化、</a:t>
            </a:r>
            <a:r>
              <a:rPr kumimoji="1" lang="en-US" altLang="ja-JP" dirty="0">
                <a:latin typeface="BIZ UDゴシック" panose="020B0400000000000000" pitchFamily="49" charset="-128"/>
                <a:ea typeface="BIZ UDゴシック" panose="020B0400000000000000" pitchFamily="49" charset="-128"/>
              </a:rPr>
              <a:t>BUGS</a:t>
            </a:r>
            <a:r>
              <a:rPr kumimoji="1" lang="ja-JP" altLang="en-US" dirty="0">
                <a:latin typeface="BIZ UDゴシック" panose="020B0400000000000000" pitchFamily="49" charset="-128"/>
                <a:ea typeface="BIZ UDゴシック" panose="020B0400000000000000" pitchFamily="49" charset="-128"/>
              </a:rPr>
              <a:t>コードのテキストファイル保存、</a:t>
            </a:r>
            <a:r>
              <a:rPr kumimoji="1" lang="en-US" altLang="ja-JP" dirty="0">
                <a:latin typeface="BIZ UDゴシック" panose="020B0400000000000000" pitchFamily="49" charset="-128"/>
                <a:ea typeface="BIZ UDゴシック" panose="020B0400000000000000" pitchFamily="49" charset="-128"/>
              </a:rPr>
              <a:t>MCMC</a:t>
            </a:r>
            <a:r>
              <a:rPr kumimoji="1" lang="ja-JP" altLang="en-US" dirty="0">
                <a:latin typeface="BIZ UDゴシック" panose="020B0400000000000000" pitchFamily="49" charset="-128"/>
                <a:ea typeface="BIZ UDゴシック" panose="020B0400000000000000" pitchFamily="49" charset="-128"/>
              </a:rPr>
              <a:t>設定の指定、</a:t>
            </a:r>
            <a:r>
              <a:rPr kumimoji="1" lang="en-US" altLang="ja-JP" dirty="0">
                <a:latin typeface="BIZ UDゴシック" panose="020B0400000000000000" pitchFamily="49" charset="-128"/>
                <a:ea typeface="BIZ UDゴシック" panose="020B0400000000000000" pitchFamily="49" charset="-128"/>
              </a:rPr>
              <a:t>jags() </a:t>
            </a:r>
            <a:r>
              <a:rPr kumimoji="1" lang="ja-JP" altLang="en-US" dirty="0">
                <a:latin typeface="BIZ UDゴシック" panose="020B0400000000000000" pitchFamily="49" charset="-128"/>
                <a:ea typeface="BIZ UDゴシック" panose="020B0400000000000000" pitchFamily="49" charset="-128"/>
              </a:rPr>
              <a:t>関数の実行、結果の要約・診断である。</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   </a:t>
            </a:r>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4.4.2 JAGS</a:t>
            </a:r>
            <a:r>
              <a:rPr kumimoji="1" lang="ja-JP" altLang="en-US" dirty="0">
                <a:latin typeface="BIZ UDゴシック" panose="020B0400000000000000" pitchFamily="49" charset="-128"/>
                <a:ea typeface="BIZ UDゴシック" panose="020B0400000000000000" pitchFamily="49" charset="-128"/>
              </a:rPr>
              <a:t>によるモデルの当てはめ </a:t>
            </a:r>
            <a:r>
              <a:rPr kumimoji="1" lang="en-US" altLang="ja-JP" dirty="0">
                <a:latin typeface="BIZ UDゴシック" panose="020B0400000000000000" pitchFamily="49" charset="-128"/>
                <a:ea typeface="BIZ UDゴシック" panose="020B0400000000000000" pitchFamily="49" charset="-128"/>
              </a:rPr>
              <a:t>(Fit the model with JAGS)</a:t>
            </a:r>
          </a:p>
          <a:p>
            <a:pPr marL="0" indent="0">
              <a:buNone/>
            </a:pPr>
            <a:r>
              <a:rPr kumimoji="1" lang="en-US" altLang="ja-JP" dirty="0" err="1">
                <a:latin typeface="BIZ UDゴシック" panose="020B0400000000000000" pitchFamily="49" charset="-128"/>
                <a:ea typeface="BIZ UDゴシック" panose="020B0400000000000000" pitchFamily="49" charset="-128"/>
              </a:rPr>
              <a:t>jagsUI</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パッケージの </a:t>
            </a:r>
            <a:r>
              <a:rPr kumimoji="1" lang="en-US" altLang="ja-JP" dirty="0">
                <a:latin typeface="BIZ UDゴシック" panose="020B0400000000000000" pitchFamily="49" charset="-128"/>
                <a:ea typeface="BIZ UDゴシック" panose="020B0400000000000000" pitchFamily="49" charset="-128"/>
              </a:rPr>
              <a:t>jags() </a:t>
            </a:r>
            <a:r>
              <a:rPr kumimoji="1" lang="ja-JP" altLang="en-US" dirty="0">
                <a:latin typeface="BIZ UDゴシック" panose="020B0400000000000000" pitchFamily="49" charset="-128"/>
                <a:ea typeface="BIZ UDゴシック" panose="020B0400000000000000" pitchFamily="49" charset="-128"/>
              </a:rPr>
              <a:t>関数を使用する。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データを名前付き</a:t>
            </a: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リストに束ねて </a:t>
            </a:r>
            <a:r>
              <a:rPr kumimoji="1" lang="en-US" altLang="ja-JP" dirty="0">
                <a:latin typeface="BIZ UDゴシック" panose="020B0400000000000000" pitchFamily="49" charset="-128"/>
                <a:ea typeface="BIZ UDゴシック" panose="020B0400000000000000" pitchFamily="49" charset="-128"/>
              </a:rPr>
              <a:t>str() </a:t>
            </a:r>
            <a:r>
              <a:rPr kumimoji="1" lang="ja-JP" altLang="en-US" dirty="0">
                <a:latin typeface="BIZ UDゴシック" panose="020B0400000000000000" pitchFamily="49" charset="-128"/>
                <a:ea typeface="BIZ UDゴシック" panose="020B0400000000000000" pitchFamily="49" charset="-128"/>
              </a:rPr>
              <a:t>で確認する。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BUGS</a:t>
            </a:r>
            <a:r>
              <a:rPr kumimoji="1" lang="ja-JP" altLang="en-US" dirty="0">
                <a:latin typeface="BIZ UDゴシック" panose="020B0400000000000000" pitchFamily="49" charset="-128"/>
                <a:ea typeface="BIZ UDゴシック" panose="020B0400000000000000" pitchFamily="49" charset="-128"/>
              </a:rPr>
              <a:t>言語を用いて、事前分布（</a:t>
            </a:r>
            <a:r>
              <a:rPr kumimoji="1" lang="en-US" altLang="ja-JP" dirty="0" err="1">
                <a:latin typeface="BIZ UDゴシック" panose="020B0400000000000000" pitchFamily="49" charset="-128"/>
                <a:ea typeface="BIZ UDゴシック" panose="020B0400000000000000" pitchFamily="49" charset="-128"/>
              </a:rPr>
              <a:t>dunif</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等）と尤度（</a:t>
            </a:r>
            <a:r>
              <a:rPr kumimoji="1" lang="en-US" altLang="ja-JP" dirty="0" err="1">
                <a:latin typeface="BIZ UDゴシック" panose="020B0400000000000000" pitchFamily="49" charset="-128"/>
                <a:ea typeface="BIZ UDゴシック" panose="020B0400000000000000" pitchFamily="49" charset="-128"/>
              </a:rPr>
              <a:t>dnorm</a:t>
            </a:r>
            <a:r>
              <a:rPr kumimoji="1" lang="ja-JP" altLang="en-US" dirty="0">
                <a:latin typeface="BIZ UDゴシック" panose="020B0400000000000000" pitchFamily="49" charset="-128"/>
                <a:ea typeface="BIZ UDゴシック" panose="020B0400000000000000" pitchFamily="49" charset="-128"/>
              </a:rPr>
              <a:t>、ただし</a:t>
            </a:r>
            <a:r>
              <a:rPr kumimoji="1" lang="en-US" altLang="ja-JP" dirty="0">
                <a:latin typeface="BIZ UDゴシック" panose="020B0400000000000000" pitchFamily="49" charset="-128"/>
                <a:ea typeface="BIZ UDゴシック" panose="020B0400000000000000" pitchFamily="49" charset="-128"/>
              </a:rPr>
              <a:t>JAGS</a:t>
            </a:r>
            <a:r>
              <a:rPr kumimoji="1" lang="ja-JP" altLang="en-US" dirty="0">
                <a:latin typeface="BIZ UDゴシック" panose="020B0400000000000000" pitchFamily="49" charset="-128"/>
                <a:ea typeface="BIZ UDゴシック" panose="020B0400000000000000" pitchFamily="49" charset="-128"/>
              </a:rPr>
              <a:t>では標準偏差ではなく精度 </a:t>
            </a:r>
            <a:r>
              <a:rPr kumimoji="1" lang="en-US" altLang="ja-JP" dirty="0">
                <a:latin typeface="BIZ UDゴシック" panose="020B0400000000000000" pitchFamily="49" charset="-128"/>
                <a:ea typeface="BIZ UDゴシック" panose="020B0400000000000000" pitchFamily="49" charset="-128"/>
              </a:rPr>
              <a:t>tau = 1/σ^2</a:t>
            </a:r>
            <a:r>
              <a:rPr kumimoji="1" lang="ja-JP" altLang="en-US" dirty="0">
                <a:latin typeface="BIZ UDゴシック" panose="020B0400000000000000" pitchFamily="49" charset="-128"/>
                <a:ea typeface="BIZ UDゴシック" panose="020B0400000000000000" pitchFamily="49" charset="-128"/>
              </a:rPr>
              <a:t>で指定）を記述し、テキストファイル（</a:t>
            </a:r>
            <a:r>
              <a:rPr kumimoji="1" lang="en-US" altLang="ja-JP" dirty="0">
                <a:latin typeface="BIZ UDゴシック" panose="020B0400000000000000" pitchFamily="49" charset="-128"/>
                <a:ea typeface="BIZ UDゴシック" panose="020B0400000000000000" pitchFamily="49" charset="-128"/>
              </a:rPr>
              <a:t>model4.4.txt</a:t>
            </a:r>
            <a:r>
              <a:rPr kumimoji="1" lang="ja-JP" altLang="en-US" dirty="0">
                <a:latin typeface="BIZ UDゴシック" panose="020B0400000000000000" pitchFamily="49" charset="-128"/>
                <a:ea typeface="BIZ UDゴシック" panose="020B0400000000000000" pitchFamily="49" charset="-128"/>
              </a:rPr>
              <a:t>）に保存する。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初期値を生成する関数（</a:t>
            </a:r>
            <a:r>
              <a:rPr kumimoji="1" lang="en-US" altLang="ja-JP" dirty="0" err="1">
                <a:latin typeface="BIZ UDゴシック" panose="020B0400000000000000" pitchFamily="49" charset="-128"/>
                <a:ea typeface="BIZ UDゴシック" panose="020B0400000000000000" pitchFamily="49" charset="-128"/>
              </a:rPr>
              <a:t>inits</a:t>
            </a:r>
            <a:r>
              <a:rPr kumimoji="1" lang="ja-JP" altLang="en-US" dirty="0">
                <a:latin typeface="BIZ UDゴシック" panose="020B0400000000000000" pitchFamily="49" charset="-128"/>
                <a:ea typeface="BIZ UDゴシック" panose="020B0400000000000000" pitchFamily="49" charset="-128"/>
              </a:rPr>
              <a:t>）、保存するパラメータ（</a:t>
            </a:r>
            <a:r>
              <a:rPr kumimoji="1" lang="en-US" altLang="ja-JP" dirty="0">
                <a:latin typeface="BIZ UDゴシック" panose="020B0400000000000000" pitchFamily="49" charset="-128"/>
                <a:ea typeface="BIZ UDゴシック" panose="020B0400000000000000" pitchFamily="49" charset="-128"/>
              </a:rPr>
              <a:t>params</a:t>
            </a:r>
            <a:r>
              <a:rPr kumimoji="1" lang="ja-JP" altLang="en-US" dirty="0">
                <a:latin typeface="BIZ UDゴシック" panose="020B0400000000000000" pitchFamily="49" charset="-128"/>
                <a:ea typeface="BIZ UDゴシック" panose="020B0400000000000000" pitchFamily="49" charset="-128"/>
              </a:rPr>
              <a:t>）、</a:t>
            </a:r>
            <a:r>
              <a:rPr kumimoji="1" lang="en-US" altLang="ja-JP" dirty="0">
                <a:latin typeface="BIZ UDゴシック" panose="020B0400000000000000" pitchFamily="49" charset="-128"/>
                <a:ea typeface="BIZ UDゴシック" panose="020B0400000000000000" pitchFamily="49" charset="-128"/>
              </a:rPr>
              <a:t>MCMC</a:t>
            </a:r>
            <a:r>
              <a:rPr kumimoji="1" lang="ja-JP" altLang="en-US" dirty="0">
                <a:latin typeface="BIZ UDゴシック" panose="020B0400000000000000" pitchFamily="49" charset="-128"/>
                <a:ea typeface="BIZ UDゴシック" panose="020B0400000000000000" pitchFamily="49" charset="-128"/>
              </a:rPr>
              <a:t>設定（適応回数、イテレーション数、バーンイン、間引き、チェーン数）を定義する。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  </a:t>
            </a:r>
            <a:r>
              <a:rPr kumimoji="1" lang="en-US" altLang="ja-JP" dirty="0">
                <a:latin typeface="BIZ UDゴシック" panose="020B0400000000000000" pitchFamily="49" charset="-128"/>
                <a:ea typeface="BIZ UDゴシック" panose="020B0400000000000000" pitchFamily="49" charset="-128"/>
              </a:rPr>
              <a:t>jags() </a:t>
            </a:r>
            <a:r>
              <a:rPr kumimoji="1" lang="ja-JP" altLang="en-US" dirty="0">
                <a:latin typeface="BIZ UDゴシック" panose="020B0400000000000000" pitchFamily="49" charset="-128"/>
                <a:ea typeface="BIZ UDゴシック" panose="020B0400000000000000" pitchFamily="49" charset="-128"/>
              </a:rPr>
              <a:t>を呼び出して</a:t>
            </a:r>
            <a:r>
              <a:rPr kumimoji="1" lang="en-US" altLang="ja-JP" dirty="0">
                <a:latin typeface="BIZ UDゴシック" panose="020B0400000000000000" pitchFamily="49" charset="-128"/>
                <a:ea typeface="BIZ UDゴシック" panose="020B0400000000000000" pitchFamily="49" charset="-128"/>
              </a:rPr>
              <a:t>MCMC</a:t>
            </a:r>
            <a:r>
              <a:rPr kumimoji="1" lang="ja-JP" altLang="en-US" dirty="0">
                <a:latin typeface="BIZ UDゴシック" panose="020B0400000000000000" pitchFamily="49" charset="-128"/>
                <a:ea typeface="BIZ UDゴシック" panose="020B0400000000000000" pitchFamily="49" charset="-128"/>
              </a:rPr>
              <a:t>サンプリングを実行し、トレースプロットや</a:t>
            </a:r>
            <a:r>
              <a:rPr kumimoji="1" lang="en-US" altLang="ja-JP" dirty="0" err="1">
                <a:latin typeface="BIZ UDゴシック" panose="020B0400000000000000" pitchFamily="49" charset="-128"/>
                <a:ea typeface="BIZ UDゴシック" panose="020B0400000000000000" pitchFamily="49" charset="-128"/>
              </a:rPr>
              <a:t>Rhat</a:t>
            </a:r>
            <a:r>
              <a:rPr kumimoji="1" lang="ja-JP" altLang="en-US" dirty="0">
                <a:latin typeface="BIZ UDゴシック" panose="020B0400000000000000" pitchFamily="49" charset="-128"/>
                <a:ea typeface="BIZ UDゴシック" panose="020B0400000000000000" pitchFamily="49" charset="-128"/>
              </a:rPr>
              <a:t>で収束を診断する。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lang="ja-JP" altLang="en-US"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事後分布の要約（平均、</a:t>
            </a:r>
            <a:r>
              <a:rPr kumimoji="1" lang="en-US" altLang="ja-JP" dirty="0">
                <a:latin typeface="BIZ UDゴシック" panose="020B0400000000000000" pitchFamily="49" charset="-128"/>
                <a:ea typeface="BIZ UDゴシック" panose="020B0400000000000000" pitchFamily="49" charset="-128"/>
              </a:rPr>
              <a:t>SD</a:t>
            </a:r>
            <a:r>
              <a:rPr kumimoji="1" lang="ja-JP" altLang="en-US" dirty="0">
                <a:latin typeface="BIZ UDゴシック" panose="020B0400000000000000" pitchFamily="49" charset="-128"/>
                <a:ea typeface="BIZ UDゴシック" panose="020B0400000000000000" pitchFamily="49" charset="-128"/>
              </a:rPr>
              <a:t>、</a:t>
            </a:r>
            <a:r>
              <a:rPr kumimoji="1" lang="en-US" altLang="ja-JP" dirty="0">
                <a:latin typeface="BIZ UDゴシック" panose="020B0400000000000000" pitchFamily="49" charset="-128"/>
                <a:ea typeface="BIZ UDゴシック" panose="020B0400000000000000" pitchFamily="49" charset="-128"/>
              </a:rPr>
              <a:t>95%</a:t>
            </a:r>
            <a:r>
              <a:rPr kumimoji="1" lang="ja-JP" altLang="en-US" dirty="0">
                <a:latin typeface="BIZ UDゴシック" panose="020B0400000000000000" pitchFamily="49" charset="-128"/>
                <a:ea typeface="BIZ UDゴシック" panose="020B0400000000000000" pitchFamily="49" charset="-128"/>
              </a:rPr>
              <a:t>信用区間、有効サンプルサイズ、</a:t>
            </a:r>
            <a:r>
              <a:rPr kumimoji="1" lang="en-US" altLang="ja-JP" dirty="0">
                <a:latin typeface="BIZ UDゴシック" panose="020B0400000000000000" pitchFamily="49" charset="-128"/>
                <a:ea typeface="BIZ UDゴシック" panose="020B0400000000000000" pitchFamily="49" charset="-128"/>
              </a:rPr>
              <a:t>DIC</a:t>
            </a:r>
            <a:r>
              <a:rPr kumimoji="1" lang="ja-JP" altLang="en-US" dirty="0">
                <a:latin typeface="BIZ UDゴシック" panose="020B0400000000000000" pitchFamily="49" charset="-128"/>
                <a:ea typeface="BIZ UDゴシック" panose="020B0400000000000000" pitchFamily="49" charset="-128"/>
              </a:rPr>
              <a:t>）を出力し、パラメータの事後分布を用いた確率計算や二次元プロット（周辺・結合事後分布の視覚化）を行う。 </a:t>
            </a:r>
          </a:p>
        </p:txBody>
      </p:sp>
    </p:spTree>
    <p:extLst>
      <p:ext uri="{BB962C8B-B14F-4D97-AF65-F5344CB8AC3E}">
        <p14:creationId xmlns:p14="http://schemas.microsoft.com/office/powerpoint/2010/main" val="481050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4EFCF-2E9D-B012-032A-FA31DDD351B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12594F6-1127-304D-B37F-61176535A32A}"/>
              </a:ext>
            </a:extLst>
          </p:cNvPr>
          <p:cNvSpPr>
            <a:spLocks noGrp="1"/>
          </p:cNvSpPr>
          <p:nvPr>
            <p:ph type="title"/>
          </p:nvPr>
        </p:nvSpPr>
        <p:spPr>
          <a:xfrm>
            <a:off x="838200" y="365125"/>
            <a:ext cx="10515600" cy="539001"/>
          </a:xfrm>
        </p:spPr>
        <p:txBody>
          <a:bodyPr>
            <a:normAutofit fontScale="90000"/>
          </a:bodyPr>
          <a:lstStyle/>
          <a:p>
            <a:r>
              <a:rPr kumimoji="1" lang="en-US" altLang="ja-JP" sz="3600" dirty="0">
                <a:latin typeface="BIZ UDゴシック" panose="020B0400000000000000" pitchFamily="49" charset="-128"/>
                <a:ea typeface="BIZ UDゴシック" panose="020B0400000000000000" pitchFamily="49" charset="-128"/>
              </a:rPr>
              <a:t>4.5 NIMBLE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4A8C8D27-B1EA-A07B-6930-2B5FE71C9E95}"/>
              </a:ext>
            </a:extLst>
          </p:cNvPr>
          <p:cNvSpPr>
            <a:spLocks noGrp="1"/>
          </p:cNvSpPr>
          <p:nvPr>
            <p:ph idx="1"/>
          </p:nvPr>
        </p:nvSpPr>
        <p:spPr>
          <a:xfrm>
            <a:off x="297951" y="1027416"/>
            <a:ext cx="11517330" cy="5753528"/>
          </a:xfrm>
        </p:spPr>
        <p:txBody>
          <a:bodyPr>
            <a:normAutofit/>
          </a:bodyPr>
          <a:lstStyle/>
          <a:p>
            <a:r>
              <a:rPr kumimoji="1" lang="en-US" altLang="ja-JP" sz="2000" dirty="0">
                <a:latin typeface="BIZ UDゴシック" panose="020B0400000000000000" pitchFamily="49" charset="-128"/>
                <a:ea typeface="BIZ UDゴシック" panose="020B0400000000000000" pitchFamily="49" charset="-128"/>
              </a:rPr>
              <a:t>4.5.1 NIMBLE</a:t>
            </a:r>
            <a:r>
              <a:rPr kumimoji="1" lang="ja-JP" altLang="en-US" sz="2000" dirty="0">
                <a:latin typeface="BIZ UDゴシック" panose="020B0400000000000000" pitchFamily="49" charset="-128"/>
                <a:ea typeface="BIZ UDゴシック" panose="020B0400000000000000" pitchFamily="49" charset="-128"/>
              </a:rPr>
              <a:t>の導入 </a:t>
            </a:r>
            <a:r>
              <a:rPr kumimoji="1" lang="en-US" altLang="ja-JP" sz="2000" dirty="0">
                <a:latin typeface="BIZ UDゴシック" panose="020B0400000000000000" pitchFamily="49" charset="-128"/>
                <a:ea typeface="BIZ UDゴシック" panose="020B0400000000000000" pitchFamily="49" charset="-128"/>
              </a:rPr>
              <a:t>(Introduction to NIMBLE)</a:t>
            </a:r>
          </a:p>
          <a:p>
            <a:pPr marL="0" indent="0">
              <a:buNone/>
            </a:pPr>
            <a:r>
              <a:rPr kumimoji="1" lang="en-US" altLang="ja-JP" sz="2000" dirty="0">
                <a:latin typeface="BIZ UDゴシック" panose="020B0400000000000000" pitchFamily="49" charset="-128"/>
                <a:ea typeface="BIZ UDゴシック" panose="020B0400000000000000" pitchFamily="49" charset="-128"/>
              </a:rPr>
              <a:t>NIMBLE</a:t>
            </a:r>
            <a:r>
              <a:rPr kumimoji="1" lang="ja-JP" altLang="en-US" sz="2000" dirty="0">
                <a:latin typeface="BIZ UDゴシック" panose="020B0400000000000000" pitchFamily="49" charset="-128"/>
                <a:ea typeface="BIZ UDゴシック" panose="020B0400000000000000" pitchFamily="49" charset="-128"/>
              </a:rPr>
              <a:t>は、</a:t>
            </a:r>
            <a:r>
              <a:rPr kumimoji="1" lang="en-US" altLang="ja-JP" sz="2000" dirty="0">
                <a:latin typeface="BIZ UDゴシック" panose="020B0400000000000000" pitchFamily="49" charset="-128"/>
                <a:ea typeface="BIZ UDゴシック" panose="020B0400000000000000" pitchFamily="49" charset="-128"/>
              </a:rPr>
              <a:t>BUGS</a:t>
            </a:r>
            <a:r>
              <a:rPr kumimoji="1" lang="ja-JP" altLang="en-US" sz="2000" dirty="0">
                <a:latin typeface="BIZ UDゴシック" panose="020B0400000000000000" pitchFamily="49" charset="-128"/>
                <a:ea typeface="BIZ UDゴシック" panose="020B0400000000000000" pitchFamily="49" charset="-128"/>
              </a:rPr>
              <a:t>言語風の記述を用いて</a:t>
            </a:r>
            <a:r>
              <a:rPr kumimoji="1" lang="en-US" altLang="ja-JP" sz="2000" dirty="0">
                <a:latin typeface="BIZ UDゴシック" panose="020B0400000000000000" pitchFamily="49" charset="-128"/>
                <a:ea typeface="BIZ UDゴシック" panose="020B0400000000000000" pitchFamily="49" charset="-128"/>
              </a:rPr>
              <a:t>MCMC</a:t>
            </a:r>
            <a:r>
              <a:rPr kumimoji="1" lang="ja-JP" altLang="en-US" sz="2000" dirty="0">
                <a:latin typeface="BIZ UDゴシック" panose="020B0400000000000000" pitchFamily="49" charset="-128"/>
                <a:ea typeface="BIZ UDゴシック" panose="020B0400000000000000" pitchFamily="49" charset="-128"/>
              </a:rPr>
              <a:t>や最尤法を実行できる</a:t>
            </a:r>
            <a:r>
              <a:rPr kumimoji="1" lang="en-US" altLang="ja-JP" sz="2000" dirty="0">
                <a:latin typeface="BIZ UDゴシック" panose="020B0400000000000000" pitchFamily="49" charset="-128"/>
                <a:ea typeface="BIZ UDゴシック" panose="020B0400000000000000" pitchFamily="49" charset="-128"/>
              </a:rPr>
              <a:t>R</a:t>
            </a:r>
            <a:r>
              <a:rPr kumimoji="1" lang="ja-JP" altLang="en-US" sz="2000" dirty="0">
                <a:latin typeface="BIZ UDゴシック" panose="020B0400000000000000" pitchFamily="49" charset="-128"/>
                <a:ea typeface="BIZ UDゴシック" panose="020B0400000000000000" pitchFamily="49" charset="-128"/>
              </a:rPr>
              <a:t>パッケージである。   </a:t>
            </a:r>
            <a:endParaRPr kumimoji="1" lang="en-US" altLang="ja-JP" sz="2000" dirty="0">
              <a:latin typeface="BIZ UDゴシック" panose="020B0400000000000000" pitchFamily="49" charset="-128"/>
              <a:ea typeface="BIZ UDゴシック" panose="020B0400000000000000" pitchFamily="49" charset="-128"/>
            </a:endParaRPr>
          </a:p>
          <a:p>
            <a:pPr marL="0" indent="0">
              <a:buNone/>
            </a:pPr>
            <a:r>
              <a:rPr kumimoji="1" lang="en-US" altLang="ja-JP" sz="2000" dirty="0">
                <a:latin typeface="BIZ UDゴシック" panose="020B0400000000000000" pitchFamily="49" charset="-128"/>
                <a:ea typeface="BIZ UDゴシック" panose="020B0400000000000000" pitchFamily="49" charset="-128"/>
              </a:rPr>
              <a:t>JAGS</a:t>
            </a:r>
            <a:r>
              <a:rPr kumimoji="1" lang="ja-JP" altLang="en-US" sz="2000" dirty="0">
                <a:latin typeface="BIZ UDゴシック" panose="020B0400000000000000" pitchFamily="49" charset="-128"/>
                <a:ea typeface="BIZ UDゴシック" panose="020B0400000000000000" pitchFamily="49" charset="-128"/>
              </a:rPr>
              <a:t>と同様に離散パラメータや欠損値を扱えるため移行が容易であるが、内部で</a:t>
            </a:r>
            <a:r>
              <a:rPr kumimoji="1" lang="en-US" altLang="ja-JP" sz="2000" dirty="0">
                <a:latin typeface="BIZ UDゴシック" panose="020B0400000000000000" pitchFamily="49" charset="-128"/>
                <a:ea typeface="BIZ UDゴシック" panose="020B0400000000000000" pitchFamily="49" charset="-128"/>
              </a:rPr>
              <a:t>C++</a:t>
            </a:r>
            <a:r>
              <a:rPr kumimoji="1" lang="ja-JP" altLang="en-US" sz="2000" dirty="0">
                <a:latin typeface="BIZ UDゴシック" panose="020B0400000000000000" pitchFamily="49" charset="-128"/>
                <a:ea typeface="BIZ UDゴシック" panose="020B0400000000000000" pitchFamily="49" charset="-128"/>
              </a:rPr>
              <a:t>コードにコンパイルして実行するため高速である。   </a:t>
            </a:r>
            <a:endParaRPr kumimoji="1" lang="en-US" altLang="ja-JP" sz="2000" dirty="0">
              <a:latin typeface="BIZ UDゴシック" panose="020B0400000000000000" pitchFamily="49" charset="-128"/>
              <a:ea typeface="BIZ UDゴシック" panose="020B0400000000000000" pitchFamily="49" charset="-128"/>
            </a:endParaRPr>
          </a:p>
          <a:p>
            <a:pPr marL="0" indent="0">
              <a:buNone/>
            </a:pPr>
            <a:r>
              <a:rPr kumimoji="1" lang="ja-JP" altLang="en-US" sz="2000" dirty="0">
                <a:latin typeface="BIZ UDゴシック" panose="020B0400000000000000" pitchFamily="49" charset="-128"/>
                <a:ea typeface="BIZ UDゴシック" panose="020B0400000000000000" pitchFamily="49" charset="-128"/>
              </a:rPr>
              <a:t>ユーザ独自の関数やサンプラー、さらには</a:t>
            </a:r>
            <a:r>
              <a:rPr kumimoji="1" lang="en-US" altLang="ja-JP" sz="2000" dirty="0">
                <a:latin typeface="BIZ UDゴシック" panose="020B0400000000000000" pitchFamily="49" charset="-128"/>
                <a:ea typeface="BIZ UDゴシック" panose="020B0400000000000000" pitchFamily="49" charset="-128"/>
              </a:rPr>
              <a:t>HMC</a:t>
            </a:r>
            <a:r>
              <a:rPr kumimoji="1" lang="ja-JP" altLang="en-US" sz="2000" dirty="0">
                <a:latin typeface="BIZ UDゴシック" panose="020B0400000000000000" pitchFamily="49" charset="-128"/>
                <a:ea typeface="BIZ UDゴシック" panose="020B0400000000000000" pitchFamily="49" charset="-128"/>
              </a:rPr>
              <a:t>やラプラス近似などの高度なアルゴリズムを自由に組み込める高い拡張性を持つ。   </a:t>
            </a:r>
            <a:endParaRPr kumimoji="1" lang="en-US" altLang="ja-JP" sz="2000" dirty="0">
              <a:latin typeface="BIZ UDゴシック" panose="020B0400000000000000" pitchFamily="49" charset="-128"/>
              <a:ea typeface="BIZ UDゴシック" panose="020B0400000000000000" pitchFamily="49" charset="-128"/>
            </a:endParaRPr>
          </a:p>
          <a:p>
            <a:pPr marL="0" indent="0">
              <a:buNone/>
            </a:pPr>
            <a:r>
              <a:rPr kumimoji="1" lang="ja-JP" altLang="en-US" sz="2000" dirty="0">
                <a:latin typeface="BIZ UDゴシック" panose="020B0400000000000000" pitchFamily="49" charset="-128"/>
                <a:ea typeface="BIZ UDゴシック" panose="020B0400000000000000" pitchFamily="49" charset="-128"/>
              </a:rPr>
              <a:t>実行には</a:t>
            </a:r>
            <a:r>
              <a:rPr kumimoji="1" lang="en-US" altLang="ja-JP" sz="2000" dirty="0" err="1">
                <a:latin typeface="BIZ UDゴシック" panose="020B0400000000000000" pitchFamily="49" charset="-128"/>
                <a:ea typeface="BIZ UDゴシック" panose="020B0400000000000000" pitchFamily="49" charset="-128"/>
              </a:rPr>
              <a:t>Rtools</a:t>
            </a:r>
            <a:r>
              <a:rPr kumimoji="1" lang="ja-JP" altLang="en-US" sz="2000" dirty="0">
                <a:latin typeface="BIZ UDゴシック" panose="020B0400000000000000" pitchFamily="49" charset="-128"/>
                <a:ea typeface="BIZ UDゴシック" panose="020B0400000000000000" pitchFamily="49" charset="-128"/>
              </a:rPr>
              <a:t>（</a:t>
            </a:r>
            <a:r>
              <a:rPr kumimoji="1" lang="en-US" altLang="ja-JP" sz="2000" dirty="0">
                <a:latin typeface="BIZ UDゴシック" panose="020B0400000000000000" pitchFamily="49" charset="-128"/>
                <a:ea typeface="BIZ UDゴシック" panose="020B0400000000000000" pitchFamily="49" charset="-128"/>
              </a:rPr>
              <a:t>Windows</a:t>
            </a:r>
            <a:r>
              <a:rPr kumimoji="1" lang="ja-JP" altLang="en-US" sz="2000" dirty="0">
                <a:latin typeface="BIZ UDゴシック" panose="020B0400000000000000" pitchFamily="49" charset="-128"/>
                <a:ea typeface="BIZ UDゴシック" panose="020B0400000000000000" pitchFamily="49" charset="-128"/>
              </a:rPr>
              <a:t>）や</a:t>
            </a:r>
            <a:r>
              <a:rPr kumimoji="1" lang="en-US" altLang="ja-JP" sz="2000" dirty="0">
                <a:latin typeface="BIZ UDゴシック" panose="020B0400000000000000" pitchFamily="49" charset="-128"/>
                <a:ea typeface="BIZ UDゴシック" panose="020B0400000000000000" pitchFamily="49" charset="-128"/>
              </a:rPr>
              <a:t>Xcode</a:t>
            </a:r>
            <a:r>
              <a:rPr kumimoji="1" lang="ja-JP" altLang="en-US" sz="2000" dirty="0">
                <a:latin typeface="BIZ UDゴシック" panose="020B0400000000000000" pitchFamily="49" charset="-128"/>
                <a:ea typeface="BIZ UDゴシック" panose="020B0400000000000000" pitchFamily="49" charset="-128"/>
              </a:rPr>
              <a:t>（</a:t>
            </a:r>
            <a:r>
              <a:rPr kumimoji="1" lang="en-US" altLang="ja-JP" sz="2000" dirty="0">
                <a:latin typeface="BIZ UDゴシック" panose="020B0400000000000000" pitchFamily="49" charset="-128"/>
                <a:ea typeface="BIZ UDゴシック" panose="020B0400000000000000" pitchFamily="49" charset="-128"/>
              </a:rPr>
              <a:t>Mac</a:t>
            </a:r>
            <a:r>
              <a:rPr kumimoji="1" lang="ja-JP" altLang="en-US" sz="2000" dirty="0">
                <a:latin typeface="BIZ UDゴシック" panose="020B0400000000000000" pitchFamily="49" charset="-128"/>
                <a:ea typeface="BIZ UDゴシック" panose="020B0400000000000000" pitchFamily="49" charset="-128"/>
              </a:rPr>
              <a:t>）などの</a:t>
            </a:r>
            <a:r>
              <a:rPr kumimoji="1" lang="en-US" altLang="ja-JP" sz="2000" dirty="0">
                <a:latin typeface="BIZ UDゴシック" panose="020B0400000000000000" pitchFamily="49" charset="-128"/>
                <a:ea typeface="BIZ UDゴシック" panose="020B0400000000000000" pitchFamily="49" charset="-128"/>
              </a:rPr>
              <a:t>C++</a:t>
            </a:r>
            <a:r>
              <a:rPr kumimoji="1" lang="ja-JP" altLang="en-US" sz="2000" dirty="0">
                <a:latin typeface="BIZ UDゴシック" panose="020B0400000000000000" pitchFamily="49" charset="-128"/>
                <a:ea typeface="BIZ UDゴシック" panose="020B0400000000000000" pitchFamily="49" charset="-128"/>
              </a:rPr>
              <a:t>コンパイラが必要となる。   </a:t>
            </a:r>
            <a:endParaRPr kumimoji="1" lang="en-US" altLang="ja-JP" sz="2000" dirty="0">
              <a:latin typeface="BIZ UDゴシック" panose="020B0400000000000000" pitchFamily="49" charset="-128"/>
              <a:ea typeface="BIZ UDゴシック" panose="020B0400000000000000" pitchFamily="49" charset="-128"/>
            </a:endParaRPr>
          </a:p>
          <a:p>
            <a:pPr marL="0" indent="0">
              <a:buNone/>
            </a:pPr>
            <a:endParaRPr kumimoji="1" lang="en-US" altLang="ja-JP" sz="2000" dirty="0">
              <a:latin typeface="BIZ UDゴシック" panose="020B0400000000000000" pitchFamily="49" charset="-128"/>
              <a:ea typeface="BIZ UDゴシック" panose="020B0400000000000000" pitchFamily="49" charset="-128"/>
            </a:endParaRPr>
          </a:p>
          <a:p>
            <a:pPr marL="0" indent="0">
              <a:buNone/>
            </a:pPr>
            <a:r>
              <a:rPr kumimoji="1" lang="en-US" altLang="ja-JP" sz="2000" dirty="0">
                <a:latin typeface="BIZ UDゴシック" panose="020B0400000000000000" pitchFamily="49" charset="-128"/>
                <a:ea typeface="BIZ UDゴシック" panose="020B0400000000000000" pitchFamily="49" charset="-128"/>
              </a:rPr>
              <a:t>4.5.2 NIMBLE</a:t>
            </a:r>
            <a:r>
              <a:rPr kumimoji="1" lang="ja-JP" altLang="en-US" sz="2000" dirty="0">
                <a:latin typeface="BIZ UDゴシック" panose="020B0400000000000000" pitchFamily="49" charset="-128"/>
                <a:ea typeface="BIZ UDゴシック" panose="020B0400000000000000" pitchFamily="49" charset="-128"/>
              </a:rPr>
              <a:t>によるモデルの当てはめ </a:t>
            </a:r>
            <a:r>
              <a:rPr kumimoji="1" lang="en-US" altLang="ja-JP" sz="2000" dirty="0">
                <a:latin typeface="BIZ UDゴシック" panose="020B0400000000000000" pitchFamily="49" charset="-128"/>
                <a:ea typeface="BIZ UDゴシック" panose="020B0400000000000000" pitchFamily="49" charset="-128"/>
              </a:rPr>
              <a:t>(Fit the model with NIMBLE)</a:t>
            </a:r>
          </a:p>
          <a:p>
            <a:pPr marL="0" indent="0">
              <a:buNone/>
            </a:pPr>
            <a:r>
              <a:rPr kumimoji="1" lang="en-US" altLang="ja-JP" sz="2000" dirty="0" err="1">
                <a:latin typeface="BIZ UDゴシック" panose="020B0400000000000000" pitchFamily="49" charset="-128"/>
                <a:ea typeface="BIZ UDゴシック" panose="020B0400000000000000" pitchFamily="49" charset="-128"/>
              </a:rPr>
              <a:t>nimbleCode</a:t>
            </a:r>
            <a:r>
              <a:rPr kumimoji="1" lang="en-US" altLang="ja-JP" sz="2000" dirty="0">
                <a:latin typeface="BIZ UDゴシック" panose="020B0400000000000000" pitchFamily="49" charset="-128"/>
                <a:ea typeface="BIZ UDゴシック" panose="020B0400000000000000" pitchFamily="49" charset="-128"/>
              </a:rPr>
              <a:t>({}) </a:t>
            </a:r>
            <a:r>
              <a:rPr kumimoji="1" lang="ja-JP" altLang="en-US" sz="2000" dirty="0">
                <a:latin typeface="BIZ UDゴシック" panose="020B0400000000000000" pitchFamily="49" charset="-128"/>
                <a:ea typeface="BIZ UDゴシック" panose="020B0400000000000000" pitchFamily="49" charset="-128"/>
              </a:rPr>
              <a:t>関数を用いて</a:t>
            </a:r>
            <a:r>
              <a:rPr kumimoji="1" lang="en-US" altLang="ja-JP" sz="2000" dirty="0">
                <a:latin typeface="BIZ UDゴシック" panose="020B0400000000000000" pitchFamily="49" charset="-128"/>
                <a:ea typeface="BIZ UDゴシック" panose="020B0400000000000000" pitchFamily="49" charset="-128"/>
              </a:rPr>
              <a:t>R</a:t>
            </a:r>
            <a:r>
              <a:rPr kumimoji="1" lang="ja-JP" altLang="en-US" sz="2000" dirty="0">
                <a:latin typeface="BIZ UDゴシック" panose="020B0400000000000000" pitchFamily="49" charset="-128"/>
                <a:ea typeface="BIZ UDゴシック" panose="020B0400000000000000" pitchFamily="49" charset="-128"/>
              </a:rPr>
              <a:t>スクリプト内に直接</a:t>
            </a:r>
            <a:r>
              <a:rPr kumimoji="1" lang="en-US" altLang="ja-JP" sz="2000" dirty="0">
                <a:latin typeface="BIZ UDゴシック" panose="020B0400000000000000" pitchFamily="49" charset="-128"/>
                <a:ea typeface="BIZ UDゴシック" panose="020B0400000000000000" pitchFamily="49" charset="-128"/>
              </a:rPr>
              <a:t>BUGS</a:t>
            </a:r>
            <a:r>
              <a:rPr kumimoji="1" lang="ja-JP" altLang="en-US" sz="2000" dirty="0">
                <a:latin typeface="BIZ UDゴシック" panose="020B0400000000000000" pitchFamily="49" charset="-128"/>
                <a:ea typeface="BIZ UDゴシック" panose="020B0400000000000000" pitchFamily="49" charset="-128"/>
              </a:rPr>
              <a:t>モデルを記述する（</a:t>
            </a:r>
            <a:r>
              <a:rPr kumimoji="1" lang="en-US" altLang="ja-JP" sz="2000" dirty="0">
                <a:latin typeface="BIZ UDゴシック" panose="020B0400000000000000" pitchFamily="49" charset="-128"/>
                <a:ea typeface="BIZ UDゴシック" panose="020B0400000000000000" pitchFamily="49" charset="-128"/>
              </a:rPr>
              <a:t>JAGS</a:t>
            </a:r>
            <a:r>
              <a:rPr kumimoji="1" lang="ja-JP" altLang="en-US" sz="2000" dirty="0">
                <a:latin typeface="BIZ UDゴシック" panose="020B0400000000000000" pitchFamily="49" charset="-128"/>
                <a:ea typeface="BIZ UDゴシック" panose="020B0400000000000000" pitchFamily="49" charset="-128"/>
              </a:rPr>
              <a:t>のように別ファイルを保存する必要がない）。   </a:t>
            </a:r>
            <a:endParaRPr kumimoji="1" lang="en-US" altLang="ja-JP" sz="2000" dirty="0">
              <a:latin typeface="BIZ UDゴシック" panose="020B0400000000000000" pitchFamily="49" charset="-128"/>
              <a:ea typeface="BIZ UDゴシック" panose="020B0400000000000000" pitchFamily="49" charset="-128"/>
            </a:endParaRPr>
          </a:p>
          <a:p>
            <a:pPr marL="0" indent="0">
              <a:buNone/>
            </a:pPr>
            <a:r>
              <a:rPr kumimoji="1" lang="en-US" altLang="ja-JP" sz="2000" dirty="0">
                <a:latin typeface="BIZ UDゴシック" panose="020B0400000000000000" pitchFamily="49" charset="-128"/>
                <a:ea typeface="BIZ UDゴシック" panose="020B0400000000000000" pitchFamily="49" charset="-128"/>
              </a:rPr>
              <a:t>JAGS</a:t>
            </a:r>
            <a:r>
              <a:rPr kumimoji="1" lang="ja-JP" altLang="en-US" sz="2000" dirty="0">
                <a:latin typeface="BIZ UDゴシック" panose="020B0400000000000000" pitchFamily="49" charset="-128"/>
                <a:ea typeface="BIZ UDゴシック" panose="020B0400000000000000" pitchFamily="49" charset="-128"/>
              </a:rPr>
              <a:t>との主な違いとして、正規分布のパラメータ指定に分散や精度ではなく標準偏差（</a:t>
            </a:r>
            <a:r>
              <a:rPr kumimoji="1" lang="en-US" altLang="ja-JP" sz="2000" dirty="0" err="1">
                <a:latin typeface="BIZ UDゴシック" panose="020B0400000000000000" pitchFamily="49" charset="-128"/>
                <a:ea typeface="BIZ UDゴシック" panose="020B0400000000000000" pitchFamily="49" charset="-128"/>
              </a:rPr>
              <a:t>sd</a:t>
            </a:r>
            <a:r>
              <a:rPr kumimoji="1" lang="ja-JP" altLang="en-US" sz="2000" dirty="0">
                <a:latin typeface="BIZ UDゴシック" panose="020B0400000000000000" pitchFamily="49" charset="-128"/>
                <a:ea typeface="BIZ UDゴシック" panose="020B0400000000000000" pitchFamily="49" charset="-128"/>
              </a:rPr>
              <a:t>）を直接使用できる。   </a:t>
            </a:r>
            <a:endParaRPr kumimoji="1" lang="en-US" altLang="ja-JP" sz="2000" dirty="0">
              <a:latin typeface="BIZ UDゴシック" panose="020B0400000000000000" pitchFamily="49" charset="-128"/>
              <a:ea typeface="BIZ UDゴシック" panose="020B0400000000000000" pitchFamily="49" charset="-128"/>
            </a:endParaRPr>
          </a:p>
          <a:p>
            <a:pPr marL="0" indent="0">
              <a:buNone/>
            </a:pPr>
            <a:r>
              <a:rPr kumimoji="1" lang="en-US" altLang="ja-JP" sz="2000" dirty="0" err="1">
                <a:latin typeface="BIZ UDゴシック" panose="020B0400000000000000" pitchFamily="49" charset="-128"/>
                <a:ea typeface="BIZ UDゴシック" panose="020B0400000000000000" pitchFamily="49" charset="-128"/>
              </a:rPr>
              <a:t>nimbleMCMC</a:t>
            </a:r>
            <a:r>
              <a:rPr kumimoji="1" lang="en-US" altLang="ja-JP" sz="2000" dirty="0">
                <a:latin typeface="BIZ UDゴシック" panose="020B0400000000000000" pitchFamily="49" charset="-128"/>
                <a:ea typeface="BIZ UDゴシック" panose="020B0400000000000000" pitchFamily="49" charset="-128"/>
              </a:rPr>
              <a:t>() </a:t>
            </a:r>
            <a:r>
              <a:rPr kumimoji="1" lang="ja-JP" altLang="en-US" sz="2000" dirty="0">
                <a:latin typeface="BIZ UDゴシック" panose="020B0400000000000000" pitchFamily="49" charset="-128"/>
                <a:ea typeface="BIZ UDゴシック" panose="020B0400000000000000" pitchFamily="49" charset="-128"/>
              </a:rPr>
              <a:t>関数を使って</a:t>
            </a:r>
            <a:r>
              <a:rPr kumimoji="1" lang="en-US" altLang="ja-JP" sz="2000" dirty="0">
                <a:latin typeface="BIZ UDゴシック" panose="020B0400000000000000" pitchFamily="49" charset="-128"/>
                <a:ea typeface="BIZ UDゴシック" panose="020B0400000000000000" pitchFamily="49" charset="-128"/>
              </a:rPr>
              <a:t>1</a:t>
            </a:r>
            <a:r>
              <a:rPr kumimoji="1" lang="ja-JP" altLang="en-US" sz="2000" dirty="0">
                <a:latin typeface="BIZ UDゴシック" panose="020B0400000000000000" pitchFamily="49" charset="-128"/>
                <a:ea typeface="BIZ UDゴシック" panose="020B0400000000000000" pitchFamily="49" charset="-128"/>
              </a:rPr>
              <a:t>ステップでモデルの構築・コンパイル・</a:t>
            </a:r>
            <a:r>
              <a:rPr kumimoji="1" lang="en-US" altLang="ja-JP" sz="2000" dirty="0">
                <a:latin typeface="BIZ UDゴシック" panose="020B0400000000000000" pitchFamily="49" charset="-128"/>
                <a:ea typeface="BIZ UDゴシック" panose="020B0400000000000000" pitchFamily="49" charset="-128"/>
              </a:rPr>
              <a:t>MCMC</a:t>
            </a:r>
            <a:r>
              <a:rPr kumimoji="1" lang="ja-JP" altLang="en-US" sz="2000" dirty="0">
                <a:latin typeface="BIZ UDゴシック" panose="020B0400000000000000" pitchFamily="49" charset="-128"/>
                <a:ea typeface="BIZ UDゴシック" panose="020B0400000000000000" pitchFamily="49" charset="-128"/>
              </a:rPr>
              <a:t>実行を行うことができる。   </a:t>
            </a:r>
            <a:endParaRPr kumimoji="1" lang="en-US" altLang="ja-JP" sz="2000" dirty="0">
              <a:latin typeface="BIZ UDゴシック" panose="020B0400000000000000" pitchFamily="49" charset="-128"/>
              <a:ea typeface="BIZ UDゴシック" panose="020B0400000000000000" pitchFamily="49" charset="-128"/>
            </a:endParaRPr>
          </a:p>
          <a:p>
            <a:pPr marL="0" indent="0">
              <a:buNone/>
            </a:pPr>
            <a:r>
              <a:rPr kumimoji="1" lang="ja-JP" altLang="en-US" sz="2000" dirty="0">
                <a:latin typeface="BIZ UDゴシック" panose="020B0400000000000000" pitchFamily="49" charset="-128"/>
                <a:ea typeface="BIZ UDゴシック" panose="020B0400000000000000" pitchFamily="49" charset="-128"/>
              </a:rPr>
              <a:t>より高度な制御を行う場合は、ステップを細分化し、</a:t>
            </a:r>
            <a:r>
              <a:rPr kumimoji="1" lang="en-US" altLang="ja-JP" sz="2000" dirty="0" err="1">
                <a:latin typeface="BIZ UDゴシック" panose="020B0400000000000000" pitchFamily="49" charset="-128"/>
                <a:ea typeface="BIZ UDゴシック" panose="020B0400000000000000" pitchFamily="49" charset="-128"/>
              </a:rPr>
              <a:t>nimbleModel</a:t>
            </a:r>
            <a:r>
              <a:rPr kumimoji="1" lang="en-US" altLang="ja-JP" sz="2000" dirty="0">
                <a:latin typeface="BIZ UDゴシック" panose="020B0400000000000000" pitchFamily="49" charset="-128"/>
                <a:ea typeface="BIZ UDゴシック" panose="020B0400000000000000" pitchFamily="49" charset="-128"/>
              </a:rPr>
              <a:t>(), </a:t>
            </a:r>
            <a:r>
              <a:rPr kumimoji="1" lang="en-US" altLang="ja-JP" sz="2000" dirty="0" err="1">
                <a:latin typeface="BIZ UDゴシック" panose="020B0400000000000000" pitchFamily="49" charset="-128"/>
                <a:ea typeface="BIZ UDゴシック" panose="020B0400000000000000" pitchFamily="49" charset="-128"/>
              </a:rPr>
              <a:t>configureMCMC</a:t>
            </a:r>
            <a:r>
              <a:rPr kumimoji="1" lang="en-US" altLang="ja-JP" sz="2000" dirty="0">
                <a:latin typeface="BIZ UDゴシック" panose="020B0400000000000000" pitchFamily="49" charset="-128"/>
                <a:ea typeface="BIZ UDゴシック" panose="020B0400000000000000" pitchFamily="49" charset="-128"/>
              </a:rPr>
              <a:t>(), </a:t>
            </a:r>
            <a:r>
              <a:rPr kumimoji="1" lang="en-US" altLang="ja-JP" sz="2000" dirty="0" err="1">
                <a:latin typeface="BIZ UDゴシック" panose="020B0400000000000000" pitchFamily="49" charset="-128"/>
                <a:ea typeface="BIZ UDゴシック" panose="020B0400000000000000" pitchFamily="49" charset="-128"/>
              </a:rPr>
              <a:t>buildMCMC</a:t>
            </a:r>
            <a:r>
              <a:rPr kumimoji="1" lang="en-US" altLang="ja-JP" sz="2000" dirty="0">
                <a:latin typeface="BIZ UDゴシック" panose="020B0400000000000000" pitchFamily="49" charset="-128"/>
                <a:ea typeface="BIZ UDゴシック" panose="020B0400000000000000" pitchFamily="49" charset="-128"/>
              </a:rPr>
              <a:t>(), </a:t>
            </a:r>
            <a:r>
              <a:rPr kumimoji="1" lang="en-US" altLang="ja-JP" sz="2000" dirty="0" err="1">
                <a:latin typeface="BIZ UDゴシック" panose="020B0400000000000000" pitchFamily="49" charset="-128"/>
                <a:ea typeface="BIZ UDゴシック" panose="020B0400000000000000" pitchFamily="49" charset="-128"/>
              </a:rPr>
              <a:t>compileNimble</a:t>
            </a:r>
            <a:r>
              <a:rPr kumimoji="1" lang="en-US" altLang="ja-JP" sz="2000" dirty="0">
                <a:latin typeface="BIZ UDゴシック" panose="020B0400000000000000" pitchFamily="49" charset="-128"/>
                <a:ea typeface="BIZ UDゴシック" panose="020B0400000000000000" pitchFamily="49" charset="-128"/>
              </a:rPr>
              <a:t>(), </a:t>
            </a:r>
            <a:r>
              <a:rPr kumimoji="1" lang="en-US" altLang="ja-JP" sz="2000" dirty="0" err="1">
                <a:latin typeface="BIZ UDゴシック" panose="020B0400000000000000" pitchFamily="49" charset="-128"/>
                <a:ea typeface="BIZ UDゴシック" panose="020B0400000000000000" pitchFamily="49" charset="-128"/>
              </a:rPr>
              <a:t>runMCMC</a:t>
            </a:r>
            <a:r>
              <a:rPr kumimoji="1" lang="en-US" altLang="ja-JP" sz="2000" dirty="0">
                <a:latin typeface="BIZ UDゴシック" panose="020B0400000000000000" pitchFamily="49" charset="-128"/>
                <a:ea typeface="BIZ UDゴシック" panose="020B0400000000000000" pitchFamily="49" charset="-128"/>
              </a:rPr>
              <a:t>() </a:t>
            </a:r>
            <a:r>
              <a:rPr kumimoji="1" lang="ja-JP" altLang="en-US" sz="2000" dirty="0">
                <a:latin typeface="BIZ UDゴシック" panose="020B0400000000000000" pitchFamily="49" charset="-128"/>
                <a:ea typeface="BIZ UDゴシック" panose="020B0400000000000000" pitchFamily="49" charset="-128"/>
              </a:rPr>
              <a:t>を順に手動実行する方法も用意されている。 </a:t>
            </a:r>
          </a:p>
        </p:txBody>
      </p:sp>
    </p:spTree>
    <p:extLst>
      <p:ext uri="{BB962C8B-B14F-4D97-AF65-F5344CB8AC3E}">
        <p14:creationId xmlns:p14="http://schemas.microsoft.com/office/powerpoint/2010/main" val="123774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C2C9C-3870-1BDF-2457-EEABA4230E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BF8E13-2B16-CBE2-77A9-C644261EA7FF}"/>
              </a:ext>
            </a:extLst>
          </p:cNvPr>
          <p:cNvSpPr>
            <a:spLocks noGrp="1"/>
          </p:cNvSpPr>
          <p:nvPr>
            <p:ph type="title"/>
          </p:nvPr>
        </p:nvSpPr>
        <p:spPr>
          <a:xfrm>
            <a:off x="838200" y="365126"/>
            <a:ext cx="10515600" cy="631468"/>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4.6 Stan</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11D8B54B-DC09-8267-67E3-AF4F67320172}"/>
              </a:ext>
            </a:extLst>
          </p:cNvPr>
          <p:cNvSpPr>
            <a:spLocks noGrp="1"/>
          </p:cNvSpPr>
          <p:nvPr>
            <p:ph idx="1"/>
          </p:nvPr>
        </p:nvSpPr>
        <p:spPr>
          <a:xfrm>
            <a:off x="226031" y="996594"/>
            <a:ext cx="11661169" cy="5861406"/>
          </a:xfrm>
        </p:spPr>
        <p:txBody>
          <a:bodyPr>
            <a:normAutofit fontScale="70000" lnSpcReduction="20000"/>
          </a:bodyPr>
          <a:lstStyle/>
          <a:p>
            <a:r>
              <a:rPr kumimoji="1" lang="en-US" altLang="ja-JP" dirty="0">
                <a:latin typeface="BIZ UDゴシック" panose="020B0400000000000000" pitchFamily="49" charset="-128"/>
                <a:ea typeface="BIZ UDゴシック" panose="020B0400000000000000" pitchFamily="49" charset="-128"/>
              </a:rPr>
              <a:t>4.6.1 Stan</a:t>
            </a:r>
            <a:r>
              <a:rPr kumimoji="1" lang="ja-JP" altLang="en-US" dirty="0">
                <a:latin typeface="BIZ UDゴシック" panose="020B0400000000000000" pitchFamily="49" charset="-128"/>
                <a:ea typeface="BIZ UDゴシック" panose="020B0400000000000000" pitchFamily="49" charset="-128"/>
              </a:rPr>
              <a:t>の導入 </a:t>
            </a:r>
            <a:r>
              <a:rPr kumimoji="1" lang="en-US" altLang="ja-JP" dirty="0">
                <a:latin typeface="BIZ UDゴシック" panose="020B0400000000000000" pitchFamily="49" charset="-128"/>
                <a:ea typeface="BIZ UDゴシック" panose="020B0400000000000000" pitchFamily="49" charset="-128"/>
              </a:rPr>
              <a:t>(Introduction to Stan)</a:t>
            </a:r>
          </a:p>
          <a:p>
            <a:pPr marL="0" indent="0">
              <a:buNone/>
            </a:pPr>
            <a:r>
              <a:rPr kumimoji="1" lang="en-US" altLang="ja-JP" dirty="0">
                <a:latin typeface="BIZ UDゴシック" panose="020B0400000000000000" pitchFamily="49" charset="-128"/>
                <a:ea typeface="BIZ UDゴシック" panose="020B0400000000000000" pitchFamily="49" charset="-128"/>
              </a:rPr>
              <a:t>Stan</a:t>
            </a:r>
            <a:r>
              <a:rPr kumimoji="1" lang="ja-JP" altLang="en-US" dirty="0">
                <a:latin typeface="BIZ UDゴシック" panose="020B0400000000000000" pitchFamily="49" charset="-128"/>
                <a:ea typeface="BIZ UDゴシック" panose="020B0400000000000000" pitchFamily="49" charset="-128"/>
              </a:rPr>
              <a:t>は、ハミルトニアンモンテカルロ（</a:t>
            </a:r>
            <a:r>
              <a:rPr kumimoji="1" lang="en-US" altLang="ja-JP" dirty="0">
                <a:latin typeface="BIZ UDゴシック" panose="020B0400000000000000" pitchFamily="49" charset="-128"/>
                <a:ea typeface="BIZ UDゴシック" panose="020B0400000000000000" pitchFamily="49" charset="-128"/>
              </a:rPr>
              <a:t>HMC</a:t>
            </a:r>
            <a:r>
              <a:rPr kumimoji="1" lang="ja-JP" altLang="en-US" dirty="0">
                <a:latin typeface="BIZ UDゴシック" panose="020B0400000000000000" pitchFamily="49" charset="-128"/>
                <a:ea typeface="BIZ UDゴシック" panose="020B0400000000000000" pitchFamily="49" charset="-128"/>
              </a:rPr>
              <a:t>）の変種である</a:t>
            </a:r>
            <a:r>
              <a:rPr kumimoji="1" lang="en-US" altLang="ja-JP" dirty="0">
                <a:latin typeface="BIZ UDゴシック" panose="020B0400000000000000" pitchFamily="49" charset="-128"/>
                <a:ea typeface="BIZ UDゴシック" panose="020B0400000000000000" pitchFamily="49" charset="-128"/>
              </a:rPr>
              <a:t>NUTS</a:t>
            </a:r>
            <a:r>
              <a:rPr kumimoji="1" lang="ja-JP" altLang="en-US" dirty="0">
                <a:latin typeface="BIZ UDゴシック" panose="020B0400000000000000" pitchFamily="49" charset="-128"/>
                <a:ea typeface="BIZ UDゴシック" panose="020B0400000000000000" pitchFamily="49" charset="-128"/>
              </a:rPr>
              <a:t>（</a:t>
            </a:r>
            <a:r>
              <a:rPr kumimoji="1" lang="en-US" altLang="ja-JP" dirty="0">
                <a:latin typeface="BIZ UDゴシック" panose="020B0400000000000000" pitchFamily="49" charset="-128"/>
                <a:ea typeface="BIZ UDゴシック" panose="020B0400000000000000" pitchFamily="49" charset="-128"/>
              </a:rPr>
              <a:t>No-U-Turn Sampler</a:t>
            </a:r>
            <a:r>
              <a:rPr kumimoji="1" lang="ja-JP" altLang="en-US" dirty="0">
                <a:latin typeface="BIZ UDゴシック" panose="020B0400000000000000" pitchFamily="49" charset="-128"/>
                <a:ea typeface="BIZ UDゴシック" panose="020B0400000000000000" pitchFamily="49" charset="-128"/>
              </a:rPr>
              <a:t>）アルゴリズムを駆動するモデリングプラットフォームである。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複雑なモデルや相関の強いパラメータ空間において、従来の</a:t>
            </a:r>
            <a:r>
              <a:rPr kumimoji="1" lang="en-US" altLang="ja-JP" dirty="0">
                <a:latin typeface="BIZ UDゴシック" panose="020B0400000000000000" pitchFamily="49" charset="-128"/>
                <a:ea typeface="BIZ UDゴシック" panose="020B0400000000000000" pitchFamily="49" charset="-128"/>
              </a:rPr>
              <a:t>Gibbs</a:t>
            </a:r>
            <a:r>
              <a:rPr kumimoji="1" lang="ja-JP" altLang="en-US" dirty="0">
                <a:latin typeface="BIZ UDゴシック" panose="020B0400000000000000" pitchFamily="49" charset="-128"/>
                <a:ea typeface="BIZ UDゴシック" panose="020B0400000000000000" pitchFamily="49" charset="-128"/>
              </a:rPr>
              <a:t>サンプラーよりも効率的に収束する。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C++</a:t>
            </a:r>
            <a:r>
              <a:rPr kumimoji="1" lang="ja-JP" altLang="en-US" dirty="0">
                <a:latin typeface="BIZ UDゴシック" panose="020B0400000000000000" pitchFamily="49" charset="-128"/>
                <a:ea typeface="BIZ UDゴシック" panose="020B0400000000000000" pitchFamily="49" charset="-128"/>
              </a:rPr>
              <a:t>の系譜を引く厳格な構文を持ち、モデルファイルは </a:t>
            </a:r>
            <a:r>
              <a:rPr kumimoji="1" lang="en-US" altLang="ja-JP" dirty="0">
                <a:latin typeface="BIZ UDゴシック" panose="020B0400000000000000" pitchFamily="49" charset="-128"/>
                <a:ea typeface="BIZ UDゴシック" panose="020B0400000000000000" pitchFamily="49" charset="-128"/>
              </a:rPr>
              <a:t>data, parameters, model </a:t>
            </a:r>
            <a:r>
              <a:rPr kumimoji="1" lang="ja-JP" altLang="en-US" dirty="0">
                <a:latin typeface="BIZ UDゴシック" panose="020B0400000000000000" pitchFamily="49" charset="-128"/>
                <a:ea typeface="BIZ UDゴシック" panose="020B0400000000000000" pitchFamily="49" charset="-128"/>
              </a:rPr>
              <a:t>などの明確なブロックに分割して記述する必要がある。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事前にすべてのデータやパラメータの型（整数、実数、ベクトルの次元など）を宣言する義務がある。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HMC</a:t>
            </a:r>
            <a:r>
              <a:rPr kumimoji="1" lang="ja-JP" altLang="en-US" dirty="0">
                <a:latin typeface="BIZ UDゴシック" panose="020B0400000000000000" pitchFamily="49" charset="-128"/>
                <a:ea typeface="BIZ UDゴシック" panose="020B0400000000000000" pitchFamily="49" charset="-128"/>
              </a:rPr>
              <a:t>の性質上、離散パラメータを直接サンプリングできないため、離散型潜変数を伴う階層モデルでは周辺化（</a:t>
            </a:r>
            <a:r>
              <a:rPr kumimoji="1" lang="en-US" altLang="ja-JP" dirty="0">
                <a:latin typeface="BIZ UDゴシック" panose="020B0400000000000000" pitchFamily="49" charset="-128"/>
                <a:ea typeface="BIZ UDゴシック" panose="020B0400000000000000" pitchFamily="49" charset="-128"/>
              </a:rPr>
              <a:t>marginalization</a:t>
            </a:r>
            <a:r>
              <a:rPr kumimoji="1" lang="ja-JP" altLang="en-US" dirty="0">
                <a:latin typeface="BIZ UDゴシック" panose="020B0400000000000000" pitchFamily="49" charset="-128"/>
                <a:ea typeface="BIZ UDゴシック" panose="020B0400000000000000" pitchFamily="49" charset="-128"/>
              </a:rPr>
              <a:t>）のテクニックが必要となる。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4.6.2 Stan</a:t>
            </a:r>
            <a:r>
              <a:rPr kumimoji="1" lang="ja-JP" altLang="en-US" dirty="0">
                <a:latin typeface="BIZ UDゴシック" panose="020B0400000000000000" pitchFamily="49" charset="-128"/>
                <a:ea typeface="BIZ UDゴシック" panose="020B0400000000000000" pitchFamily="49" charset="-128"/>
              </a:rPr>
              <a:t>によるモデルの当てはめ </a:t>
            </a:r>
            <a:r>
              <a:rPr kumimoji="1" lang="en-US" altLang="ja-JP" dirty="0">
                <a:latin typeface="BIZ UDゴシック" panose="020B0400000000000000" pitchFamily="49" charset="-128"/>
                <a:ea typeface="BIZ UDゴシック" panose="020B0400000000000000" pitchFamily="49" charset="-128"/>
              </a:rPr>
              <a:t>(Fit the model with Stan)</a:t>
            </a:r>
          </a:p>
          <a:p>
            <a:pPr marL="0" indent="0">
              <a:buNone/>
            </a:pPr>
            <a:r>
              <a:rPr kumimoji="1" lang="en-US" altLang="ja-JP" dirty="0" err="1">
                <a:latin typeface="BIZ UDゴシック" panose="020B0400000000000000" pitchFamily="49" charset="-128"/>
                <a:ea typeface="BIZ UDゴシック" panose="020B0400000000000000" pitchFamily="49" charset="-128"/>
              </a:rPr>
              <a:t>rstan</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パッケージの </a:t>
            </a:r>
            <a:r>
              <a:rPr kumimoji="1" lang="en-US" altLang="ja-JP" dirty="0">
                <a:latin typeface="BIZ UDゴシック" panose="020B0400000000000000" pitchFamily="49" charset="-128"/>
                <a:ea typeface="BIZ UDゴシック" panose="020B0400000000000000" pitchFamily="49" charset="-128"/>
              </a:rPr>
              <a:t>stan() </a:t>
            </a:r>
            <a:r>
              <a:rPr kumimoji="1" lang="ja-JP" altLang="en-US" dirty="0">
                <a:latin typeface="BIZ UDゴシック" panose="020B0400000000000000" pitchFamily="49" charset="-128"/>
                <a:ea typeface="BIZ UDゴシック" panose="020B0400000000000000" pitchFamily="49" charset="-128"/>
              </a:rPr>
              <a:t>関数を使用する。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Stan</a:t>
            </a:r>
            <a:r>
              <a:rPr kumimoji="1" lang="ja-JP" altLang="en-US" dirty="0">
                <a:latin typeface="BIZ UDゴシック" panose="020B0400000000000000" pitchFamily="49" charset="-128"/>
                <a:ea typeface="BIZ UDゴシック" panose="020B0400000000000000" pitchFamily="49" charset="-128"/>
              </a:rPr>
              <a:t>コードをテキストファイル（</a:t>
            </a:r>
            <a:r>
              <a:rPr kumimoji="1" lang="en-US" altLang="ja-JP" dirty="0">
                <a:latin typeface="BIZ UDゴシック" panose="020B0400000000000000" pitchFamily="49" charset="-128"/>
                <a:ea typeface="BIZ UDゴシック" panose="020B0400000000000000" pitchFamily="49" charset="-128"/>
              </a:rPr>
              <a:t>.stan</a:t>
            </a:r>
            <a:r>
              <a:rPr kumimoji="1" lang="ja-JP" altLang="en-US" dirty="0">
                <a:latin typeface="BIZ UDゴシック" panose="020B0400000000000000" pitchFamily="49" charset="-128"/>
                <a:ea typeface="BIZ UDゴシック" panose="020B0400000000000000" pitchFamily="49" charset="-128"/>
              </a:rPr>
              <a:t>）に保存し、</a:t>
            </a:r>
            <a:r>
              <a:rPr kumimoji="1" lang="en-US" altLang="ja-JP" dirty="0">
                <a:latin typeface="BIZ UDゴシック" panose="020B0400000000000000" pitchFamily="49" charset="-128"/>
                <a:ea typeface="BIZ UDゴシック" panose="020B0400000000000000" pitchFamily="49" charset="-128"/>
              </a:rPr>
              <a:t>data { ... }, parameters { ... }, model { ... } </a:t>
            </a:r>
            <a:r>
              <a:rPr kumimoji="1" lang="ja-JP" altLang="en-US" dirty="0">
                <a:latin typeface="BIZ UDゴシック" panose="020B0400000000000000" pitchFamily="49" charset="-128"/>
                <a:ea typeface="BIZ UDゴシック" panose="020B0400000000000000" pitchFamily="49" charset="-128"/>
              </a:rPr>
              <a:t>の各ブロックを記述する。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確率分布の指定では、</a:t>
            </a:r>
            <a:r>
              <a:rPr kumimoji="1" lang="en-US" altLang="ja-JP" dirty="0">
                <a:latin typeface="BIZ UDゴシック" panose="020B0400000000000000" pitchFamily="49" charset="-128"/>
                <a:ea typeface="BIZ UDゴシック" panose="020B0400000000000000" pitchFamily="49" charset="-128"/>
              </a:rPr>
              <a:t>JAGS</a:t>
            </a:r>
            <a:r>
              <a:rPr kumimoji="1" lang="ja-JP" altLang="en-US" dirty="0">
                <a:latin typeface="BIZ UDゴシック" panose="020B0400000000000000" pitchFamily="49" charset="-128"/>
                <a:ea typeface="BIZ UDゴシック" panose="020B0400000000000000" pitchFamily="49" charset="-128"/>
              </a:rPr>
              <a:t>のような精度ではなく標準偏差を使用し、事前分布としてハーフコーシー分布（</a:t>
            </a:r>
            <a:r>
              <a:rPr kumimoji="1" lang="en-US" altLang="ja-JP" dirty="0">
                <a:latin typeface="BIZ UDゴシック" panose="020B0400000000000000" pitchFamily="49" charset="-128"/>
                <a:ea typeface="BIZ UDゴシック" panose="020B0400000000000000" pitchFamily="49" charset="-128"/>
              </a:rPr>
              <a:t>half-Cauchy</a:t>
            </a:r>
            <a:r>
              <a:rPr kumimoji="1" lang="ja-JP" altLang="en-US" dirty="0">
                <a:latin typeface="BIZ UDゴシック" panose="020B0400000000000000" pitchFamily="49" charset="-128"/>
                <a:ea typeface="BIZ UDゴシック" panose="020B0400000000000000" pitchFamily="49" charset="-128"/>
              </a:rPr>
              <a:t>）なども利用できる。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HMC</a:t>
            </a:r>
            <a:r>
              <a:rPr kumimoji="1" lang="ja-JP" altLang="en-US" dirty="0">
                <a:latin typeface="BIZ UDゴシック" panose="020B0400000000000000" pitchFamily="49" charset="-128"/>
                <a:ea typeface="BIZ UDゴシック" panose="020B0400000000000000" pitchFamily="49" charset="-128"/>
              </a:rPr>
              <a:t>設定（イテレーション数、</a:t>
            </a:r>
            <a:r>
              <a:rPr kumimoji="1" lang="en-US" altLang="ja-JP" dirty="0">
                <a:latin typeface="BIZ UDゴシック" panose="020B0400000000000000" pitchFamily="49" charset="-128"/>
                <a:ea typeface="BIZ UDゴシック" panose="020B0400000000000000" pitchFamily="49" charset="-128"/>
              </a:rPr>
              <a:t>warmup</a:t>
            </a:r>
            <a:r>
              <a:rPr kumimoji="1" lang="ja-JP" altLang="en-US" dirty="0">
                <a:latin typeface="BIZ UDゴシック" panose="020B0400000000000000" pitchFamily="49" charset="-128"/>
                <a:ea typeface="BIZ UDゴシック" panose="020B0400000000000000" pitchFamily="49" charset="-128"/>
              </a:rPr>
              <a:t>期間など）を指定して </a:t>
            </a:r>
            <a:r>
              <a:rPr kumimoji="1" lang="en-US" altLang="ja-JP" dirty="0">
                <a:latin typeface="BIZ UDゴシック" panose="020B0400000000000000" pitchFamily="49" charset="-128"/>
                <a:ea typeface="BIZ UDゴシック" panose="020B0400000000000000" pitchFamily="49" charset="-128"/>
              </a:rPr>
              <a:t>stan() </a:t>
            </a:r>
            <a:r>
              <a:rPr kumimoji="1" lang="ja-JP" altLang="en-US" dirty="0">
                <a:latin typeface="BIZ UDゴシック" panose="020B0400000000000000" pitchFamily="49" charset="-128"/>
                <a:ea typeface="BIZ UDゴシック" panose="020B0400000000000000" pitchFamily="49" charset="-128"/>
              </a:rPr>
              <a:t>を呼び出すと、初回実行時に自動的な</a:t>
            </a:r>
            <a:r>
              <a:rPr kumimoji="1" lang="en-US" altLang="ja-JP" dirty="0">
                <a:latin typeface="BIZ UDゴシック" panose="020B0400000000000000" pitchFamily="49" charset="-128"/>
                <a:ea typeface="BIZ UDゴシック" panose="020B0400000000000000" pitchFamily="49" charset="-128"/>
              </a:rPr>
              <a:t>C++</a:t>
            </a:r>
            <a:r>
              <a:rPr kumimoji="1" lang="ja-JP" altLang="en-US" dirty="0">
                <a:latin typeface="BIZ UDゴシック" panose="020B0400000000000000" pitchFamily="49" charset="-128"/>
                <a:ea typeface="BIZ UDゴシック" panose="020B0400000000000000" pitchFamily="49" charset="-128"/>
              </a:rPr>
              <a:t>コンパイルとサンプリングが行われる。   </a:t>
            </a:r>
            <a:r>
              <a:rPr kumimoji="1" lang="en-US" altLang="ja-JP" dirty="0">
                <a:latin typeface="BIZ UDゴシック" panose="020B0400000000000000" pitchFamily="49" charset="-128"/>
                <a:ea typeface="BIZ UDゴシック" panose="020B0400000000000000" pitchFamily="49" charset="-128"/>
              </a:rPr>
              <a:t>extract() </a:t>
            </a:r>
            <a:r>
              <a:rPr kumimoji="1" lang="ja-JP" altLang="en-US" dirty="0">
                <a:latin typeface="BIZ UDゴシック" panose="020B0400000000000000" pitchFamily="49" charset="-128"/>
                <a:ea typeface="BIZ UDゴシック" panose="020B0400000000000000" pitchFamily="49" charset="-128"/>
              </a:rPr>
              <a:t>関数や </a:t>
            </a:r>
            <a:r>
              <a:rPr kumimoji="1" lang="en-US" altLang="ja-JP" dirty="0" err="1">
                <a:latin typeface="BIZ UDゴシック" panose="020B0400000000000000" pitchFamily="49" charset="-128"/>
                <a:ea typeface="BIZ UDゴシック" panose="020B0400000000000000" pitchFamily="49" charset="-128"/>
              </a:rPr>
              <a:t>as.mcmc.list</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を用いて事後分布サンプルを抽出し、収束や要約統計量を確認する。 </a:t>
            </a:r>
          </a:p>
        </p:txBody>
      </p:sp>
    </p:spTree>
    <p:extLst>
      <p:ext uri="{BB962C8B-B14F-4D97-AF65-F5344CB8AC3E}">
        <p14:creationId xmlns:p14="http://schemas.microsoft.com/office/powerpoint/2010/main" val="2859624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4F3F6-011E-359A-3E8C-306F208AE27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82F90A-EDCD-8B1C-CF00-E23D0DF42862}"/>
              </a:ext>
            </a:extLst>
          </p:cNvPr>
          <p:cNvSpPr>
            <a:spLocks noGrp="1"/>
          </p:cNvSpPr>
          <p:nvPr>
            <p:ph type="title"/>
          </p:nvPr>
        </p:nvSpPr>
        <p:spPr>
          <a:xfrm>
            <a:off x="838200" y="365126"/>
            <a:ext cx="10515600" cy="641742"/>
          </a:xfrm>
        </p:spPr>
        <p:txBody>
          <a:bodyPr>
            <a:normAutofit/>
          </a:bodyPr>
          <a:lstStyle/>
          <a:p>
            <a:r>
              <a:rPr kumimoji="1" lang="en-US" altLang="ja-JP" sz="3200" dirty="0">
                <a:latin typeface="BIZ UDゴシック" panose="020B0400000000000000" pitchFamily="49" charset="-128"/>
                <a:ea typeface="BIZ UDゴシック" panose="020B0400000000000000" pitchFamily="49" charset="-128"/>
              </a:rPr>
              <a:t>4.7 R</a:t>
            </a:r>
            <a:r>
              <a:rPr kumimoji="1" lang="ja-JP" altLang="en-US" sz="3200" dirty="0">
                <a:latin typeface="BIZ UDゴシック" panose="020B0400000000000000" pitchFamily="49" charset="-128"/>
                <a:ea typeface="BIZ UDゴシック" panose="020B0400000000000000" pitchFamily="49" charset="-128"/>
              </a:rPr>
              <a:t>における最尤法 </a:t>
            </a:r>
            <a:r>
              <a:rPr kumimoji="1" lang="en-US" altLang="ja-JP" sz="3200" dirty="0">
                <a:latin typeface="BIZ UDゴシック" panose="020B0400000000000000" pitchFamily="49" charset="-128"/>
                <a:ea typeface="BIZ UDゴシック" panose="020B0400000000000000" pitchFamily="49" charset="-128"/>
              </a:rPr>
              <a:t>(Maximum likelihood in R)</a:t>
            </a:r>
            <a:endParaRPr kumimoji="1" lang="ja-JP" altLang="en-US" sz="32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A52F3826-30AA-1DA3-432D-9CD68E5BBE64}"/>
              </a:ext>
            </a:extLst>
          </p:cNvPr>
          <p:cNvSpPr>
            <a:spLocks noGrp="1"/>
          </p:cNvSpPr>
          <p:nvPr>
            <p:ph idx="1"/>
          </p:nvPr>
        </p:nvSpPr>
        <p:spPr>
          <a:xfrm>
            <a:off x="328773" y="1335640"/>
            <a:ext cx="11589249" cy="5229547"/>
          </a:xfrm>
        </p:spPr>
        <p:txBody>
          <a:bodyPr>
            <a:normAutofit fontScale="70000" lnSpcReduction="20000"/>
          </a:bodyPr>
          <a:lstStyle/>
          <a:p>
            <a:r>
              <a:rPr kumimoji="1" lang="en-US" altLang="ja-JP" dirty="0">
                <a:latin typeface="BIZ UDゴシック" panose="020B0400000000000000" pitchFamily="49" charset="-128"/>
                <a:ea typeface="BIZ UDゴシック" panose="020B0400000000000000" pitchFamily="49" charset="-128"/>
              </a:rPr>
              <a:t>4.7.1 R</a:t>
            </a:r>
            <a:r>
              <a:rPr kumimoji="1" lang="ja-JP" altLang="en-US" dirty="0">
                <a:latin typeface="BIZ UDゴシック" panose="020B0400000000000000" pitchFamily="49" charset="-128"/>
                <a:ea typeface="BIZ UDゴシック" panose="020B0400000000000000" pitchFamily="49" charset="-128"/>
              </a:rPr>
              <a:t>における最尤法の導入 </a:t>
            </a:r>
            <a:r>
              <a:rPr kumimoji="1" lang="en-US" altLang="ja-JP" dirty="0">
                <a:latin typeface="BIZ UDゴシック" panose="020B0400000000000000" pitchFamily="49" charset="-128"/>
                <a:ea typeface="BIZ UDゴシック" panose="020B0400000000000000" pitchFamily="49" charset="-128"/>
              </a:rPr>
              <a:t>(Introduction to maximum likelihood in R)</a:t>
            </a:r>
          </a:p>
          <a:p>
            <a:pPr marL="0" indent="0">
              <a:buNone/>
            </a:pPr>
            <a:r>
              <a:rPr kumimoji="1" lang="ja-JP" altLang="en-US" dirty="0">
                <a:latin typeface="BIZ UDゴシック" panose="020B0400000000000000" pitchFamily="49" charset="-128"/>
                <a:ea typeface="BIZ UDゴシック" panose="020B0400000000000000" pitchFamily="49" charset="-128"/>
              </a:rPr>
              <a:t>ベイズ推論ではなく、最尤推定（</a:t>
            </a:r>
            <a:r>
              <a:rPr kumimoji="1" lang="en-US" altLang="ja-JP" dirty="0">
                <a:latin typeface="BIZ UDゴシック" panose="020B0400000000000000" pitchFamily="49" charset="-128"/>
                <a:ea typeface="BIZ UDゴシック" panose="020B0400000000000000" pitchFamily="49" charset="-128"/>
              </a:rPr>
              <a:t>MLE</a:t>
            </a:r>
            <a:r>
              <a:rPr kumimoji="1" lang="ja-JP" altLang="en-US" dirty="0">
                <a:latin typeface="BIZ UDゴシック" panose="020B0400000000000000" pitchFamily="49" charset="-128"/>
                <a:ea typeface="BIZ UDゴシック" panose="020B0400000000000000" pitchFamily="49" charset="-128"/>
              </a:rPr>
              <a:t>）を自作コードで行うアプローチ（</a:t>
            </a:r>
            <a:r>
              <a:rPr kumimoji="1" lang="en-US" altLang="ja-JP" dirty="0">
                <a:latin typeface="BIZ UDゴシック" panose="020B0400000000000000" pitchFamily="49" charset="-128"/>
                <a:ea typeface="BIZ UDゴシック" panose="020B0400000000000000" pitchFamily="49" charset="-128"/>
              </a:rPr>
              <a:t>DIY-MLE</a:t>
            </a:r>
            <a:r>
              <a:rPr kumimoji="1" lang="ja-JP" altLang="en-US" dirty="0">
                <a:latin typeface="BIZ UDゴシック" panose="020B0400000000000000" pitchFamily="49" charset="-128"/>
                <a:ea typeface="BIZ UDゴシック" panose="020B0400000000000000" pitchFamily="49" charset="-128"/>
              </a:rPr>
              <a:t>）である。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ワークフローは、①尤度関数の数学的導出、②</a:t>
            </a: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での負の対数尤度（</a:t>
            </a:r>
            <a:r>
              <a:rPr kumimoji="1" lang="en-US" altLang="ja-JP" dirty="0">
                <a:latin typeface="BIZ UDゴシック" panose="020B0400000000000000" pitchFamily="49" charset="-128"/>
                <a:ea typeface="BIZ UDゴシック" panose="020B0400000000000000" pitchFamily="49" charset="-128"/>
              </a:rPr>
              <a:t>NLL</a:t>
            </a:r>
            <a:r>
              <a:rPr kumimoji="1" lang="ja-JP" altLang="en-US" dirty="0">
                <a:latin typeface="BIZ UDゴシック" panose="020B0400000000000000" pitchFamily="49" charset="-128"/>
                <a:ea typeface="BIZ UDゴシック" panose="020B0400000000000000" pitchFamily="49" charset="-128"/>
              </a:rPr>
              <a:t>）関数の作成、③データの整理、④</a:t>
            </a: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の </a:t>
            </a:r>
            <a:r>
              <a:rPr kumimoji="1" lang="en-US" altLang="ja-JP" dirty="0" err="1">
                <a:latin typeface="BIZ UDゴシック" panose="020B0400000000000000" pitchFamily="49" charset="-128"/>
                <a:ea typeface="BIZ UDゴシック" panose="020B0400000000000000" pitchFamily="49" charset="-128"/>
              </a:rPr>
              <a:t>optim</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関数による最適化、⑤ヘッセ行列（</a:t>
            </a:r>
            <a:r>
              <a:rPr kumimoji="1" lang="en-US" altLang="ja-JP" dirty="0">
                <a:latin typeface="BIZ UDゴシック" panose="020B0400000000000000" pitchFamily="49" charset="-128"/>
                <a:ea typeface="BIZ UDゴシック" panose="020B0400000000000000" pitchFamily="49" charset="-128"/>
              </a:rPr>
              <a:t>Hessian</a:t>
            </a:r>
            <a:r>
              <a:rPr kumimoji="1" lang="ja-JP" altLang="en-US" dirty="0">
                <a:latin typeface="BIZ UDゴシック" panose="020B0400000000000000" pitchFamily="49" charset="-128"/>
                <a:ea typeface="BIZ UDゴシック" panose="020B0400000000000000" pitchFamily="49" charset="-128"/>
              </a:rPr>
              <a:t>）の逆行列からの標準誤差（</a:t>
            </a:r>
            <a:r>
              <a:rPr kumimoji="1" lang="en-US" altLang="ja-JP" dirty="0">
                <a:latin typeface="BIZ UDゴシック" panose="020B0400000000000000" pitchFamily="49" charset="-128"/>
                <a:ea typeface="BIZ UDゴシック" panose="020B0400000000000000" pitchFamily="49" charset="-128"/>
              </a:rPr>
              <a:t>ASE</a:t>
            </a:r>
            <a:r>
              <a:rPr kumimoji="1" lang="ja-JP" altLang="en-US" dirty="0">
                <a:latin typeface="BIZ UDゴシック" panose="020B0400000000000000" pitchFamily="49" charset="-128"/>
                <a:ea typeface="BIZ UDゴシック" panose="020B0400000000000000" pitchFamily="49" charset="-128"/>
              </a:rPr>
              <a:t>）および信頼区間の算出、となる。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実務の複雑なモデルでゼロから書くのは難しいが、最尤法の仕組みや尤度・確率密度の本質を深く理解するための最高の教育的価値を持つ。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4.7.2 R</a:t>
            </a:r>
            <a:r>
              <a:rPr kumimoji="1" lang="ja-JP" altLang="en-US" dirty="0">
                <a:latin typeface="BIZ UDゴシック" panose="020B0400000000000000" pitchFamily="49" charset="-128"/>
                <a:ea typeface="BIZ UDゴシック" panose="020B0400000000000000" pitchFamily="49" charset="-128"/>
              </a:rPr>
              <a:t>の最尤法によるモデルの当てはめ </a:t>
            </a:r>
            <a:r>
              <a:rPr kumimoji="1" lang="en-US" altLang="ja-JP" dirty="0">
                <a:latin typeface="BIZ UDゴシック" panose="020B0400000000000000" pitchFamily="49" charset="-128"/>
                <a:ea typeface="BIZ UDゴシック" panose="020B0400000000000000" pitchFamily="49" charset="-128"/>
              </a:rPr>
              <a:t>(Fit the model using maximum likelihood in R)</a:t>
            </a:r>
          </a:p>
          <a:p>
            <a:pPr marL="0" indent="0">
              <a:buNone/>
            </a:pPr>
            <a:r>
              <a:rPr kumimoji="1" lang="ja-JP" altLang="en-US" dirty="0">
                <a:latin typeface="BIZ UDゴシック" panose="020B0400000000000000" pitchFamily="49" charset="-128"/>
                <a:ea typeface="BIZ UDゴシック" panose="020B0400000000000000" pitchFamily="49" charset="-128"/>
              </a:rPr>
              <a:t>正規分布の確率密度関数 </a:t>
            </a:r>
            <a:r>
              <a:rPr kumimoji="1" lang="en-US" altLang="ja-JP" dirty="0">
                <a:latin typeface="BIZ UDゴシック" panose="020B0400000000000000" pitchFamily="49" charset="-128"/>
                <a:ea typeface="BIZ UDゴシック" panose="020B0400000000000000" pitchFamily="49" charset="-128"/>
              </a:rPr>
              <a:t>f(</a:t>
            </a:r>
            <a:r>
              <a:rPr kumimoji="1" lang="en-US" altLang="ja-JP" dirty="0" err="1">
                <a:latin typeface="BIZ UDゴシック" panose="020B0400000000000000" pitchFamily="49" charset="-128"/>
                <a:ea typeface="BIZ UDゴシック" panose="020B0400000000000000" pitchFamily="49" charset="-128"/>
              </a:rPr>
              <a:t>yi|μ,σ</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およびデータ全体の結合尤度（積）から、対数をとった対数尤度関数を構築する。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err="1">
                <a:latin typeface="BIZ UDゴシック" panose="020B0400000000000000" pitchFamily="49" charset="-128"/>
                <a:ea typeface="BIZ UDゴシック" panose="020B0400000000000000" pitchFamily="49" charset="-128"/>
              </a:rPr>
              <a:t>optim</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は関数の「最小化」を行うため、符号を反転させた負の対数尤度（</a:t>
            </a:r>
            <a:r>
              <a:rPr kumimoji="1" lang="en-US" altLang="ja-JP" dirty="0">
                <a:latin typeface="BIZ UDゴシック" panose="020B0400000000000000" pitchFamily="49" charset="-128"/>
                <a:ea typeface="BIZ UDゴシック" panose="020B0400000000000000" pitchFamily="49" charset="-128"/>
              </a:rPr>
              <a:t>Negative Log-Likelihood: NLL</a:t>
            </a:r>
            <a:r>
              <a:rPr kumimoji="1" lang="ja-JP" altLang="en-US" dirty="0">
                <a:latin typeface="BIZ UDゴシック" panose="020B0400000000000000" pitchFamily="49" charset="-128"/>
                <a:ea typeface="BIZ UDゴシック" panose="020B0400000000000000" pitchFamily="49" charset="-128"/>
              </a:rPr>
              <a:t>）を返す</a:t>
            </a: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関数（</a:t>
            </a:r>
            <a:r>
              <a:rPr kumimoji="1" lang="en-US" altLang="ja-JP" dirty="0">
                <a:latin typeface="BIZ UDゴシック" panose="020B0400000000000000" pitchFamily="49" charset="-128"/>
                <a:ea typeface="BIZ UDゴシック" panose="020B0400000000000000" pitchFamily="49" charset="-128"/>
              </a:rPr>
              <a:t>NLL &lt;- function(param, y)</a:t>
            </a:r>
            <a:r>
              <a:rPr kumimoji="1" lang="ja-JP" altLang="en-US" dirty="0">
                <a:latin typeface="BIZ UDゴシック" panose="020B0400000000000000" pitchFamily="49" charset="-128"/>
                <a:ea typeface="BIZ UDゴシック" panose="020B0400000000000000" pitchFamily="49" charset="-128"/>
              </a:rPr>
              <a:t>）を定義する。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初期値ベクトル（</a:t>
            </a:r>
            <a:r>
              <a:rPr kumimoji="1" lang="en-US" altLang="ja-JP" dirty="0">
                <a:latin typeface="BIZ UDゴシック" panose="020B0400000000000000" pitchFamily="49" charset="-128"/>
                <a:ea typeface="BIZ UDゴシック" panose="020B0400000000000000" pitchFamily="49" charset="-128"/>
              </a:rPr>
              <a:t>starts</a:t>
            </a:r>
            <a:r>
              <a:rPr kumimoji="1" lang="ja-JP" altLang="en-US" dirty="0">
                <a:latin typeface="BIZ UDゴシック" panose="020B0400000000000000" pitchFamily="49" charset="-128"/>
                <a:ea typeface="BIZ UDゴシック" panose="020B0400000000000000" pitchFamily="49" charset="-128"/>
              </a:rPr>
              <a:t>）を与えて </a:t>
            </a:r>
            <a:r>
              <a:rPr kumimoji="1" lang="en-US" altLang="ja-JP" dirty="0" err="1">
                <a:latin typeface="BIZ UDゴシック" panose="020B0400000000000000" pitchFamily="49" charset="-128"/>
                <a:ea typeface="BIZ UDゴシック" panose="020B0400000000000000" pitchFamily="49" charset="-128"/>
              </a:rPr>
              <a:t>optim</a:t>
            </a:r>
            <a:r>
              <a:rPr kumimoji="1" lang="en-US" altLang="ja-JP" dirty="0">
                <a:latin typeface="BIZ UDゴシック" panose="020B0400000000000000" pitchFamily="49" charset="-128"/>
                <a:ea typeface="BIZ UDゴシック" panose="020B0400000000000000" pitchFamily="49" charset="-128"/>
              </a:rPr>
              <a:t>(..., hessian = TRUE) </a:t>
            </a:r>
            <a:r>
              <a:rPr kumimoji="1" lang="ja-JP" altLang="en-US" dirty="0">
                <a:latin typeface="BIZ UDゴシック" panose="020B0400000000000000" pitchFamily="49" charset="-128"/>
                <a:ea typeface="BIZ UDゴシック" panose="020B0400000000000000" pitchFamily="49" charset="-128"/>
              </a:rPr>
              <a:t>を実行し、収束判定（</a:t>
            </a:r>
            <a:r>
              <a:rPr kumimoji="1" lang="en-US" altLang="ja-JP" dirty="0">
                <a:latin typeface="BIZ UDゴシック" panose="020B0400000000000000" pitchFamily="49" charset="-128"/>
                <a:ea typeface="BIZ UDゴシック" panose="020B0400000000000000" pitchFamily="49" charset="-128"/>
              </a:rPr>
              <a:t>$convergence == 0</a:t>
            </a:r>
            <a:r>
              <a:rPr kumimoji="1" lang="ja-JP" altLang="en-US" dirty="0">
                <a:latin typeface="BIZ UDゴシック" panose="020B0400000000000000" pitchFamily="49" charset="-128"/>
                <a:ea typeface="BIZ UDゴシック" panose="020B0400000000000000" pitchFamily="49" charset="-128"/>
              </a:rPr>
              <a:t>）やパラメータ点推定値（</a:t>
            </a:r>
            <a:r>
              <a:rPr kumimoji="1" lang="en-US" altLang="ja-JP" dirty="0">
                <a:latin typeface="BIZ UDゴシック" panose="020B0400000000000000" pitchFamily="49" charset="-128"/>
                <a:ea typeface="BIZ UDゴシック" panose="020B0400000000000000" pitchFamily="49" charset="-128"/>
              </a:rPr>
              <a:t>$par</a:t>
            </a:r>
            <a:r>
              <a:rPr kumimoji="1" lang="ja-JP" altLang="en-US" dirty="0">
                <a:latin typeface="BIZ UDゴシック" panose="020B0400000000000000" pitchFamily="49" charset="-128"/>
                <a:ea typeface="BIZ UDゴシック" panose="020B0400000000000000" pitchFamily="49" charset="-128"/>
              </a:rPr>
              <a:t>）を得る。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ヘッセ行列（</a:t>
            </a:r>
            <a:r>
              <a:rPr kumimoji="1" lang="en-US" altLang="ja-JP" dirty="0">
                <a:latin typeface="BIZ UDゴシック" panose="020B0400000000000000" pitchFamily="49" charset="-128"/>
                <a:ea typeface="BIZ UDゴシック" panose="020B0400000000000000" pitchFamily="49" charset="-128"/>
              </a:rPr>
              <a:t>$hessian</a:t>
            </a:r>
            <a:r>
              <a:rPr kumimoji="1" lang="ja-JP" altLang="en-US" dirty="0">
                <a:latin typeface="BIZ UDゴシック" panose="020B0400000000000000" pitchFamily="49" charset="-128"/>
                <a:ea typeface="BIZ UDゴシック" panose="020B0400000000000000" pitchFamily="49" charset="-128"/>
              </a:rPr>
              <a:t>）を </a:t>
            </a:r>
            <a:r>
              <a:rPr kumimoji="1" lang="en-US" altLang="ja-JP" dirty="0">
                <a:latin typeface="BIZ UDゴシック" panose="020B0400000000000000" pitchFamily="49" charset="-128"/>
                <a:ea typeface="BIZ UDゴシック" panose="020B0400000000000000" pitchFamily="49" charset="-128"/>
              </a:rPr>
              <a:t>solve() </a:t>
            </a:r>
            <a:r>
              <a:rPr kumimoji="1" lang="ja-JP" altLang="en-US" dirty="0">
                <a:latin typeface="BIZ UDゴシック" panose="020B0400000000000000" pitchFamily="49" charset="-128"/>
                <a:ea typeface="BIZ UDゴシック" panose="020B0400000000000000" pitchFamily="49" charset="-128"/>
              </a:rPr>
              <a:t>で反転させ、その対角成分の平方根をとることで漸近標準誤差（</a:t>
            </a:r>
            <a:r>
              <a:rPr kumimoji="1" lang="en-US" altLang="ja-JP" dirty="0">
                <a:latin typeface="BIZ UDゴシック" panose="020B0400000000000000" pitchFamily="49" charset="-128"/>
                <a:ea typeface="BIZ UDゴシック" panose="020B0400000000000000" pitchFamily="49" charset="-128"/>
              </a:rPr>
              <a:t>ASE</a:t>
            </a:r>
            <a:r>
              <a:rPr kumimoji="1" lang="ja-JP" altLang="en-US" dirty="0">
                <a:latin typeface="BIZ UDゴシック" panose="020B0400000000000000" pitchFamily="49" charset="-128"/>
                <a:ea typeface="BIZ UDゴシック" panose="020B0400000000000000" pitchFamily="49" charset="-128"/>
              </a:rPr>
              <a:t>）を計算する。   </a:t>
            </a:r>
            <a:r>
              <a:rPr kumimoji="1" lang="en-US" altLang="ja-JP" dirty="0" err="1">
                <a:latin typeface="BIZ UDゴシック" panose="020B0400000000000000" pitchFamily="49" charset="-128"/>
                <a:ea typeface="BIZ UDゴシック" panose="020B0400000000000000" pitchFamily="49" charset="-128"/>
              </a:rPr>
              <a:t>ASMbook</a:t>
            </a:r>
            <a:r>
              <a:rPr kumimoji="1" lang="ja-JP" altLang="en-US" dirty="0">
                <a:latin typeface="BIZ UDゴシック" panose="020B0400000000000000" pitchFamily="49" charset="-128"/>
                <a:ea typeface="BIZ UDゴシック" panose="020B0400000000000000" pitchFamily="49" charset="-128"/>
              </a:rPr>
              <a:t>パッケージの </a:t>
            </a:r>
            <a:r>
              <a:rPr kumimoji="1" lang="en-US" altLang="ja-JP" dirty="0" err="1">
                <a:latin typeface="BIZ UDゴシック" panose="020B0400000000000000" pitchFamily="49" charset="-128"/>
                <a:ea typeface="BIZ UDゴシック" panose="020B0400000000000000" pitchFamily="49" charset="-128"/>
              </a:rPr>
              <a:t>get_MLE</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関数を用いて、推定値・標準誤差・</a:t>
            </a:r>
            <a:r>
              <a:rPr kumimoji="1" lang="en-US" altLang="ja-JP" dirty="0">
                <a:latin typeface="BIZ UDゴシック" panose="020B0400000000000000" pitchFamily="49" charset="-128"/>
                <a:ea typeface="BIZ UDゴシック" panose="020B0400000000000000" pitchFamily="49" charset="-128"/>
              </a:rPr>
              <a:t>Wald</a:t>
            </a:r>
            <a:r>
              <a:rPr kumimoji="1" lang="ja-JP" altLang="en-US" dirty="0">
                <a:latin typeface="BIZ UDゴシック" panose="020B0400000000000000" pitchFamily="49" charset="-128"/>
                <a:ea typeface="BIZ UDゴシック" panose="020B0400000000000000" pitchFamily="49" charset="-128"/>
              </a:rPr>
              <a:t>型信頼区間をきれいに整理して出力する。</a:t>
            </a:r>
          </a:p>
        </p:txBody>
      </p:sp>
    </p:spTree>
    <p:extLst>
      <p:ext uri="{BB962C8B-B14F-4D97-AF65-F5344CB8AC3E}">
        <p14:creationId xmlns:p14="http://schemas.microsoft.com/office/powerpoint/2010/main" val="3584483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BF122-3760-8629-5888-9007EE78AE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F26D12-931A-88BA-87FF-23C688F3C81A}"/>
              </a:ext>
            </a:extLst>
          </p:cNvPr>
          <p:cNvSpPr>
            <a:spLocks noGrp="1"/>
          </p:cNvSpPr>
          <p:nvPr>
            <p:ph type="title"/>
          </p:nvPr>
        </p:nvSpPr>
        <p:spPr>
          <a:xfrm>
            <a:off x="838200" y="365126"/>
            <a:ext cx="10515600" cy="610920"/>
          </a:xfrm>
        </p:spPr>
        <p:txBody>
          <a:bodyPr>
            <a:noAutofit/>
          </a:bodyPr>
          <a:lstStyle/>
          <a:p>
            <a:r>
              <a:rPr kumimoji="1" lang="en-US" altLang="ja-JP" sz="3200" dirty="0">
                <a:latin typeface="BIZ UDゴシック" panose="020B0400000000000000" pitchFamily="49" charset="-128"/>
                <a:ea typeface="BIZ UDゴシック" panose="020B0400000000000000" pitchFamily="49" charset="-128"/>
              </a:rPr>
              <a:t>4.8 Template Model Builder (TMB) </a:t>
            </a:r>
            <a:r>
              <a:rPr kumimoji="1" lang="ja-JP" altLang="en-US" sz="3200" dirty="0">
                <a:latin typeface="BIZ UDゴシック" panose="020B0400000000000000" pitchFamily="49" charset="-128"/>
                <a:ea typeface="BIZ UDゴシック" panose="020B0400000000000000" pitchFamily="49" charset="-128"/>
              </a:rPr>
              <a:t>による最尤法 </a:t>
            </a:r>
            <a:r>
              <a:rPr kumimoji="1" lang="en-US" altLang="ja-JP" sz="3200" dirty="0">
                <a:latin typeface="BIZ UDゴシック" panose="020B0400000000000000" pitchFamily="49" charset="-128"/>
                <a:ea typeface="BIZ UDゴシック" panose="020B0400000000000000" pitchFamily="49" charset="-128"/>
              </a:rPr>
              <a:t>(Maximum likelihood using Template Model Builder)</a:t>
            </a:r>
            <a:endParaRPr kumimoji="1" lang="ja-JP" altLang="en-US" sz="32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3D6091ED-4EE0-9C13-F151-FEF120222F2D}"/>
              </a:ext>
            </a:extLst>
          </p:cNvPr>
          <p:cNvSpPr>
            <a:spLocks noGrp="1"/>
          </p:cNvSpPr>
          <p:nvPr>
            <p:ph idx="1"/>
          </p:nvPr>
        </p:nvSpPr>
        <p:spPr>
          <a:xfrm>
            <a:off x="380143" y="1366464"/>
            <a:ext cx="11558427" cy="5126410"/>
          </a:xfrm>
        </p:spPr>
        <p:txBody>
          <a:bodyPr>
            <a:normAutofit fontScale="85000" lnSpcReduction="10000"/>
          </a:bodyPr>
          <a:lstStyle/>
          <a:p>
            <a:r>
              <a:rPr kumimoji="1" lang="en-US" altLang="ja-JP" sz="2000" dirty="0">
                <a:latin typeface="BIZ UDゴシック" panose="020B0400000000000000" pitchFamily="49" charset="-128"/>
                <a:ea typeface="BIZ UDゴシック" panose="020B0400000000000000" pitchFamily="49" charset="-128"/>
              </a:rPr>
              <a:t>4.8.1 Template Model Builder</a:t>
            </a:r>
            <a:r>
              <a:rPr kumimoji="1" lang="ja-JP" altLang="en-US" sz="2000" dirty="0">
                <a:latin typeface="BIZ UDゴシック" panose="020B0400000000000000" pitchFamily="49" charset="-128"/>
                <a:ea typeface="BIZ UDゴシック" panose="020B0400000000000000" pitchFamily="49" charset="-128"/>
              </a:rPr>
              <a:t>の導入 </a:t>
            </a:r>
            <a:r>
              <a:rPr kumimoji="1" lang="en-US" altLang="ja-JP" sz="2000" dirty="0">
                <a:latin typeface="BIZ UDゴシック" panose="020B0400000000000000" pitchFamily="49" charset="-128"/>
                <a:ea typeface="BIZ UDゴシック" panose="020B0400000000000000" pitchFamily="49" charset="-128"/>
              </a:rPr>
              <a:t>(Introduction to Template Model Builder)</a:t>
            </a:r>
          </a:p>
          <a:p>
            <a:pPr marL="0" indent="0">
              <a:buNone/>
            </a:pPr>
            <a:r>
              <a:rPr kumimoji="1" lang="en-US" altLang="ja-JP" sz="2000" dirty="0">
                <a:latin typeface="BIZ UDゴシック" panose="020B0400000000000000" pitchFamily="49" charset="-128"/>
                <a:ea typeface="BIZ UDゴシック" panose="020B0400000000000000" pitchFamily="49" charset="-128"/>
              </a:rPr>
              <a:t>TMB</a:t>
            </a:r>
            <a:r>
              <a:rPr kumimoji="1" lang="ja-JP" altLang="en-US" sz="2000" dirty="0">
                <a:latin typeface="BIZ UDゴシック" panose="020B0400000000000000" pitchFamily="49" charset="-128"/>
                <a:ea typeface="BIZ UDゴシック" panose="020B0400000000000000" pitchFamily="49" charset="-128"/>
              </a:rPr>
              <a:t>は、</a:t>
            </a:r>
            <a:r>
              <a:rPr kumimoji="1" lang="en-US" altLang="ja-JP" sz="2000" dirty="0">
                <a:latin typeface="BIZ UDゴシック" panose="020B0400000000000000" pitchFamily="49" charset="-128"/>
                <a:ea typeface="BIZ UDゴシック" panose="020B0400000000000000" pitchFamily="49" charset="-128"/>
              </a:rPr>
              <a:t>C++</a:t>
            </a:r>
            <a:r>
              <a:rPr kumimoji="1" lang="ja-JP" altLang="en-US" sz="2000" dirty="0">
                <a:latin typeface="BIZ UDゴシック" panose="020B0400000000000000" pitchFamily="49" charset="-128"/>
                <a:ea typeface="BIZ UDゴシック" panose="020B0400000000000000" pitchFamily="49" charset="-128"/>
              </a:rPr>
              <a:t>をベースにして最尤推定を行う高速な汎用</a:t>
            </a:r>
            <a:r>
              <a:rPr kumimoji="1" lang="en-US" altLang="ja-JP" sz="2000" dirty="0">
                <a:latin typeface="BIZ UDゴシック" panose="020B0400000000000000" pitchFamily="49" charset="-128"/>
                <a:ea typeface="BIZ UDゴシック" panose="020B0400000000000000" pitchFamily="49" charset="-128"/>
              </a:rPr>
              <a:t>R</a:t>
            </a:r>
            <a:r>
              <a:rPr kumimoji="1" lang="ja-JP" altLang="en-US" sz="2000" dirty="0">
                <a:latin typeface="BIZ UDゴシック" panose="020B0400000000000000" pitchFamily="49" charset="-128"/>
                <a:ea typeface="BIZ UDゴシック" panose="020B0400000000000000" pitchFamily="49" charset="-128"/>
              </a:rPr>
              <a:t>パッケージである。   </a:t>
            </a:r>
            <a:endParaRPr kumimoji="1" lang="en-US" altLang="ja-JP" sz="2000" dirty="0">
              <a:latin typeface="BIZ UDゴシック" panose="020B0400000000000000" pitchFamily="49" charset="-128"/>
              <a:ea typeface="BIZ UDゴシック" panose="020B0400000000000000" pitchFamily="49" charset="-128"/>
            </a:endParaRPr>
          </a:p>
          <a:p>
            <a:pPr marL="0" indent="0">
              <a:buNone/>
            </a:pPr>
            <a:r>
              <a:rPr kumimoji="1" lang="ja-JP" altLang="en-US" sz="2000" dirty="0">
                <a:latin typeface="BIZ UDゴシック" panose="020B0400000000000000" pitchFamily="49" charset="-128"/>
                <a:ea typeface="BIZ UDゴシック" panose="020B0400000000000000" pitchFamily="49" charset="-128"/>
              </a:rPr>
              <a:t>自動微分（</a:t>
            </a:r>
            <a:r>
              <a:rPr kumimoji="1" lang="en-US" altLang="ja-JP" sz="2000" dirty="0">
                <a:latin typeface="BIZ UDゴシック" panose="020B0400000000000000" pitchFamily="49" charset="-128"/>
                <a:ea typeface="BIZ UDゴシック" panose="020B0400000000000000" pitchFamily="49" charset="-128"/>
              </a:rPr>
              <a:t>Automatic Differentiation: AD</a:t>
            </a:r>
            <a:r>
              <a:rPr kumimoji="1" lang="ja-JP" altLang="en-US" sz="2000" dirty="0">
                <a:latin typeface="BIZ UDゴシック" panose="020B0400000000000000" pitchFamily="49" charset="-128"/>
                <a:ea typeface="BIZ UDゴシック" panose="020B0400000000000000" pitchFamily="49" charset="-128"/>
              </a:rPr>
              <a:t>）の技術を利用して高階導関数を効率的に計算し、ラプラス近似を用いてランダム効果を積分消去する。   </a:t>
            </a:r>
            <a:endParaRPr kumimoji="1" lang="en-US" altLang="ja-JP" sz="2000" dirty="0">
              <a:latin typeface="BIZ UDゴシック" panose="020B0400000000000000" pitchFamily="49" charset="-128"/>
              <a:ea typeface="BIZ UDゴシック" panose="020B0400000000000000" pitchFamily="49" charset="-128"/>
            </a:endParaRPr>
          </a:p>
          <a:p>
            <a:pPr marL="0" indent="0">
              <a:buNone/>
            </a:pPr>
            <a:r>
              <a:rPr kumimoji="1" lang="ja-JP" altLang="en-US" sz="2000" dirty="0">
                <a:latin typeface="BIZ UDゴシック" panose="020B0400000000000000" pitchFamily="49" charset="-128"/>
                <a:ea typeface="BIZ UDゴシック" panose="020B0400000000000000" pitchFamily="49" charset="-128"/>
              </a:rPr>
              <a:t>ランダム効果を含む複雑な一般化線形混合モデル（</a:t>
            </a:r>
            <a:r>
              <a:rPr kumimoji="1" lang="en-US" altLang="ja-JP" sz="2000" dirty="0">
                <a:latin typeface="BIZ UDゴシック" panose="020B0400000000000000" pitchFamily="49" charset="-128"/>
                <a:ea typeface="BIZ UDゴシック" panose="020B0400000000000000" pitchFamily="49" charset="-128"/>
              </a:rPr>
              <a:t>GLMM</a:t>
            </a:r>
            <a:r>
              <a:rPr kumimoji="1" lang="ja-JP" altLang="en-US" sz="2000" dirty="0">
                <a:latin typeface="BIZ UDゴシック" panose="020B0400000000000000" pitchFamily="49" charset="-128"/>
                <a:ea typeface="BIZ UDゴシック" panose="020B0400000000000000" pitchFamily="49" charset="-128"/>
              </a:rPr>
              <a:t>）や階層モデルを、ベイズ</a:t>
            </a:r>
            <a:r>
              <a:rPr kumimoji="1" lang="en-US" altLang="ja-JP" sz="2000" dirty="0">
                <a:latin typeface="BIZ UDゴシック" panose="020B0400000000000000" pitchFamily="49" charset="-128"/>
                <a:ea typeface="BIZ UDゴシック" panose="020B0400000000000000" pitchFamily="49" charset="-128"/>
              </a:rPr>
              <a:t>MCMC</a:t>
            </a:r>
            <a:r>
              <a:rPr kumimoji="1" lang="ja-JP" altLang="en-US" sz="2000" dirty="0">
                <a:latin typeface="BIZ UDゴシック" panose="020B0400000000000000" pitchFamily="49" charset="-128"/>
                <a:ea typeface="BIZ UDゴシック" panose="020B0400000000000000" pitchFamily="49" charset="-128"/>
              </a:rPr>
              <a:t>に匹敵する柔軟性を保ちながら超高速で最適化できる。   </a:t>
            </a:r>
            <a:endParaRPr kumimoji="1" lang="en-US" altLang="ja-JP" sz="2000" dirty="0">
              <a:latin typeface="BIZ UDゴシック" panose="020B0400000000000000" pitchFamily="49" charset="-128"/>
              <a:ea typeface="BIZ UDゴシック" panose="020B0400000000000000" pitchFamily="49" charset="-128"/>
            </a:endParaRPr>
          </a:p>
          <a:p>
            <a:pPr marL="0" indent="0">
              <a:buNone/>
            </a:pPr>
            <a:r>
              <a:rPr kumimoji="1" lang="ja-JP" altLang="en-US" sz="2000" dirty="0">
                <a:latin typeface="BIZ UDゴシック" panose="020B0400000000000000" pitchFamily="49" charset="-128"/>
                <a:ea typeface="BIZ UDゴシック" panose="020B0400000000000000" pitchFamily="49" charset="-128"/>
              </a:rPr>
              <a:t>尤度関数を</a:t>
            </a:r>
            <a:r>
              <a:rPr kumimoji="1" lang="en-US" altLang="ja-JP" sz="2000" dirty="0">
                <a:latin typeface="BIZ UDゴシック" panose="020B0400000000000000" pitchFamily="49" charset="-128"/>
                <a:ea typeface="BIZ UDゴシック" panose="020B0400000000000000" pitchFamily="49" charset="-128"/>
              </a:rPr>
              <a:t>C++</a:t>
            </a:r>
            <a:r>
              <a:rPr kumimoji="1" lang="ja-JP" altLang="en-US" sz="2000" dirty="0">
                <a:latin typeface="BIZ UDゴシック" panose="020B0400000000000000" pitchFamily="49" charset="-128"/>
                <a:ea typeface="BIZ UDゴシック" panose="020B0400000000000000" pitchFamily="49" charset="-128"/>
              </a:rPr>
              <a:t>ファイル（</a:t>
            </a:r>
            <a:r>
              <a:rPr kumimoji="1" lang="en-US" altLang="ja-JP" sz="2000" dirty="0">
                <a:latin typeface="BIZ UDゴシック" panose="020B0400000000000000" pitchFamily="49" charset="-128"/>
                <a:ea typeface="BIZ UDゴシック" panose="020B0400000000000000" pitchFamily="49" charset="-128"/>
              </a:rPr>
              <a:t>.</a:t>
            </a:r>
            <a:r>
              <a:rPr kumimoji="1" lang="en-US" altLang="ja-JP" sz="2000" dirty="0" err="1">
                <a:latin typeface="BIZ UDゴシック" panose="020B0400000000000000" pitchFamily="49" charset="-128"/>
                <a:ea typeface="BIZ UDゴシック" panose="020B0400000000000000" pitchFamily="49" charset="-128"/>
              </a:rPr>
              <a:t>cpp</a:t>
            </a:r>
            <a:r>
              <a:rPr kumimoji="1" lang="ja-JP" altLang="en-US" sz="2000" dirty="0">
                <a:latin typeface="BIZ UDゴシック" panose="020B0400000000000000" pitchFamily="49" charset="-128"/>
                <a:ea typeface="BIZ UDゴシック" panose="020B0400000000000000" pitchFamily="49" charset="-128"/>
              </a:rPr>
              <a:t>）として記述し、</a:t>
            </a:r>
            <a:r>
              <a:rPr kumimoji="1" lang="en-US" altLang="ja-JP" sz="2000" dirty="0">
                <a:latin typeface="BIZ UDゴシック" panose="020B0400000000000000" pitchFamily="49" charset="-128"/>
                <a:ea typeface="BIZ UDゴシック" panose="020B0400000000000000" pitchFamily="49" charset="-128"/>
              </a:rPr>
              <a:t>R</a:t>
            </a:r>
            <a:r>
              <a:rPr kumimoji="1" lang="ja-JP" altLang="en-US" sz="2000" dirty="0">
                <a:latin typeface="BIZ UDゴシック" panose="020B0400000000000000" pitchFamily="49" charset="-128"/>
                <a:ea typeface="BIZ UDゴシック" panose="020B0400000000000000" pitchFamily="49" charset="-128"/>
              </a:rPr>
              <a:t>から </a:t>
            </a:r>
            <a:r>
              <a:rPr kumimoji="1" lang="en-US" altLang="ja-JP" sz="2000" dirty="0" err="1">
                <a:latin typeface="BIZ UDゴシック" panose="020B0400000000000000" pitchFamily="49" charset="-128"/>
                <a:ea typeface="BIZ UDゴシック" panose="020B0400000000000000" pitchFamily="49" charset="-128"/>
              </a:rPr>
              <a:t>MakeADFun</a:t>
            </a:r>
            <a:r>
              <a:rPr kumimoji="1" lang="en-US" altLang="ja-JP" sz="2000" dirty="0">
                <a:latin typeface="BIZ UDゴシック" panose="020B0400000000000000" pitchFamily="49" charset="-128"/>
                <a:ea typeface="BIZ UDゴシック" panose="020B0400000000000000" pitchFamily="49" charset="-128"/>
              </a:rPr>
              <a:t>() </a:t>
            </a:r>
            <a:r>
              <a:rPr kumimoji="1" lang="ja-JP" altLang="en-US" sz="2000" dirty="0">
                <a:latin typeface="BIZ UDゴシック" panose="020B0400000000000000" pitchFamily="49" charset="-128"/>
                <a:ea typeface="BIZ UDゴシック" panose="020B0400000000000000" pitchFamily="49" charset="-128"/>
              </a:rPr>
              <a:t>と </a:t>
            </a:r>
            <a:r>
              <a:rPr kumimoji="1" lang="en-US" altLang="ja-JP" sz="2000" dirty="0" err="1">
                <a:latin typeface="BIZ UDゴシック" panose="020B0400000000000000" pitchFamily="49" charset="-128"/>
                <a:ea typeface="BIZ UDゴシック" panose="020B0400000000000000" pitchFamily="49" charset="-128"/>
              </a:rPr>
              <a:t>optim</a:t>
            </a:r>
            <a:r>
              <a:rPr kumimoji="1" lang="en-US" altLang="ja-JP" sz="2000" dirty="0">
                <a:latin typeface="BIZ UDゴシック" panose="020B0400000000000000" pitchFamily="49" charset="-128"/>
                <a:ea typeface="BIZ UDゴシック" panose="020B0400000000000000" pitchFamily="49" charset="-128"/>
              </a:rPr>
              <a:t>() </a:t>
            </a:r>
            <a:r>
              <a:rPr kumimoji="1" lang="ja-JP" altLang="en-US" sz="2000" dirty="0">
                <a:latin typeface="BIZ UDゴシック" panose="020B0400000000000000" pitchFamily="49" charset="-128"/>
                <a:ea typeface="BIZ UDゴシック" panose="020B0400000000000000" pitchFamily="49" charset="-128"/>
              </a:rPr>
              <a:t>を組み合わせて実行する。   </a:t>
            </a:r>
            <a:endParaRPr kumimoji="1" lang="en-US" altLang="ja-JP" sz="2000" dirty="0">
              <a:latin typeface="BIZ UDゴシック" panose="020B0400000000000000" pitchFamily="49" charset="-128"/>
              <a:ea typeface="BIZ UDゴシック" panose="020B0400000000000000" pitchFamily="49" charset="-128"/>
            </a:endParaRPr>
          </a:p>
          <a:p>
            <a:pPr marL="0" indent="0">
              <a:buNone/>
            </a:pPr>
            <a:endParaRPr kumimoji="1" lang="en-US" altLang="ja-JP" sz="2000" dirty="0">
              <a:latin typeface="BIZ UDゴシック" panose="020B0400000000000000" pitchFamily="49" charset="-128"/>
              <a:ea typeface="BIZ UDゴシック" panose="020B0400000000000000" pitchFamily="49" charset="-128"/>
            </a:endParaRPr>
          </a:p>
          <a:p>
            <a:pPr marL="0" indent="0">
              <a:buNone/>
            </a:pPr>
            <a:r>
              <a:rPr kumimoji="1" lang="en-US" altLang="ja-JP" sz="2000" dirty="0">
                <a:latin typeface="BIZ UDゴシック" panose="020B0400000000000000" pitchFamily="49" charset="-128"/>
                <a:ea typeface="BIZ UDゴシック" panose="020B0400000000000000" pitchFamily="49" charset="-128"/>
              </a:rPr>
              <a:t>4.8.2 TMB</a:t>
            </a:r>
            <a:r>
              <a:rPr kumimoji="1" lang="ja-JP" altLang="en-US" sz="2000" dirty="0">
                <a:latin typeface="BIZ UDゴシック" panose="020B0400000000000000" pitchFamily="49" charset="-128"/>
                <a:ea typeface="BIZ UDゴシック" panose="020B0400000000000000" pitchFamily="49" charset="-128"/>
              </a:rPr>
              <a:t>によるモデルの当てはめ </a:t>
            </a:r>
            <a:r>
              <a:rPr kumimoji="1" lang="en-US" altLang="ja-JP" sz="2000" dirty="0">
                <a:latin typeface="BIZ UDゴシック" panose="020B0400000000000000" pitchFamily="49" charset="-128"/>
                <a:ea typeface="BIZ UDゴシック" panose="020B0400000000000000" pitchFamily="49" charset="-128"/>
              </a:rPr>
              <a:t>(Fit the model using TMB)</a:t>
            </a:r>
          </a:p>
          <a:p>
            <a:pPr marL="0" indent="0">
              <a:buNone/>
            </a:pPr>
            <a:r>
              <a:rPr kumimoji="1" lang="en-US" altLang="ja-JP" sz="2000" dirty="0">
                <a:latin typeface="BIZ UDゴシック" panose="020B0400000000000000" pitchFamily="49" charset="-128"/>
                <a:ea typeface="BIZ UDゴシック" panose="020B0400000000000000" pitchFamily="49" charset="-128"/>
              </a:rPr>
              <a:t>C++</a:t>
            </a:r>
            <a:r>
              <a:rPr kumimoji="1" lang="ja-JP" altLang="en-US" sz="2000" dirty="0">
                <a:latin typeface="BIZ UDゴシック" panose="020B0400000000000000" pitchFamily="49" charset="-128"/>
                <a:ea typeface="BIZ UDゴシック" panose="020B0400000000000000" pitchFamily="49" charset="-128"/>
              </a:rPr>
              <a:t>の定型コード（ボイラープレート）に続き、</a:t>
            </a:r>
            <a:r>
              <a:rPr kumimoji="1" lang="en-US" altLang="ja-JP" sz="2000" dirty="0">
                <a:latin typeface="BIZ UDゴシック" panose="020B0400000000000000" pitchFamily="49" charset="-128"/>
                <a:ea typeface="BIZ UDゴシック" panose="020B0400000000000000" pitchFamily="49" charset="-128"/>
              </a:rPr>
              <a:t>DATA_INTEGER(n) </a:t>
            </a:r>
            <a:r>
              <a:rPr kumimoji="1" lang="ja-JP" altLang="en-US" sz="2000" dirty="0">
                <a:latin typeface="BIZ UDゴシック" panose="020B0400000000000000" pitchFamily="49" charset="-128"/>
                <a:ea typeface="BIZ UDゴシック" panose="020B0400000000000000" pitchFamily="49" charset="-128"/>
              </a:rPr>
              <a:t>や </a:t>
            </a:r>
            <a:r>
              <a:rPr kumimoji="1" lang="en-US" altLang="ja-JP" sz="2000" dirty="0">
                <a:latin typeface="BIZ UDゴシック" panose="020B0400000000000000" pitchFamily="49" charset="-128"/>
                <a:ea typeface="BIZ UDゴシック" panose="020B0400000000000000" pitchFamily="49" charset="-128"/>
              </a:rPr>
              <a:t>DATA_VECTOR(y) </a:t>
            </a:r>
            <a:r>
              <a:rPr kumimoji="1" lang="ja-JP" altLang="en-US" sz="2000" dirty="0">
                <a:latin typeface="BIZ UDゴシック" panose="020B0400000000000000" pitchFamily="49" charset="-128"/>
                <a:ea typeface="BIZ UDゴシック" panose="020B0400000000000000" pitchFamily="49" charset="-128"/>
              </a:rPr>
              <a:t>でデータ型を宣言する。   </a:t>
            </a:r>
            <a:endParaRPr kumimoji="1" lang="en-US" altLang="ja-JP" sz="2000" dirty="0">
              <a:latin typeface="BIZ UDゴシック" panose="020B0400000000000000" pitchFamily="49" charset="-128"/>
              <a:ea typeface="BIZ UDゴシック" panose="020B0400000000000000" pitchFamily="49" charset="-128"/>
            </a:endParaRPr>
          </a:p>
          <a:p>
            <a:pPr marL="0" indent="0">
              <a:buNone/>
            </a:pPr>
            <a:r>
              <a:rPr kumimoji="1" lang="ja-JP" altLang="en-US" sz="2000" dirty="0">
                <a:latin typeface="BIZ UDゴシック" panose="020B0400000000000000" pitchFamily="49" charset="-128"/>
                <a:ea typeface="BIZ UDゴシック" panose="020B0400000000000000" pitchFamily="49" charset="-128"/>
              </a:rPr>
              <a:t>パラメータの最適化安定性を高めるため、標準偏差は対数スケール（</a:t>
            </a:r>
            <a:r>
              <a:rPr kumimoji="1" lang="en-US" altLang="ja-JP" sz="2000" dirty="0" err="1">
                <a:latin typeface="BIZ UDゴシック" panose="020B0400000000000000" pitchFamily="49" charset="-128"/>
                <a:ea typeface="BIZ UDゴシック" panose="020B0400000000000000" pitchFamily="49" charset="-128"/>
              </a:rPr>
              <a:t>log_pop_sd</a:t>
            </a:r>
            <a:r>
              <a:rPr kumimoji="1" lang="ja-JP" altLang="en-US" sz="2000" dirty="0">
                <a:latin typeface="BIZ UDゴシック" panose="020B0400000000000000" pitchFamily="49" charset="-128"/>
                <a:ea typeface="BIZ UDゴシック" panose="020B0400000000000000" pitchFamily="49" charset="-128"/>
              </a:rPr>
              <a:t>）で定義し、内部で </a:t>
            </a:r>
            <a:r>
              <a:rPr kumimoji="1" lang="en-US" altLang="ja-JP" sz="2000" dirty="0">
                <a:latin typeface="BIZ UDゴシック" panose="020B0400000000000000" pitchFamily="49" charset="-128"/>
                <a:ea typeface="BIZ UDゴシック" panose="020B0400000000000000" pitchFamily="49" charset="-128"/>
              </a:rPr>
              <a:t>exp() </a:t>
            </a:r>
            <a:r>
              <a:rPr kumimoji="1" lang="ja-JP" altLang="en-US" sz="2000" dirty="0">
                <a:latin typeface="BIZ UDゴシック" panose="020B0400000000000000" pitchFamily="49" charset="-128"/>
                <a:ea typeface="BIZ UDゴシック" panose="020B0400000000000000" pitchFamily="49" charset="-128"/>
              </a:rPr>
              <a:t>を通して復元する。   </a:t>
            </a:r>
            <a:endParaRPr kumimoji="1" lang="en-US" altLang="ja-JP" sz="2000" dirty="0">
              <a:latin typeface="BIZ UDゴシック" panose="020B0400000000000000" pitchFamily="49" charset="-128"/>
              <a:ea typeface="BIZ UDゴシック" panose="020B0400000000000000" pitchFamily="49" charset="-128"/>
            </a:endParaRPr>
          </a:p>
          <a:p>
            <a:pPr marL="0" indent="0">
              <a:buNone/>
            </a:pPr>
            <a:r>
              <a:rPr kumimoji="1" lang="ja-JP" altLang="en-US" sz="2000" dirty="0">
                <a:latin typeface="BIZ UDゴシック" panose="020B0400000000000000" pitchFamily="49" charset="-128"/>
                <a:ea typeface="BIZ UDゴシック" panose="020B0400000000000000" pitchFamily="49" charset="-128"/>
              </a:rPr>
              <a:t>負の対数尤度 </a:t>
            </a:r>
            <a:r>
              <a:rPr kumimoji="1" lang="en-US" altLang="ja-JP" sz="2000" dirty="0">
                <a:latin typeface="BIZ UDゴシック" panose="020B0400000000000000" pitchFamily="49" charset="-128"/>
                <a:ea typeface="BIZ UDゴシック" panose="020B0400000000000000" pitchFamily="49" charset="-128"/>
              </a:rPr>
              <a:t>-LL </a:t>
            </a:r>
            <a:r>
              <a:rPr kumimoji="1" lang="ja-JP" altLang="en-US" sz="2000" dirty="0">
                <a:latin typeface="BIZ UDゴシック" panose="020B0400000000000000" pitchFamily="49" charset="-128"/>
                <a:ea typeface="BIZ UDゴシック" panose="020B0400000000000000" pitchFamily="49" charset="-128"/>
              </a:rPr>
              <a:t>を蓄積する </a:t>
            </a:r>
            <a:r>
              <a:rPr kumimoji="1" lang="en-US" altLang="ja-JP" sz="2000" dirty="0">
                <a:latin typeface="BIZ UDゴシック" panose="020B0400000000000000" pitchFamily="49" charset="-128"/>
                <a:ea typeface="BIZ UDゴシック" panose="020B0400000000000000" pitchFamily="49" charset="-128"/>
              </a:rPr>
              <a:t>for </a:t>
            </a:r>
            <a:r>
              <a:rPr kumimoji="1" lang="ja-JP" altLang="en-US" sz="2000" dirty="0">
                <a:latin typeface="BIZ UDゴシック" panose="020B0400000000000000" pitchFamily="49" charset="-128"/>
                <a:ea typeface="BIZ UDゴシック" panose="020B0400000000000000" pitchFamily="49" charset="-128"/>
              </a:rPr>
              <a:t>ループを記述する。この際、</a:t>
            </a:r>
            <a:r>
              <a:rPr kumimoji="1" lang="en-US" altLang="ja-JP" sz="2000" dirty="0">
                <a:latin typeface="BIZ UDゴシック" panose="020B0400000000000000" pitchFamily="49" charset="-128"/>
                <a:ea typeface="BIZ UDゴシック" panose="020B0400000000000000" pitchFamily="49" charset="-128"/>
              </a:rPr>
              <a:t>C++</a:t>
            </a:r>
            <a:r>
              <a:rPr kumimoji="1" lang="ja-JP" altLang="en-US" sz="2000" dirty="0">
                <a:latin typeface="BIZ UDゴシック" panose="020B0400000000000000" pitchFamily="49" charset="-128"/>
                <a:ea typeface="BIZ UDゴシック" panose="020B0400000000000000" pitchFamily="49" charset="-128"/>
              </a:rPr>
              <a:t>のインデックスは </a:t>
            </a:r>
            <a:r>
              <a:rPr kumimoji="1" lang="en-US" altLang="ja-JP" sz="2000" dirty="0">
                <a:latin typeface="BIZ UDゴシック" panose="020B0400000000000000" pitchFamily="49" charset="-128"/>
                <a:ea typeface="BIZ UDゴシック" panose="020B0400000000000000" pitchFamily="49" charset="-128"/>
              </a:rPr>
              <a:t>0 </a:t>
            </a:r>
            <a:r>
              <a:rPr kumimoji="1" lang="ja-JP" altLang="en-US" sz="2000" dirty="0">
                <a:latin typeface="BIZ UDゴシック" panose="020B0400000000000000" pitchFamily="49" charset="-128"/>
                <a:ea typeface="BIZ UDゴシック" panose="020B0400000000000000" pitchFamily="49" charset="-128"/>
              </a:rPr>
              <a:t>から始まる点に注意する。</a:t>
            </a:r>
            <a:r>
              <a:rPr kumimoji="1" lang="en-US" altLang="ja-JP" sz="2000" dirty="0" err="1">
                <a:latin typeface="BIZ UDゴシック" panose="020B0400000000000000" pitchFamily="49" charset="-128"/>
                <a:ea typeface="BIZ UDゴシック" panose="020B0400000000000000" pitchFamily="49" charset="-128"/>
              </a:rPr>
              <a:t>dnorm</a:t>
            </a:r>
            <a:r>
              <a:rPr kumimoji="1" lang="en-US" altLang="ja-JP" sz="2000" dirty="0">
                <a:latin typeface="BIZ UDゴシック" panose="020B0400000000000000" pitchFamily="49" charset="-128"/>
                <a:ea typeface="BIZ UDゴシック" panose="020B0400000000000000" pitchFamily="49" charset="-128"/>
              </a:rPr>
              <a:t>(y(</a:t>
            </a:r>
            <a:r>
              <a:rPr kumimoji="1" lang="en-US" altLang="ja-JP" sz="2000" dirty="0" err="1">
                <a:latin typeface="BIZ UDゴシック" panose="020B0400000000000000" pitchFamily="49" charset="-128"/>
                <a:ea typeface="BIZ UDゴシック" panose="020B0400000000000000" pitchFamily="49" charset="-128"/>
              </a:rPr>
              <a:t>i</a:t>
            </a:r>
            <a:r>
              <a:rPr kumimoji="1" lang="en-US" altLang="ja-JP" sz="2000" dirty="0">
                <a:latin typeface="BIZ UDゴシック" panose="020B0400000000000000" pitchFamily="49" charset="-128"/>
                <a:ea typeface="BIZ UDゴシック" panose="020B0400000000000000" pitchFamily="49" charset="-128"/>
              </a:rPr>
              <a:t>), </a:t>
            </a:r>
            <a:r>
              <a:rPr kumimoji="1" lang="en-US" altLang="ja-JP" sz="2000" dirty="0" err="1">
                <a:latin typeface="BIZ UDゴシック" panose="020B0400000000000000" pitchFamily="49" charset="-128"/>
                <a:ea typeface="BIZ UDゴシック" panose="020B0400000000000000" pitchFamily="49" charset="-128"/>
              </a:rPr>
              <a:t>pop_mean</a:t>
            </a:r>
            <a:r>
              <a:rPr kumimoji="1" lang="en-US" altLang="ja-JP" sz="2000" dirty="0">
                <a:latin typeface="BIZ UDゴシック" panose="020B0400000000000000" pitchFamily="49" charset="-128"/>
                <a:ea typeface="BIZ UDゴシック" panose="020B0400000000000000" pitchFamily="49" charset="-128"/>
              </a:rPr>
              <a:t>, </a:t>
            </a:r>
            <a:r>
              <a:rPr kumimoji="1" lang="en-US" altLang="ja-JP" sz="2000" dirty="0" err="1">
                <a:latin typeface="BIZ UDゴシック" panose="020B0400000000000000" pitchFamily="49" charset="-128"/>
                <a:ea typeface="BIZ UDゴシック" panose="020B0400000000000000" pitchFamily="49" charset="-128"/>
              </a:rPr>
              <a:t>pop_sd</a:t>
            </a:r>
            <a:r>
              <a:rPr kumimoji="1" lang="en-US" altLang="ja-JP" sz="2000" dirty="0">
                <a:latin typeface="BIZ UDゴシック" panose="020B0400000000000000" pitchFamily="49" charset="-128"/>
                <a:ea typeface="BIZ UDゴシック" panose="020B0400000000000000" pitchFamily="49" charset="-128"/>
              </a:rPr>
              <a:t>, true) </a:t>
            </a:r>
            <a:r>
              <a:rPr kumimoji="1" lang="ja-JP" altLang="en-US" sz="2000" dirty="0">
                <a:latin typeface="BIZ UDゴシック" panose="020B0400000000000000" pitchFamily="49" charset="-128"/>
                <a:ea typeface="BIZ UDゴシック" panose="020B0400000000000000" pitchFamily="49" charset="-128"/>
              </a:rPr>
              <a:t>を用いて各点の対数尤度（</a:t>
            </a:r>
            <a:r>
              <a:rPr kumimoji="1" lang="en-US" altLang="ja-JP" sz="2000" dirty="0">
                <a:latin typeface="BIZ UDゴシック" panose="020B0400000000000000" pitchFamily="49" charset="-128"/>
                <a:ea typeface="BIZ UDゴシック" panose="020B0400000000000000" pitchFamily="49" charset="-128"/>
              </a:rPr>
              <a:t>true </a:t>
            </a:r>
            <a:r>
              <a:rPr kumimoji="1" lang="ja-JP" altLang="en-US" sz="2000" dirty="0">
                <a:latin typeface="BIZ UDゴシック" panose="020B0400000000000000" pitchFamily="49" charset="-128"/>
                <a:ea typeface="BIZ UDゴシック" panose="020B0400000000000000" pitchFamily="49" charset="-128"/>
              </a:rPr>
              <a:t>により対数値）を計算し、足し合わせる。   </a:t>
            </a:r>
            <a:endParaRPr kumimoji="1" lang="en-US" altLang="ja-JP" sz="2000" dirty="0">
              <a:latin typeface="BIZ UDゴシック" panose="020B0400000000000000" pitchFamily="49" charset="-128"/>
              <a:ea typeface="BIZ UDゴシック" panose="020B0400000000000000" pitchFamily="49" charset="-128"/>
            </a:endParaRPr>
          </a:p>
          <a:p>
            <a:pPr marL="0" indent="0">
              <a:buNone/>
            </a:pPr>
            <a:r>
              <a:rPr kumimoji="1" lang="en-US" altLang="ja-JP" sz="2000" dirty="0">
                <a:latin typeface="BIZ UDゴシック" panose="020B0400000000000000" pitchFamily="49" charset="-128"/>
                <a:ea typeface="BIZ UDゴシック" panose="020B0400000000000000" pitchFamily="49" charset="-128"/>
              </a:rPr>
              <a:t>R</a:t>
            </a:r>
            <a:r>
              <a:rPr kumimoji="1" lang="ja-JP" altLang="en-US" sz="2000" dirty="0">
                <a:latin typeface="BIZ UDゴシック" panose="020B0400000000000000" pitchFamily="49" charset="-128"/>
                <a:ea typeface="BIZ UDゴシック" panose="020B0400000000000000" pitchFamily="49" charset="-128"/>
              </a:rPr>
              <a:t>側で </a:t>
            </a:r>
            <a:r>
              <a:rPr kumimoji="1" lang="en-US" altLang="ja-JP" sz="2000" dirty="0">
                <a:latin typeface="BIZ UDゴシック" panose="020B0400000000000000" pitchFamily="49" charset="-128"/>
                <a:ea typeface="BIZ UDゴシック" panose="020B0400000000000000" pitchFamily="49" charset="-128"/>
              </a:rPr>
              <a:t>compile() </a:t>
            </a:r>
            <a:r>
              <a:rPr kumimoji="1" lang="ja-JP" altLang="en-US" sz="2000" dirty="0">
                <a:latin typeface="BIZ UDゴシック" panose="020B0400000000000000" pitchFamily="49" charset="-128"/>
                <a:ea typeface="BIZ UDゴシック" panose="020B0400000000000000" pitchFamily="49" charset="-128"/>
              </a:rPr>
              <a:t>と </a:t>
            </a:r>
            <a:r>
              <a:rPr kumimoji="1" lang="en-US" altLang="ja-JP" sz="2000" dirty="0" err="1">
                <a:latin typeface="BIZ UDゴシック" panose="020B0400000000000000" pitchFamily="49" charset="-128"/>
                <a:ea typeface="BIZ UDゴシック" panose="020B0400000000000000" pitchFamily="49" charset="-128"/>
              </a:rPr>
              <a:t>dyn.load</a:t>
            </a:r>
            <a:r>
              <a:rPr kumimoji="1" lang="en-US" altLang="ja-JP" sz="2000" dirty="0">
                <a:latin typeface="BIZ UDゴシック" panose="020B0400000000000000" pitchFamily="49" charset="-128"/>
                <a:ea typeface="BIZ UDゴシック" panose="020B0400000000000000" pitchFamily="49" charset="-128"/>
              </a:rPr>
              <a:t>() </a:t>
            </a:r>
            <a:r>
              <a:rPr kumimoji="1" lang="ja-JP" altLang="en-US" sz="2000" dirty="0">
                <a:latin typeface="BIZ UDゴシック" panose="020B0400000000000000" pitchFamily="49" charset="-128"/>
                <a:ea typeface="BIZ UDゴシック" panose="020B0400000000000000" pitchFamily="49" charset="-128"/>
              </a:rPr>
              <a:t>を行い、パラメータ初期値リストを作成して </a:t>
            </a:r>
            <a:r>
              <a:rPr kumimoji="1" lang="en-US" altLang="ja-JP" sz="2000" dirty="0" err="1">
                <a:latin typeface="BIZ UDゴシック" panose="020B0400000000000000" pitchFamily="49" charset="-128"/>
                <a:ea typeface="BIZ UDゴシック" panose="020B0400000000000000" pitchFamily="49" charset="-128"/>
              </a:rPr>
              <a:t>MakeADFun</a:t>
            </a:r>
            <a:r>
              <a:rPr kumimoji="1" lang="en-US" altLang="ja-JP" sz="2000" dirty="0">
                <a:latin typeface="BIZ UDゴシック" panose="020B0400000000000000" pitchFamily="49" charset="-128"/>
                <a:ea typeface="BIZ UDゴシック" panose="020B0400000000000000" pitchFamily="49" charset="-128"/>
              </a:rPr>
              <a:t>() </a:t>
            </a:r>
            <a:r>
              <a:rPr kumimoji="1" lang="ja-JP" altLang="en-US" sz="2000" dirty="0">
                <a:latin typeface="BIZ UDゴシック" panose="020B0400000000000000" pitchFamily="49" charset="-128"/>
                <a:ea typeface="BIZ UDゴシック" panose="020B0400000000000000" pitchFamily="49" charset="-128"/>
              </a:rPr>
              <a:t>で</a:t>
            </a:r>
            <a:r>
              <a:rPr kumimoji="1" lang="en-US" altLang="ja-JP" sz="2000" dirty="0">
                <a:latin typeface="BIZ UDゴシック" panose="020B0400000000000000" pitchFamily="49" charset="-128"/>
                <a:ea typeface="BIZ UDゴシック" panose="020B0400000000000000" pitchFamily="49" charset="-128"/>
              </a:rPr>
              <a:t>TMB</a:t>
            </a:r>
            <a:r>
              <a:rPr kumimoji="1" lang="ja-JP" altLang="en-US" sz="2000" dirty="0">
                <a:latin typeface="BIZ UDゴシック" panose="020B0400000000000000" pitchFamily="49" charset="-128"/>
                <a:ea typeface="BIZ UDゴシック" panose="020B0400000000000000" pitchFamily="49" charset="-128"/>
              </a:rPr>
              <a:t>オブジェクトを構築する。   </a:t>
            </a:r>
            <a:r>
              <a:rPr kumimoji="1" lang="en-US" altLang="ja-JP" sz="2000" dirty="0" err="1">
                <a:latin typeface="BIZ UDゴシック" panose="020B0400000000000000" pitchFamily="49" charset="-128"/>
                <a:ea typeface="BIZ UDゴシック" panose="020B0400000000000000" pitchFamily="49" charset="-128"/>
              </a:rPr>
              <a:t>optim</a:t>
            </a:r>
            <a:r>
              <a:rPr kumimoji="1" lang="en-US" altLang="ja-JP" sz="2000" dirty="0">
                <a:latin typeface="BIZ UDゴシック" panose="020B0400000000000000" pitchFamily="49" charset="-128"/>
                <a:ea typeface="BIZ UDゴシック" panose="020B0400000000000000" pitchFamily="49" charset="-128"/>
              </a:rPr>
              <a:t>(..., method = "BFGS") </a:t>
            </a:r>
            <a:r>
              <a:rPr kumimoji="1" lang="ja-JP" altLang="en-US" sz="2000" dirty="0">
                <a:latin typeface="BIZ UDゴシック" panose="020B0400000000000000" pitchFamily="49" charset="-128"/>
                <a:ea typeface="BIZ UDゴシック" panose="020B0400000000000000" pitchFamily="49" charset="-128"/>
              </a:rPr>
              <a:t>を用いて最適化を実行し、</a:t>
            </a:r>
            <a:r>
              <a:rPr kumimoji="1" lang="en-US" altLang="ja-JP" sz="2000" dirty="0" err="1">
                <a:latin typeface="BIZ UDゴシック" panose="020B0400000000000000" pitchFamily="49" charset="-128"/>
                <a:ea typeface="BIZ UDゴシック" panose="020B0400000000000000" pitchFamily="49" charset="-128"/>
              </a:rPr>
              <a:t>sdreport</a:t>
            </a:r>
            <a:r>
              <a:rPr kumimoji="1" lang="en-US" altLang="ja-JP" sz="2000" dirty="0">
                <a:latin typeface="BIZ UDゴシック" panose="020B0400000000000000" pitchFamily="49" charset="-128"/>
                <a:ea typeface="BIZ UDゴシック" panose="020B0400000000000000" pitchFamily="49" charset="-128"/>
              </a:rPr>
              <a:t>() </a:t>
            </a:r>
            <a:r>
              <a:rPr kumimoji="1" lang="ja-JP" altLang="en-US" sz="2000" dirty="0">
                <a:latin typeface="BIZ UDゴシック" panose="020B0400000000000000" pitchFamily="49" charset="-128"/>
                <a:ea typeface="BIZ UDゴシック" panose="020B0400000000000000" pitchFamily="49" charset="-128"/>
              </a:rPr>
              <a:t>でパラメータ推定値と標準誤差を取得する。</a:t>
            </a:r>
          </a:p>
        </p:txBody>
      </p:sp>
    </p:spTree>
    <p:extLst>
      <p:ext uri="{BB962C8B-B14F-4D97-AF65-F5344CB8AC3E}">
        <p14:creationId xmlns:p14="http://schemas.microsoft.com/office/powerpoint/2010/main" val="1354504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36DEF-E50E-7F91-7B06-6273D86338B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B873BB0-1EDB-AEC9-FA96-E08C44BD4241}"/>
              </a:ext>
            </a:extLst>
          </p:cNvPr>
          <p:cNvSpPr>
            <a:spLocks noGrp="1"/>
          </p:cNvSpPr>
          <p:nvPr>
            <p:ph type="title"/>
          </p:nvPr>
        </p:nvSpPr>
        <p:spPr>
          <a:xfrm>
            <a:off x="838200" y="365125"/>
            <a:ext cx="10515600" cy="580097"/>
          </a:xfrm>
        </p:spPr>
        <p:txBody>
          <a:bodyPr>
            <a:normAutofit fontScale="90000"/>
          </a:bodyPr>
          <a:lstStyle/>
          <a:p>
            <a:r>
              <a:rPr kumimoji="1" lang="en-US" altLang="ja-JP" sz="3200" dirty="0">
                <a:latin typeface="BIZ UDゴシック" panose="020B0400000000000000" pitchFamily="49" charset="-128"/>
                <a:ea typeface="BIZ UDゴシック" panose="020B0400000000000000" pitchFamily="49" charset="-128"/>
              </a:rPr>
              <a:t>4.9 </a:t>
            </a:r>
            <a:r>
              <a:rPr kumimoji="1" lang="ja-JP" altLang="en-US" sz="3200" dirty="0">
                <a:latin typeface="BIZ UDゴシック" panose="020B0400000000000000" pitchFamily="49" charset="-128"/>
                <a:ea typeface="BIZ UDゴシック" panose="020B0400000000000000" pitchFamily="49" charset="-128"/>
              </a:rPr>
              <a:t>エンジンの比較とまとめ</a:t>
            </a:r>
            <a:br>
              <a:rPr kumimoji="1" lang="en-US" altLang="ja-JP" sz="3200" dirty="0">
                <a:latin typeface="BIZ UDゴシック" panose="020B0400000000000000" pitchFamily="49" charset="-128"/>
                <a:ea typeface="BIZ UDゴシック" panose="020B0400000000000000" pitchFamily="49" charset="-128"/>
              </a:rPr>
            </a:br>
            <a:r>
              <a:rPr kumimoji="1" lang="ja-JP" altLang="en-US" sz="3200" dirty="0">
                <a:latin typeface="BIZ UDゴシック" panose="020B0400000000000000" pitchFamily="49" charset="-128"/>
                <a:ea typeface="BIZ UDゴシック" panose="020B0400000000000000" pitchFamily="49" charset="-128"/>
              </a:rPr>
              <a:t> </a:t>
            </a:r>
            <a:r>
              <a:rPr kumimoji="1" lang="en-US" altLang="ja-JP" sz="3200" dirty="0">
                <a:latin typeface="BIZ UDゴシック" panose="020B0400000000000000" pitchFamily="49" charset="-128"/>
                <a:ea typeface="BIZ UDゴシック" panose="020B0400000000000000" pitchFamily="49" charset="-128"/>
              </a:rPr>
              <a:t>(Comparison of engines and concluding remarks)</a:t>
            </a:r>
            <a:endParaRPr kumimoji="1" lang="ja-JP" altLang="en-US" sz="32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2614DCC8-37AD-CF19-2CAA-FE4EED0EA5D7}"/>
              </a:ext>
            </a:extLst>
          </p:cNvPr>
          <p:cNvSpPr>
            <a:spLocks noGrp="1"/>
          </p:cNvSpPr>
          <p:nvPr>
            <p:ph idx="1"/>
          </p:nvPr>
        </p:nvSpPr>
        <p:spPr>
          <a:xfrm>
            <a:off x="380144" y="1263721"/>
            <a:ext cx="11650894" cy="5435030"/>
          </a:xfrm>
        </p:spPr>
        <p:txBody>
          <a:bodyPr>
            <a:normAutofit fontScale="62500" lnSpcReduction="20000"/>
          </a:bodyPr>
          <a:lstStyle/>
          <a:p>
            <a:pPr marL="0" indent="0">
              <a:buNone/>
            </a:pPr>
            <a:r>
              <a:rPr kumimoji="1" lang="en-US" altLang="ja-JP" dirty="0">
                <a:latin typeface="BIZ UDゴシック" panose="020B0400000000000000" pitchFamily="49" charset="-128"/>
                <a:ea typeface="BIZ UDゴシック" panose="020B0400000000000000" pitchFamily="49" charset="-128"/>
              </a:rPr>
              <a:t>5</a:t>
            </a:r>
            <a:r>
              <a:rPr kumimoji="1" lang="ja-JP" altLang="en-US" dirty="0">
                <a:latin typeface="BIZ UDゴシック" panose="020B0400000000000000" pitchFamily="49" charset="-128"/>
                <a:ea typeface="BIZ UDゴシック" panose="020B0400000000000000" pitchFamily="49" charset="-128"/>
              </a:rPr>
              <a:t>つのエンジン（および</a:t>
            </a: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の </a:t>
            </a:r>
            <a:r>
              <a:rPr kumimoji="1" lang="en-US" altLang="ja-JP" dirty="0" err="1">
                <a:latin typeface="BIZ UDゴシック" panose="020B0400000000000000" pitchFamily="49" charset="-128"/>
                <a:ea typeface="BIZ UDゴシック" panose="020B0400000000000000" pitchFamily="49" charset="-128"/>
              </a:rPr>
              <a:t>lm</a:t>
            </a:r>
            <a:r>
              <a:rPr kumimoji="1" lang="en-US" altLang="ja-JP" dirty="0">
                <a:latin typeface="BIZ UDゴシック" panose="020B0400000000000000" pitchFamily="49" charset="-128"/>
                <a:ea typeface="BIZ UDゴシック" panose="020B0400000000000000" pitchFamily="49" charset="-128"/>
              </a:rPr>
              <a:t>()</a:t>
            </a:r>
            <a:r>
              <a:rPr kumimoji="1" lang="ja-JP" altLang="en-US" dirty="0">
                <a:latin typeface="BIZ UDゴシック" panose="020B0400000000000000" pitchFamily="49" charset="-128"/>
                <a:ea typeface="BIZ UDゴシック" panose="020B0400000000000000" pitchFamily="49" charset="-128"/>
              </a:rPr>
              <a:t>）による推定値はすべてほぼ完全に一致しており、正しく指定されたモデルであればどのツールでも同じ結論が得られることが示されている。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各エンジンには「使いやすさ」「速度」「柔軟性（複雑な階層構造への対応）」のトレードオフが存在する。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lang="en-US" altLang="ja-JP" dirty="0">
              <a:latin typeface="BIZ UDゴシック" panose="020B0400000000000000" pitchFamily="49" charset="-128"/>
              <a:ea typeface="BIZ UDゴシック" panose="020B0400000000000000" pitchFamily="49" charset="-128"/>
            </a:endParaRPr>
          </a:p>
          <a:p>
            <a:pPr marL="0" indent="0">
              <a:buNone/>
            </a:pPr>
            <a:r>
              <a:rPr lang="ja-JP" altLang="en-US" dirty="0">
                <a:latin typeface="BIZ UDゴシック" panose="020B0400000000000000" pitchFamily="49" charset="-128"/>
                <a:ea typeface="BIZ UDゴシック" panose="020B0400000000000000" pitchFamily="49" charset="-128"/>
              </a:rPr>
              <a:t>標準</a:t>
            </a: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関数</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高速で簡単だが柔軟性が低い。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JAGS: </a:t>
            </a:r>
            <a:r>
              <a:rPr kumimoji="1" lang="ja-JP" altLang="en-US" dirty="0">
                <a:latin typeface="BIZ UDゴシック" panose="020B0400000000000000" pitchFamily="49" charset="-128"/>
                <a:ea typeface="BIZ UDゴシック" panose="020B0400000000000000" pitchFamily="49" charset="-128"/>
              </a:rPr>
              <a:t>直感的で初心者向き（離散パラメータや欠損値に強い）だが低速。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NIMBLE: BUGS</a:t>
            </a:r>
            <a:r>
              <a:rPr kumimoji="1" lang="ja-JP" altLang="en-US" dirty="0">
                <a:latin typeface="BIZ UDゴシック" panose="020B0400000000000000" pitchFamily="49" charset="-128"/>
                <a:ea typeface="BIZ UDゴシック" panose="020B0400000000000000" pitchFamily="49" charset="-128"/>
              </a:rPr>
              <a:t>言語の書きやすさと</a:t>
            </a:r>
            <a:r>
              <a:rPr kumimoji="1" lang="en-US" altLang="ja-JP" dirty="0">
                <a:latin typeface="BIZ UDゴシック" panose="020B0400000000000000" pitchFamily="49" charset="-128"/>
                <a:ea typeface="BIZ UDゴシック" panose="020B0400000000000000" pitchFamily="49" charset="-128"/>
              </a:rPr>
              <a:t>C++</a:t>
            </a:r>
            <a:r>
              <a:rPr kumimoji="1" lang="ja-JP" altLang="en-US" dirty="0">
                <a:latin typeface="BIZ UDゴシック" panose="020B0400000000000000" pitchFamily="49" charset="-128"/>
                <a:ea typeface="BIZ UDゴシック" panose="020B0400000000000000" pitchFamily="49" charset="-128"/>
              </a:rPr>
              <a:t>の高速性・高い拡張性を兼ね備える。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Stan: HMC/NUTS</a:t>
            </a:r>
            <a:r>
              <a:rPr kumimoji="1" lang="ja-JP" altLang="en-US" dirty="0">
                <a:latin typeface="BIZ UDゴシック" panose="020B0400000000000000" pitchFamily="49" charset="-128"/>
                <a:ea typeface="BIZ UDゴシック" panose="020B0400000000000000" pitchFamily="49" charset="-128"/>
              </a:rPr>
              <a:t>による強力なサンプリングと厳格なブロック構造を持つ。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DIY-MLE: </a:t>
            </a:r>
            <a:r>
              <a:rPr kumimoji="1" lang="ja-JP" altLang="en-US" dirty="0">
                <a:latin typeface="BIZ UDゴシック" panose="020B0400000000000000" pitchFamily="49" charset="-128"/>
                <a:ea typeface="BIZ UDゴシック" panose="020B0400000000000000" pitchFamily="49" charset="-128"/>
              </a:rPr>
              <a:t>教育的価値が高く仕組みを理解しやすいが手動コーディングが大変。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TMB: C++</a:t>
            </a:r>
            <a:r>
              <a:rPr kumimoji="1" lang="ja-JP" altLang="en-US" dirty="0">
                <a:latin typeface="BIZ UDゴシック" panose="020B0400000000000000" pitchFamily="49" charset="-128"/>
                <a:ea typeface="BIZ UDゴシック" panose="020B0400000000000000" pitchFamily="49" charset="-128"/>
              </a:rPr>
              <a:t>の習得が必要だが、最尤法ベースの混合モデル等を驚異的なスピードで処理できる。   本章で扱った「平均のモデル（切片のみ）」を土台として、次章以降では共変量（連続・カテゴリ）やランダム効果を順次追加し、モデルの複雑性を高めていく。</a:t>
            </a:r>
          </a:p>
        </p:txBody>
      </p:sp>
    </p:spTree>
    <p:extLst>
      <p:ext uri="{BB962C8B-B14F-4D97-AF65-F5344CB8AC3E}">
        <p14:creationId xmlns:p14="http://schemas.microsoft.com/office/powerpoint/2010/main" val="2701084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BB934-9AE4-2FD0-4332-6D0A02DB7A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7C3AA0C-3BED-63AC-2383-8829315F6594}"/>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616C267B-A221-F7F0-6F74-179137356B43}"/>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337964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50BA2-A029-9995-480F-5AB2F584A9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E9D34D-F172-176B-DE2D-D3A0A0986EEE}"/>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0A5C16C7-BBA0-ED33-7612-B9351CB44EF6}"/>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2123032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D84A7-1B9E-6DC8-9075-960D149A83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D88868D-02A9-3CBE-3898-D73087E2EC28}"/>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083F353F-CDCB-42B9-D06F-F9D6292B1249}"/>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4083820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00BE6-2F15-8FA0-FAD5-975C9A641D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A0F0E5-F544-EAED-4831-DE882E2E37AC}"/>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78795642-EBDF-7CAA-D85C-9E3AB2615481}"/>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540097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99716-832E-28AD-6A81-228314E59DC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872528-B91C-CE66-0250-4D96F6C7A290}"/>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E7543F48-2A82-9312-4D1E-44695C536396}"/>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4245114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E4A49-CDE4-5D2C-9446-AE57E0E639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4A59A5-FBDB-121A-4B86-91DD2C81F2E9}"/>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B8ECA484-0544-8EFC-8552-1178AF621FAE}"/>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409359739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299</TotalTime>
  <Words>2228</Words>
  <Application>Microsoft Office PowerPoint</Application>
  <PresentationFormat>ワイド画面</PresentationFormat>
  <Paragraphs>107</Paragraphs>
  <Slides>16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16</vt:i4>
      </vt:variant>
    </vt:vector>
  </HeadingPairs>
  <TitlesOfParts>
    <vt:vector size="22" baseType="lpstr">
      <vt:lpstr>BIZ UDゴシック</vt:lpstr>
      <vt:lpstr>游ゴシック</vt:lpstr>
      <vt:lpstr>游ゴシック Light</vt:lpstr>
      <vt:lpstr>Aptos</vt:lpstr>
      <vt:lpstr>Arial</vt:lpstr>
      <vt:lpstr>Office テーマ</vt:lpstr>
      <vt:lpstr>Applied Statistical Modelling for Ecologists  ASPM</vt:lpstr>
      <vt:lpstr>4.1 導入 (Introduction)</vt:lpstr>
      <vt:lpstr>4.2 データの生成 (Data generation)</vt:lpstr>
      <vt:lpstr>4.3 Rの標準関数による分析  (Analysis using canned functions in R)</vt:lpstr>
      <vt:lpstr>4.4 JAGS</vt:lpstr>
      <vt:lpstr>4.5 NIMBLE</vt:lpstr>
      <vt:lpstr>4.6 Stan</vt:lpstr>
      <vt:lpstr>4.7 Rにおける最尤法 (Maximum likelihood in R)</vt:lpstr>
      <vt:lpstr>4.8 Template Model Builder (TMB) による最尤法 (Maximum likelihood using Template Model Builder)</vt:lpstr>
      <vt:lpstr>4.9 エンジンの比較とまとめ  (Comparison of engines and concluding remarks)</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大下　誠二</dc:creator>
  <cp:lastModifiedBy>誠二 大下</cp:lastModifiedBy>
  <cp:revision>8</cp:revision>
  <dcterms:created xsi:type="dcterms:W3CDTF">2026-10-06T23:13:34Z</dcterms:created>
  <dcterms:modified xsi:type="dcterms:W3CDTF">2026-10-10T11:52:59Z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2026-10-06T23:15:09Z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1d969f6b-a62f-407a-9855-5580c37b838a</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テーマ:8</vt:lpwstr>
  </property>
  <property fmtid="{D5CDD505-2E9C-101B-9397-08002B2CF9AE}" pid="11" name="ClassificationContentMarkingHeaderText">
    <vt:lpwstr>【機密性2情報】</vt:lpwstr>
  </property>
</Properties>
</file>