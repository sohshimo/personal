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C6D3B-DE21-6EAC-5D2A-634944F25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DDC94E-0A8A-02B3-86B8-67F8AB4AD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902414-41A8-14CF-CA4C-0BC7A1F2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65CCE0-646D-510B-5E1A-E6FC3DA4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40ADAA-BA7B-D393-C571-9BB8D5ED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43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689CA-809D-EC2E-F42D-51DA21E1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71E619-DDD1-A880-251B-8618138E4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54BE2D-F637-3F7F-C2EE-4AF004B1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5F4E32-7EBC-9328-50AA-01278180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1E142-AEAB-CBC9-6AA7-02191D3E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70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6BE4B-4A35-1360-8BC3-620E0FEA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CE3DD8-BADC-F81E-FD4F-6F5C3A752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403AC6-230A-A712-8397-57460796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509A3C-BD45-2301-A19A-D8F47DE0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2B8E95-19B8-562A-195E-B97CAB19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54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3CF66-0CE0-9770-4B3D-EDE4BF22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430839-DC72-6840-7135-880B6F331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8C0A13-BC41-C2C2-254E-959725D36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3FC1AD-844F-F2EB-5CD4-7ECBE986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FD71B2-B10A-3189-AE8E-C8770E7B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58EB0C-CD20-EA24-3C4D-B8C7DB7A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97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A0BD50-8C71-827A-6EC1-AF51D847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9B170-986F-C31F-825B-7EBED4BD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18AC9C-6C90-D8D2-6288-1D513D83E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F24543-B2CB-E027-40CC-B0FF7FE6D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D201EA-DB17-A7BD-790C-13263CC2A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2CFFB64-C910-8328-522C-65422DC5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1ACDE15-9236-F758-F8DA-AA2CE97A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3F28DB3-43AE-A9D6-2402-6609B39C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002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505AF-A1C2-CBC5-4541-E3BBD7C6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4C82E2D-EB7E-2F58-1D8E-DFD5E9ED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61517C2-9DC9-1FC7-BAA1-F079D0EB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B984E0-F2A7-0601-1D98-ADAABBA1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023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5A27BF-84F8-7F53-609F-4F8A7092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C85232-C11B-8E0B-2796-3620AB78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63503A-3C58-B141-4C18-B8662B7A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148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FBC3C-7162-359A-EF01-13661AD8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354480-09EF-2E42-E3FE-EF8ED81B7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E653F2-221C-99A3-C1B8-DB77BEAFB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90D2D9-092D-0C41-9CE2-7C104E31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BD2603-912B-32D5-C64F-36FC10DE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239B87-DEE4-474D-D6A6-40621140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35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2B2CF-351C-10E8-9400-DFE83250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0F68A4-4F5F-A43A-0798-CFFCB204EE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7CF935-3E83-2100-57AC-CD42FE903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ECA0EA-9447-A015-BEC4-F179CFB3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D4A49E-132A-9075-B13E-0F9CF0F0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D7FD69-1261-377E-B2E9-4FAC302B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5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86154-6B32-9FA7-AC64-0401BBA8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18E00B-875E-22FB-0F3E-C86D394A8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5EC8F4-56D4-7835-4D70-10A949B3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721F0E-8EB6-74D5-90A2-DBF52A69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3BE141-607E-04CC-8BC3-3BE43A0D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02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F714B61-1775-8DD8-7529-027DE6E9F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B42191-A290-F301-F947-9D924AF33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3FE194-4488-3B20-9F7D-BD0FC38C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66573A-78EB-526D-3D9C-70CC93A6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1D1A8A-E8E3-CA69-39C9-1A2CCBC6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36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4F7D86-38D1-B73A-6E09-30D69263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2B2C88-8058-D973-C51F-094C1EB4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1471AE-E4DB-F7BA-533C-DF217BD2F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D95D0-8BB4-41AF-BC7D-0DD2CBA9C5B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AFA1C1-1EF2-D9E0-5A4C-B9A1EA0D6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8741D-5005-70D2-EB07-8383A143C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072CE-95FA-40FE-BC99-878DBE9A4B8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E4CB5C-2952-02E4-ED93-80C2AC616E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9826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【機密性2情報】</a:t>
            </a:r>
          </a:p>
        </p:txBody>
      </p:sp>
    </p:spTree>
    <p:extLst>
      <p:ext uri="{BB962C8B-B14F-4D97-AF65-F5344CB8AC3E}">
        <p14:creationId xmlns:p14="http://schemas.microsoft.com/office/powerpoint/2010/main" val="99824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764D44-28CF-2DE7-A261-FFD1DB5A5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5309"/>
            <a:ext cx="9144000" cy="2364654"/>
          </a:xfrm>
        </p:spPr>
        <p:txBody>
          <a:bodyPr>
            <a:normAutofit/>
          </a:bodyPr>
          <a:lstStyle/>
          <a:p>
            <a: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Applied Statistical Modelling for Ecologists</a:t>
            </a:r>
            <a:b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br>
              <a:rPr kumimoji="1" lang="en-US" altLang="ja-JP" sz="360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6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ASME</a:t>
            </a:r>
            <a:endParaRPr kumimoji="1" lang="ja-JP" altLang="en-US" sz="36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C5D841-2E60-B1EB-3102-76804FA39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5272"/>
            <a:ext cx="9144000" cy="1655762"/>
          </a:xfrm>
        </p:spPr>
        <p:txBody>
          <a:bodyPr/>
          <a:lstStyle/>
          <a:p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Chapter 5</a:t>
            </a:r>
            <a:b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正規線形回帰モデル </a:t>
            </a: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(Normal linear regression)</a:t>
            </a:r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258DCC-7C73-D7EC-17A6-3E90AB75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09523" cy="28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64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3216D2-B67B-D61D-06B1-BEA1B662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0228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5.1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導入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(Introduction)</a:t>
            </a:r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4EC48E-5702-7412-08D3-54CE80718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35" y="1825625"/>
            <a:ext cx="11168865" cy="4883400"/>
          </a:xfrm>
        </p:spPr>
        <p:txBody>
          <a:bodyPr>
            <a:normAutofit/>
          </a:bodyPr>
          <a:lstStyle/>
          <a:p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連続共変量 </a:t>
            </a:r>
            <a:r>
              <a:rPr kumimoji="1"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xi 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を導入し、平均 </a:t>
            </a:r>
            <a:r>
              <a:rPr kumimoji="1" lang="en-US" altLang="ja-JP" sz="240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μi</a:t>
            </a:r>
            <a:r>
              <a:rPr kumimoji="1"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が </a:t>
            </a:r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xi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の関数（</a:t>
            </a:r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lang="en-US" altLang="ja-JP" sz="240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μi</a:t>
            </a:r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= α + β xi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）として変化するモデル（直線モデル）を定義する。   </a:t>
            </a:r>
            <a:endParaRPr kumimoji="1"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決定論的部分（線形予測子 </a:t>
            </a:r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α + β xi 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）と確率的部分（残差誤差 </a:t>
            </a:r>
            <a:r>
              <a:rPr kumimoji="1" lang="en-US" altLang="ja-JP" sz="240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εi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～</a:t>
            </a:r>
            <a:r>
              <a:rPr kumimoji="1"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Normal(0,σ^2) 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）を明確に分離して表現する。   </a:t>
            </a:r>
            <a:endParaRPr kumimoji="1"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スイスのカベバシリ（</a:t>
            </a:r>
            <a:r>
              <a:rPr kumimoji="1" lang="en-US" altLang="ja-JP" sz="2400" i="1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Tichodroma</a:t>
            </a:r>
            <a:r>
              <a:rPr kumimoji="1" lang="en-US" altLang="ja-JP" sz="2400" i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en-US" altLang="ja-JP" sz="2400" i="1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muraria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）の占有率の経年変化データをモチーフに、モデル適合度評価（残差解析、ベイズ </a:t>
            </a:r>
            <a:r>
              <a:rPr kumimoji="1"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</a:t>
            </a:r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値）および予測値の計算方法を学ぶ。 </a:t>
            </a:r>
          </a:p>
        </p:txBody>
      </p:sp>
    </p:spTree>
    <p:extLst>
      <p:ext uri="{BB962C8B-B14F-4D97-AF65-F5344CB8AC3E}">
        <p14:creationId xmlns:p14="http://schemas.microsoft.com/office/powerpoint/2010/main" val="268388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8CBA-82E1-5EF9-109D-6B49ADE6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880368-FA97-560F-8BC7-31E5968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5711"/>
          </a:xfrm>
        </p:spPr>
        <p:txBody>
          <a:bodyPr>
            <a:normAutofit fontScale="90000"/>
          </a:bodyPr>
          <a:lstStyle/>
          <a:p>
            <a:r>
              <a:rPr kumimoji="1" lang="en-US" altLang="ja-JP" sz="4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5.2 </a:t>
            </a:r>
            <a:r>
              <a:rPr kumimoji="1" lang="ja-JP" altLang="en-US" sz="4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データの生成 </a:t>
            </a:r>
            <a:r>
              <a:rPr kumimoji="1" lang="en-US" altLang="ja-JP" sz="4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(Data generation)</a:t>
            </a:r>
            <a:endParaRPr kumimoji="1" lang="ja-JP" altLang="en-US" sz="4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43F03F-51EA-94FA-6651-E4DA69D21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パラメータ値（真値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α=40, β=-0.5, σ^2=25,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サンプルサイズ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n=16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年分）を指定し、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R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 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rnorm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()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関数を用いてシミュレーションデータを生成する。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R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のデータ生成コードは、統計モデルの数学的構造を正確かつ明確に表現する手段である。</a:t>
            </a:r>
          </a:p>
        </p:txBody>
      </p:sp>
    </p:spTree>
    <p:extLst>
      <p:ext uri="{BB962C8B-B14F-4D97-AF65-F5344CB8AC3E}">
        <p14:creationId xmlns:p14="http://schemas.microsoft.com/office/powerpoint/2010/main" val="368110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2B98-ACD4-59B6-B4BB-6833F692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7F450F-F5B1-D41C-B0AD-00103C54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0920"/>
          </a:xfrm>
        </p:spPr>
        <p:txBody>
          <a:bodyPr>
            <a:normAutofit fontScale="90000"/>
          </a:bodyPr>
          <a:lstStyle/>
          <a:p>
            <a:r>
              <a:rPr kumimoji="1" lang="en-US" altLang="ja-JP" sz="28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5.3 R</a:t>
            </a:r>
            <a:r>
              <a:rPr kumimoji="1" lang="ja-JP" altLang="en-US" sz="28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の標準関数による分析 </a:t>
            </a:r>
            <a:br>
              <a:rPr kumimoji="1" lang="en-US" altLang="ja-JP" sz="28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28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(Analysis with canned functions in R)</a:t>
            </a:r>
            <a:endParaRPr kumimoji="1" lang="ja-JP" altLang="en-US" sz="28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740BD5-4E95-147C-EEEF-11AF2A099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7" y="1825624"/>
            <a:ext cx="11578976" cy="49450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5.3.1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モデルの当てはめ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</a:p>
          <a:p>
            <a:pPr marL="0" indent="0">
              <a:buNone/>
            </a:pP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R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の標準関数 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lm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()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（最小二乗法）を用いてモデルを当てはめる。平均のパラメータ（切片・傾き）は最尤推定量（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MLE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）と一致し、残差標準誤差は標準偏差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σ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の推定値となる。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5.3.2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残差による適合度評価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(GOF):</a:t>
            </a:r>
          </a:p>
          <a:p>
            <a:pPr marL="0" indent="0">
              <a:buNone/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伝統的な生残差（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$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y_i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- \hat{y}_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$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）や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Pearson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残差に触れつつ、より一般化されたランダム化分位残差（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Randomized quantile residuals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）を導入する。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DHARMa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パッケージを利用してシミュレーションに基づく分位残差（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[0, 1]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上の一様分布）を計算し、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QQ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プロットや分散過剰・外れ値テスト等の診断を行う。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5.3.3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予測値の計算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:predict()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関数を用いて共変量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$x$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の任意の値に対する期待値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$\hat{\mu}_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$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（回帰直線）および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95%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信頼区間（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CI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）を算出する。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予測値の図示はモデルが示す関係性を理解・伝達する上で必須の工程である。</a:t>
            </a:r>
          </a:p>
        </p:txBody>
      </p:sp>
    </p:spTree>
    <p:extLst>
      <p:ext uri="{BB962C8B-B14F-4D97-AF65-F5344CB8AC3E}">
        <p14:creationId xmlns:p14="http://schemas.microsoft.com/office/powerpoint/2010/main" val="110587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5137-4136-CB30-3C62-CBCD6B15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D00626-B930-9FA1-E129-423A8D7E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6259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5.4 JAGS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によるベイズ分析 </a:t>
            </a:r>
            <a:b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(Bayesian analysis with JAGS)</a:t>
            </a:r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310487-AC29-292D-1D09-9578B82E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84270"/>
            <a:ext cx="12061860" cy="5352836"/>
          </a:xfrm>
        </p:spPr>
        <p:txBody>
          <a:bodyPr>
            <a:normAutofit fontScale="62500" lnSpcReduction="2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5.4.1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モデルの当てはめ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</a:p>
          <a:p>
            <a:pPr marL="0" indent="0">
              <a:buNone/>
            </a:pP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BUGS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言語で無情報事前分布（正規分布・一様分布）と尤度を記述。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JAGS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の正規分布は精度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τ= 1/σ^2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で指定する点に注意する。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5.4.2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ベイズ推論における適合度評価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(GOF):</a:t>
            </a:r>
          </a:p>
          <a:p>
            <a:pPr marL="0" indent="0">
              <a:buNone/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予測的モデルチェック（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Posterior Predictive Check: PPC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）を導入。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各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MCMC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ステップで再現データセット（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y.new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）を生成し、観測データと再現データの適合度指標（二乗和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SSQ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）を比較することでベイズ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値（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Bayesian p-value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）を計算する（適切なモデルでは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≒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0.5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また、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y.new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の事後サンプルを 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DHARMa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に渡すことで、ベイズ推論の結果に対する分位残差評価・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PPC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を実行する。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5.4.3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予測値の計算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</a:p>
          <a:p>
            <a:pPr marL="0" indent="0">
              <a:buNone/>
            </a:pP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MCMC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サンプルの全ステップで 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μi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= α + β xi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を計算し、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2.5%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と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97.5%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の分位点から事後平均に対する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95%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信用区間（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CRI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）を構築する。  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5.4.4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信頼区間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(CI)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と 信用区間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(CRI)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の解釈の違い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頻度論の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CI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（信頼区間）は手法の信頼性に関する記述であり、パラメータそのものが区間内に入る確率を語ることはできない。   ベイズの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CRI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（信用区間）はパラメータに対する確信度の記述であり、「個体群が減少（</a:t>
            </a: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β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&lt; 0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）している確率は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0.99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99%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）」といった直接的な確率言明が可能である。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5.4.5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予測区間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(Prediction intervals):</a:t>
            </a: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平均値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μ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の不確実性を表す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CI/CRI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に対し、新規観測データ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Ý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そのものの予測区間は、サンプリング分散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σ^2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の不確実性が加わるため非常に広くなる。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事後サンプルを用いてデータ生成過程までシミュレートした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95%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予測区間の作成手順を示す。</a:t>
            </a:r>
          </a:p>
        </p:txBody>
      </p:sp>
    </p:spTree>
    <p:extLst>
      <p:ext uri="{BB962C8B-B14F-4D97-AF65-F5344CB8AC3E}">
        <p14:creationId xmlns:p14="http://schemas.microsoft.com/office/powerpoint/2010/main" val="481050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EFCF-2E9D-B012-032A-FA31DDD3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594F6-1127-304D-B37F-61176535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5.5 NIMBLE</a:t>
            </a:r>
            <a:r>
              <a:rPr kumimoji="1"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によるベイズ分析 </a:t>
            </a:r>
            <a:b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(Bayesian analysis with NIMBLE)</a:t>
            </a:r>
            <a:b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5.6 Stan</a:t>
            </a:r>
            <a:r>
              <a:rPr kumimoji="1"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によるベイズ分析 </a:t>
            </a:r>
            <a:b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(Bayesian analysis with Stan)</a:t>
            </a:r>
            <a:endParaRPr kumimoji="1" lang="ja-JP" altLang="en-US" sz="32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8C8D27-B1EA-A07B-6930-2B5FE71C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951" y="2291137"/>
            <a:ext cx="11496782" cy="3885826"/>
          </a:xfrm>
        </p:spPr>
        <p:txBody>
          <a:bodyPr/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Web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サイト提供コードの案内（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JAGS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と同様の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BUGS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記法を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C++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コンパイルで実行）。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厳格なブロック構造（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data, parameters, transformed parameters, model, generated quantities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）で記述。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generated quantities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ブロック内で再現データ 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y_new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や二乗和・残差の計算を行い、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PPC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を実施する。 </a:t>
            </a:r>
          </a:p>
        </p:txBody>
      </p:sp>
    </p:spTree>
    <p:extLst>
      <p:ext uri="{BB962C8B-B14F-4D97-AF65-F5344CB8AC3E}">
        <p14:creationId xmlns:p14="http://schemas.microsoft.com/office/powerpoint/2010/main" val="12377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2C9C-3870-1BDF-2457-EEABA423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F8E13-2B16-CBE2-77A9-C644261E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5.7 DIY</a:t>
            </a:r>
            <a:r>
              <a:rPr kumimoji="1"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による最尤推定 </a:t>
            </a:r>
            <a:b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(Do-it-yourself maximum likelihood estimates)</a:t>
            </a:r>
            <a:endParaRPr kumimoji="1" lang="ja-JP" altLang="en-US" sz="32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8B54B-DC09-8267-67E3-AF4F6732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正規分布の対数尤度関数を自作の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R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関数（負の対数尤度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NLL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）として記述。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パラメータ </a:t>
            </a: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σ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は数値的安定性のために対数スケール（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logσ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）で最適化する。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optim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()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関数（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BFGS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法）を実行し、ヘッセ行列から漸近標準誤差（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ASE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）と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Wald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型信頼区間を算出する</a:t>
            </a:r>
          </a:p>
        </p:txBody>
      </p:sp>
    </p:spTree>
    <p:extLst>
      <p:ext uri="{BB962C8B-B14F-4D97-AF65-F5344CB8AC3E}">
        <p14:creationId xmlns:p14="http://schemas.microsoft.com/office/powerpoint/2010/main" val="285962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F3F6-011E-359A-3E8C-306F208A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82F90A-EDCD-8B1C-CF00-E23D0DF4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5.8 TMB</a:t>
            </a:r>
            <a:r>
              <a:rPr kumimoji="1" lang="ja-JP" altLang="en-US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による最尤分析 </a:t>
            </a:r>
            <a:b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(Likelihood analysis with TMB)</a:t>
            </a:r>
            <a:endParaRPr kumimoji="1" lang="ja-JP" altLang="en-US" sz="36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2F3826-30AA-1DA3-432D-9CD68E5BB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80" y="1825625"/>
            <a:ext cx="11107220" cy="4351338"/>
          </a:xfrm>
        </p:spPr>
        <p:txBody>
          <a:bodyPr/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C++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で負の対数尤度を記述。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自動微分（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AD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）機能を活用し、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ADREPORT 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を用いて派生パラメータや対数スケールからの復元（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exp(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logσ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)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）に対する標準誤差を自動計算させる。 </a:t>
            </a:r>
          </a:p>
        </p:txBody>
      </p:sp>
    </p:spTree>
    <p:extLst>
      <p:ext uri="{BB962C8B-B14F-4D97-AF65-F5344CB8AC3E}">
        <p14:creationId xmlns:p14="http://schemas.microsoft.com/office/powerpoint/2010/main" val="358448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F122-3760-8629-5888-9007EE78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26D12-931A-88BA-87FF-23C688F3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0372"/>
          </a:xfrm>
        </p:spPr>
        <p:txBody>
          <a:bodyPr>
            <a:normAutofit fontScale="90000"/>
          </a:bodyPr>
          <a:lstStyle/>
          <a:p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5.9 </a:t>
            </a:r>
            <a:r>
              <a:rPr kumimoji="1"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パラメータ推定値の比較</a:t>
            </a:r>
            <a:b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2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(Comparison of the parameter estimates)</a:t>
            </a:r>
            <a:endParaRPr kumimoji="1" lang="ja-JP" altLang="en-US" sz="32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6091ED-4EE0-9C13-F151-FEF120222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平均のパラメータ（切片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α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、傾き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β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）はすべてのエンジンでほぼ完全に一致する。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一方、分散パラメータ 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σ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については、サンプルサイズが小さい（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n=16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）場合、最小二乗法（</a:t>
            </a:r>
            <a:r>
              <a:rPr kumimoji="1" lang="en-US" altLang="ja-JP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lm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()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、自由度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14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で割る）と最尤法（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MLE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、サンプルサイズ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16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で割る）で小サンプルバイアスによる差異が生じる。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ベイズエンジン間の微小な差は事前分布の影響（データの情報が弱い場合）によるものである。</a:t>
            </a:r>
          </a:p>
        </p:txBody>
      </p:sp>
    </p:spTree>
    <p:extLst>
      <p:ext uri="{BB962C8B-B14F-4D97-AF65-F5344CB8AC3E}">
        <p14:creationId xmlns:p14="http://schemas.microsoft.com/office/powerpoint/2010/main" val="135450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EA7B-E5CE-34DD-4DF6-1B72754C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A0A8D-5C2E-E3DE-EB0F-9C81FB41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9823"/>
          </a:xfrm>
        </p:spPr>
        <p:txBody>
          <a:bodyPr>
            <a:normAutofit fontScale="90000"/>
          </a:bodyPr>
          <a:lstStyle/>
          <a:p>
            <a: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5.10 </a:t>
            </a:r>
            <a:r>
              <a:rPr kumimoji="1" lang="ja-JP" altLang="en-US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まとめと展望 </a:t>
            </a:r>
            <a:b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en-US" altLang="ja-JP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(Summary and outlook)</a:t>
            </a:r>
            <a:endParaRPr kumimoji="1" lang="ja-JP" altLang="en-US" sz="36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3D7F9D-5306-8CA6-8A4D-53E7F5D01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種類の区間（信頼区間、信用区間、予測区間）の違い、および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MCMC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における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PPC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の有用性を再確認。   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本章の単回帰モデルは、共変量を追加（</a:t>
            </a: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β</a:t>
            </a:r>
            <a:r>
              <a:rPr kumimoji="1" lang="en-US" altLang="ja-JP" baseline="-25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x</a:t>
            </a:r>
            <a:r>
              <a:rPr kumimoji="1" lang="en-US" altLang="ja-JP" baseline="-25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2,i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など）することで容易に重回帰モデルへ拡張可能である。</a:t>
            </a:r>
          </a:p>
        </p:txBody>
      </p:sp>
    </p:spTree>
    <p:extLst>
      <p:ext uri="{BB962C8B-B14F-4D97-AF65-F5344CB8AC3E}">
        <p14:creationId xmlns:p14="http://schemas.microsoft.com/office/powerpoint/2010/main" val="632246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6C8D-B749-99D9-7480-FE573E74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206C9-9D61-2384-6097-2F69DDEB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B13D5E-8F24-9BEF-491B-A63FBA6A9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0011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1CA9-D55A-AB72-F797-609CC59C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10A56-EFF4-EA2F-EC4D-D45A60FF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931E10-F696-91DC-D270-DC3BF1C1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312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1182</Words>
  <Application>Microsoft Office PowerPoint</Application>
  <PresentationFormat>ワイド画面</PresentationFormat>
  <Paragraphs>59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UDゴシック</vt:lpstr>
      <vt:lpstr>游ゴシック</vt:lpstr>
      <vt:lpstr>游ゴシック Light</vt:lpstr>
      <vt:lpstr>Aptos</vt:lpstr>
      <vt:lpstr>Arial</vt:lpstr>
      <vt:lpstr>Office テーマ</vt:lpstr>
      <vt:lpstr>Applied Statistical Modelling for Ecologists  ASME</vt:lpstr>
      <vt:lpstr>5.1 導入 (Introduction)</vt:lpstr>
      <vt:lpstr>5.2 データの生成 (Data generation)</vt:lpstr>
      <vt:lpstr>5.3 Rの標準関数による分析  (Analysis with canned functions in R)</vt:lpstr>
      <vt:lpstr>5.4 JAGSによるベイズ分析  (Bayesian analysis with JAGS)</vt:lpstr>
      <vt:lpstr>5.5 NIMBLEによるベイズ分析  (Bayesian analysis with NIMBLE) 5.6 Stanによるベイズ分析  (Bayesian analysis with Stan)</vt:lpstr>
      <vt:lpstr>5.7 DIYによる最尤推定  (Do-it-yourself maximum likelihood estimates)</vt:lpstr>
      <vt:lpstr>5.8 TMBによる最尤分析  (Likelihood analysis with TMB)</vt:lpstr>
      <vt:lpstr>5.9 パラメータ推定値の比較 (Comparison of the parameter estimates)</vt:lpstr>
      <vt:lpstr>5.10 まとめと展望  (Summary and outlook)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大下　誠二</dc:creator>
  <cp:lastModifiedBy>誠二 大下</cp:lastModifiedBy>
  <cp:revision>8</cp:revision>
  <dcterms:created xsi:type="dcterms:W3CDTF">2026-10-06T23:13:34Z</dcterms:created>
  <dcterms:modified xsi:type="dcterms:W3CDTF">2026-10-12T12:27:28Z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7f20da-a1a1-4a35-a6a7-15fbbc2fd93a_Enabled">
    <vt:lpwstr>true</vt:lpwstr>
  </property>
  <property fmtid="{D5CDD505-2E9C-101B-9397-08002B2CF9AE}" pid="3" name="MSIP_Label_2a7f20da-a1a1-4a35-a6a7-15fbbc2fd93a_SetDate">
    <vt:lpwstr>2026-10-06T23:15:09Z</vt:lpwstr>
  </property>
  <property fmtid="{D5CDD505-2E9C-101B-9397-08002B2CF9AE}" pid="4" name="MSIP_Label_2a7f20da-a1a1-4a35-a6a7-15fbbc2fd93a_Method">
    <vt:lpwstr>Standard</vt:lpwstr>
  </property>
  <property fmtid="{D5CDD505-2E9C-101B-9397-08002B2CF9AE}" pid="5" name="MSIP_Label_2a7f20da-a1a1-4a35-a6a7-15fbbc2fd93a_Name">
    <vt:lpwstr>機密性２情報</vt:lpwstr>
  </property>
  <property fmtid="{D5CDD505-2E9C-101B-9397-08002B2CF9AE}" pid="6" name="MSIP_Label_2a7f20da-a1a1-4a35-a6a7-15fbbc2fd93a_SiteId">
    <vt:lpwstr>b4a530b7-04dc-4923-a02e-b4eaa332ba4a</vt:lpwstr>
  </property>
  <property fmtid="{D5CDD505-2E9C-101B-9397-08002B2CF9AE}" pid="7" name="MSIP_Label_2a7f20da-a1a1-4a35-a6a7-15fbbc2fd93a_ActionId">
    <vt:lpwstr>1d969f6b-a62f-407a-9855-5580c37b838a</vt:lpwstr>
  </property>
  <property fmtid="{D5CDD505-2E9C-101B-9397-08002B2CF9AE}" pid="8" name="MSIP_Label_2a7f20da-a1a1-4a35-a6a7-15fbbc2fd93a_ContentBits">
    <vt:lpwstr>1</vt:lpwstr>
  </property>
  <property fmtid="{D5CDD505-2E9C-101B-9397-08002B2CF9AE}" pid="9" name="MSIP_Label_2a7f20da-a1a1-4a35-a6a7-15fbbc2fd93a_Tag">
    <vt:lpwstr>10, 3, 0, 1</vt:lpwstr>
  </property>
  <property fmtid="{D5CDD505-2E9C-101B-9397-08002B2CF9AE}" pid="10" name="ClassificationContentMarkingHeaderLocations">
    <vt:lpwstr>Office テーマ:8</vt:lpwstr>
  </property>
  <property fmtid="{D5CDD505-2E9C-101B-9397-08002B2CF9AE}" pid="11" name="ClassificationContentMarkingHeaderText">
    <vt:lpwstr>【機密性2情報】</vt:lpwstr>
  </property>
</Properties>
</file>