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62" d="100"/>
          <a:sy n="62" d="100"/>
        </p:scale>
        <p:origin x="828" y="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BCC6D3B-DE21-6EAC-5D2A-634944F25A91}"/>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B8DDC94E-0A8A-02B3-86B8-67F8AB4ADD2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A5902414-41A8-14CF-CA4C-0BC7A1F22091}"/>
              </a:ext>
            </a:extLst>
          </p:cNvPr>
          <p:cNvSpPr>
            <a:spLocks noGrp="1"/>
          </p:cNvSpPr>
          <p:nvPr>
            <p:ph type="dt" sz="half" idx="10"/>
          </p:nvPr>
        </p:nvSpPr>
        <p:spPr/>
        <p:txBody>
          <a:bodyPr/>
          <a:lstStyle/>
          <a:p>
            <a:fld id="{337D95D0-8BB4-41AF-BC7D-0DD2CBA9C5B7}" type="datetimeFigureOut">
              <a:rPr kumimoji="1" lang="ja-JP" altLang="en-US" smtClean="0"/>
              <a:t>2026/10/14</a:t>
            </a:fld>
            <a:endParaRPr kumimoji="1" lang="ja-JP" altLang="en-US"/>
          </a:p>
        </p:txBody>
      </p:sp>
      <p:sp>
        <p:nvSpPr>
          <p:cNvPr id="5" name="フッター プレースホルダー 4">
            <a:extLst>
              <a:ext uri="{FF2B5EF4-FFF2-40B4-BE49-F238E27FC236}">
                <a16:creationId xmlns:a16="http://schemas.microsoft.com/office/drawing/2014/main" id="{2965CCE0-646D-510B-5E1A-E6FC3DA4EB8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140ADAA-BA7B-D393-C571-9BB8D5EDA367}"/>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316943739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6F689CA-809D-EC2E-F42D-51DA21E10E8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C71E619-DDD1-A880-251B-8618138E4D47}"/>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A54BE2D-F637-3F7F-C2EE-4AF004B18FED}"/>
              </a:ext>
            </a:extLst>
          </p:cNvPr>
          <p:cNvSpPr>
            <a:spLocks noGrp="1"/>
          </p:cNvSpPr>
          <p:nvPr>
            <p:ph type="dt" sz="half" idx="10"/>
          </p:nvPr>
        </p:nvSpPr>
        <p:spPr/>
        <p:txBody>
          <a:bodyPr/>
          <a:lstStyle/>
          <a:p>
            <a:fld id="{337D95D0-8BB4-41AF-BC7D-0DD2CBA9C5B7}" type="datetimeFigureOut">
              <a:rPr kumimoji="1" lang="ja-JP" altLang="en-US" smtClean="0"/>
              <a:t>2026/10/14</a:t>
            </a:fld>
            <a:endParaRPr kumimoji="1" lang="ja-JP" altLang="en-US"/>
          </a:p>
        </p:txBody>
      </p:sp>
      <p:sp>
        <p:nvSpPr>
          <p:cNvPr id="5" name="フッター プレースホルダー 4">
            <a:extLst>
              <a:ext uri="{FF2B5EF4-FFF2-40B4-BE49-F238E27FC236}">
                <a16:creationId xmlns:a16="http://schemas.microsoft.com/office/drawing/2014/main" id="{8F5F4E32-7EBC-9328-50AA-01278180512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AE21E142-AEAB-CBC9-6AA7-02191D3E27F2}"/>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22597035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346BE4B-4A35-1360-8BC3-620E0FEA0ABB}"/>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DDCE3DD8-BADC-F81E-FD4F-6F5C3A752CA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9E403AC6-230A-A712-8397-57460796F17E}"/>
              </a:ext>
            </a:extLst>
          </p:cNvPr>
          <p:cNvSpPr>
            <a:spLocks noGrp="1"/>
          </p:cNvSpPr>
          <p:nvPr>
            <p:ph type="dt" sz="half" idx="10"/>
          </p:nvPr>
        </p:nvSpPr>
        <p:spPr/>
        <p:txBody>
          <a:bodyPr/>
          <a:lstStyle/>
          <a:p>
            <a:fld id="{337D95D0-8BB4-41AF-BC7D-0DD2CBA9C5B7}" type="datetimeFigureOut">
              <a:rPr kumimoji="1" lang="ja-JP" altLang="en-US" smtClean="0"/>
              <a:t>2026/10/14</a:t>
            </a:fld>
            <a:endParaRPr kumimoji="1" lang="ja-JP" altLang="en-US"/>
          </a:p>
        </p:txBody>
      </p:sp>
      <p:sp>
        <p:nvSpPr>
          <p:cNvPr id="5" name="フッター プレースホルダー 4">
            <a:extLst>
              <a:ext uri="{FF2B5EF4-FFF2-40B4-BE49-F238E27FC236}">
                <a16:creationId xmlns:a16="http://schemas.microsoft.com/office/drawing/2014/main" id="{5A509A3C-BD45-2301-A19A-D8F47DE0410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62B8E95-19B8-562A-195E-B97CAB19F14E}"/>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14415420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6C3CF66-0CE0-9770-4B3D-EDE4BF22CF5A}"/>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32430839-DC72-6840-7135-880B6F3318EF}"/>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568C0A13-BC41-C2C2-254E-959725D366E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2C3FC1AD-844F-F2EB-5CD4-7ECBE986C228}"/>
              </a:ext>
            </a:extLst>
          </p:cNvPr>
          <p:cNvSpPr>
            <a:spLocks noGrp="1"/>
          </p:cNvSpPr>
          <p:nvPr>
            <p:ph type="dt" sz="half" idx="10"/>
          </p:nvPr>
        </p:nvSpPr>
        <p:spPr/>
        <p:txBody>
          <a:bodyPr/>
          <a:lstStyle/>
          <a:p>
            <a:fld id="{337D95D0-8BB4-41AF-BC7D-0DD2CBA9C5B7}" type="datetimeFigureOut">
              <a:rPr kumimoji="1" lang="ja-JP" altLang="en-US" smtClean="0"/>
              <a:t>2026/10/14</a:t>
            </a:fld>
            <a:endParaRPr kumimoji="1" lang="ja-JP" altLang="en-US"/>
          </a:p>
        </p:txBody>
      </p:sp>
      <p:sp>
        <p:nvSpPr>
          <p:cNvPr id="6" name="フッター プレースホルダー 5">
            <a:extLst>
              <a:ext uri="{FF2B5EF4-FFF2-40B4-BE49-F238E27FC236}">
                <a16:creationId xmlns:a16="http://schemas.microsoft.com/office/drawing/2014/main" id="{2DFD71B2-B10A-3189-AE8E-C8770E7B4E3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8758EB0C-CD20-EA24-3C4D-B8C7DB7A7188}"/>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183097594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1A0BD50-8C71-827A-6EC1-AF51D847CA8E}"/>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989B170-986F-C31F-825B-7EBED4BD495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1318AC9C-6C90-D8D2-6288-1D513D83EC2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D5F24543-B2CB-E027-40CC-B0FF7FE6D18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CDD201EA-DB17-A7BD-790C-13263CC2A715}"/>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C2CFFB64-C910-8328-522C-65422DC5BDC3}"/>
              </a:ext>
            </a:extLst>
          </p:cNvPr>
          <p:cNvSpPr>
            <a:spLocks noGrp="1"/>
          </p:cNvSpPr>
          <p:nvPr>
            <p:ph type="dt" sz="half" idx="10"/>
          </p:nvPr>
        </p:nvSpPr>
        <p:spPr/>
        <p:txBody>
          <a:bodyPr/>
          <a:lstStyle/>
          <a:p>
            <a:fld id="{337D95D0-8BB4-41AF-BC7D-0DD2CBA9C5B7}" type="datetimeFigureOut">
              <a:rPr kumimoji="1" lang="ja-JP" altLang="en-US" smtClean="0"/>
              <a:t>2026/10/14</a:t>
            </a:fld>
            <a:endParaRPr kumimoji="1" lang="ja-JP" altLang="en-US"/>
          </a:p>
        </p:txBody>
      </p:sp>
      <p:sp>
        <p:nvSpPr>
          <p:cNvPr id="8" name="フッター プレースホルダー 7">
            <a:extLst>
              <a:ext uri="{FF2B5EF4-FFF2-40B4-BE49-F238E27FC236}">
                <a16:creationId xmlns:a16="http://schemas.microsoft.com/office/drawing/2014/main" id="{71ACDE15-9236-F758-F8DA-AA2CE97AE8C5}"/>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93F28DB3-43AE-A9D6-2402-6609B39C3364}"/>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330002518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5505AF-A1C2-CBC5-4541-E3BBD7C6C5FE}"/>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D4C82E2D-EB7E-2F58-1D8E-DFD5E9ED666A}"/>
              </a:ext>
            </a:extLst>
          </p:cNvPr>
          <p:cNvSpPr>
            <a:spLocks noGrp="1"/>
          </p:cNvSpPr>
          <p:nvPr>
            <p:ph type="dt" sz="half" idx="10"/>
          </p:nvPr>
        </p:nvSpPr>
        <p:spPr/>
        <p:txBody>
          <a:bodyPr/>
          <a:lstStyle/>
          <a:p>
            <a:fld id="{337D95D0-8BB4-41AF-BC7D-0DD2CBA9C5B7}" type="datetimeFigureOut">
              <a:rPr kumimoji="1" lang="ja-JP" altLang="en-US" smtClean="0"/>
              <a:t>2026/10/14</a:t>
            </a:fld>
            <a:endParaRPr kumimoji="1" lang="ja-JP" altLang="en-US"/>
          </a:p>
        </p:txBody>
      </p:sp>
      <p:sp>
        <p:nvSpPr>
          <p:cNvPr id="4" name="フッター プレースホルダー 3">
            <a:extLst>
              <a:ext uri="{FF2B5EF4-FFF2-40B4-BE49-F238E27FC236}">
                <a16:creationId xmlns:a16="http://schemas.microsoft.com/office/drawing/2014/main" id="{E61517C2-9DC9-1FC7-BAA1-F079D0EBF6D5}"/>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BAB984E0-F2A7-0601-1D98-ADAABBA13D15}"/>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341202371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45A27BF-84F8-7F53-609F-4F8A70924D59}"/>
              </a:ext>
            </a:extLst>
          </p:cNvPr>
          <p:cNvSpPr>
            <a:spLocks noGrp="1"/>
          </p:cNvSpPr>
          <p:nvPr>
            <p:ph type="dt" sz="half" idx="10"/>
          </p:nvPr>
        </p:nvSpPr>
        <p:spPr/>
        <p:txBody>
          <a:bodyPr/>
          <a:lstStyle/>
          <a:p>
            <a:fld id="{337D95D0-8BB4-41AF-BC7D-0DD2CBA9C5B7}" type="datetimeFigureOut">
              <a:rPr kumimoji="1" lang="ja-JP" altLang="en-US" smtClean="0"/>
              <a:t>2026/10/14</a:t>
            </a:fld>
            <a:endParaRPr kumimoji="1" lang="ja-JP" altLang="en-US"/>
          </a:p>
        </p:txBody>
      </p:sp>
      <p:sp>
        <p:nvSpPr>
          <p:cNvPr id="3" name="フッター プレースホルダー 2">
            <a:extLst>
              <a:ext uri="{FF2B5EF4-FFF2-40B4-BE49-F238E27FC236}">
                <a16:creationId xmlns:a16="http://schemas.microsoft.com/office/drawing/2014/main" id="{7BC85232-C11B-8E0B-2796-3620AB78825E}"/>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F163503A-3C58-B141-4C18-B8662B7A5727}"/>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6714849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EFBC3C-7162-359A-EF01-13661AD82675}"/>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7354480-09EF-2E42-E3FE-EF8ED81B70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C0E653F2-221C-99A3-C1B8-DB77BEAFB6B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3090D2D9-092D-0C41-9CE2-7C104E31D310}"/>
              </a:ext>
            </a:extLst>
          </p:cNvPr>
          <p:cNvSpPr>
            <a:spLocks noGrp="1"/>
          </p:cNvSpPr>
          <p:nvPr>
            <p:ph type="dt" sz="half" idx="10"/>
          </p:nvPr>
        </p:nvSpPr>
        <p:spPr/>
        <p:txBody>
          <a:bodyPr/>
          <a:lstStyle/>
          <a:p>
            <a:fld id="{337D95D0-8BB4-41AF-BC7D-0DD2CBA9C5B7}" type="datetimeFigureOut">
              <a:rPr kumimoji="1" lang="ja-JP" altLang="en-US" smtClean="0"/>
              <a:t>2026/10/14</a:t>
            </a:fld>
            <a:endParaRPr kumimoji="1" lang="ja-JP" altLang="en-US"/>
          </a:p>
        </p:txBody>
      </p:sp>
      <p:sp>
        <p:nvSpPr>
          <p:cNvPr id="6" name="フッター プレースホルダー 5">
            <a:extLst>
              <a:ext uri="{FF2B5EF4-FFF2-40B4-BE49-F238E27FC236}">
                <a16:creationId xmlns:a16="http://schemas.microsoft.com/office/drawing/2014/main" id="{46BD2603-912B-32D5-C64F-36FC10DE3376}"/>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D239B87-DEE4-474D-D6A6-40621140231E}"/>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27273513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52B2CF-351C-10E8-9400-DFE83250F34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E40F68A4-4F5F-A43A-0798-CFFCB204EE9D}"/>
              </a:ext>
            </a:extLst>
          </p:cNvPr>
          <p:cNvSpPr>
            <a:spLocks noGrp="1" noChangeAspect="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A97CF935-3E83-2100-57AC-CD42FE903F4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5ECA0EA-9447-A015-BEC4-F179CFB34C5A}"/>
              </a:ext>
            </a:extLst>
          </p:cNvPr>
          <p:cNvSpPr>
            <a:spLocks noGrp="1"/>
          </p:cNvSpPr>
          <p:nvPr>
            <p:ph type="dt" sz="half" idx="10"/>
          </p:nvPr>
        </p:nvSpPr>
        <p:spPr/>
        <p:txBody>
          <a:bodyPr/>
          <a:lstStyle/>
          <a:p>
            <a:fld id="{337D95D0-8BB4-41AF-BC7D-0DD2CBA9C5B7}" type="datetimeFigureOut">
              <a:rPr kumimoji="1" lang="ja-JP" altLang="en-US" smtClean="0"/>
              <a:t>2026/10/14</a:t>
            </a:fld>
            <a:endParaRPr kumimoji="1" lang="ja-JP" altLang="en-US"/>
          </a:p>
        </p:txBody>
      </p:sp>
      <p:sp>
        <p:nvSpPr>
          <p:cNvPr id="6" name="フッター プレースホルダー 5">
            <a:extLst>
              <a:ext uri="{FF2B5EF4-FFF2-40B4-BE49-F238E27FC236}">
                <a16:creationId xmlns:a16="http://schemas.microsoft.com/office/drawing/2014/main" id="{D1D4A49E-132A-9075-B13E-0F9CF0F0712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12D7FD69-1261-377E-B2E9-4FAC302B1E88}"/>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30705535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EE86154-6B32-9FA7-AC64-0401BBA865BA}"/>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5F18E00B-875E-22FB-0F3E-C86D394A8E10}"/>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F5EC8F4-56D4-7835-4D70-10A949B38340}"/>
              </a:ext>
            </a:extLst>
          </p:cNvPr>
          <p:cNvSpPr>
            <a:spLocks noGrp="1"/>
          </p:cNvSpPr>
          <p:nvPr>
            <p:ph type="dt" sz="half" idx="10"/>
          </p:nvPr>
        </p:nvSpPr>
        <p:spPr/>
        <p:txBody>
          <a:bodyPr/>
          <a:lstStyle/>
          <a:p>
            <a:fld id="{337D95D0-8BB4-41AF-BC7D-0DD2CBA9C5B7}" type="datetimeFigureOut">
              <a:rPr kumimoji="1" lang="ja-JP" altLang="en-US" smtClean="0"/>
              <a:t>2026/10/14</a:t>
            </a:fld>
            <a:endParaRPr kumimoji="1" lang="ja-JP" altLang="en-US"/>
          </a:p>
        </p:txBody>
      </p:sp>
      <p:sp>
        <p:nvSpPr>
          <p:cNvPr id="5" name="フッター プレースホルダー 4">
            <a:extLst>
              <a:ext uri="{FF2B5EF4-FFF2-40B4-BE49-F238E27FC236}">
                <a16:creationId xmlns:a16="http://schemas.microsoft.com/office/drawing/2014/main" id="{5B721F0E-8EB6-74D5-90A2-DBF52A69428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23BE141-607E-04CC-8BC3-3BE43A0D6E97}"/>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242602622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5F714B61-1775-8DD8-7529-027DE6E9F247}"/>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FB42191-A290-F301-F947-9D924AF33ECB}"/>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13FE194-4488-3B20-9F7D-BD0FC38CEE67}"/>
              </a:ext>
            </a:extLst>
          </p:cNvPr>
          <p:cNvSpPr>
            <a:spLocks noGrp="1"/>
          </p:cNvSpPr>
          <p:nvPr>
            <p:ph type="dt" sz="half" idx="10"/>
          </p:nvPr>
        </p:nvSpPr>
        <p:spPr/>
        <p:txBody>
          <a:bodyPr/>
          <a:lstStyle/>
          <a:p>
            <a:fld id="{337D95D0-8BB4-41AF-BC7D-0DD2CBA9C5B7}" type="datetimeFigureOut">
              <a:rPr kumimoji="1" lang="ja-JP" altLang="en-US" smtClean="0"/>
              <a:t>2026/10/14</a:t>
            </a:fld>
            <a:endParaRPr kumimoji="1" lang="ja-JP" altLang="en-US"/>
          </a:p>
        </p:txBody>
      </p:sp>
      <p:sp>
        <p:nvSpPr>
          <p:cNvPr id="5" name="フッター プレースホルダー 4">
            <a:extLst>
              <a:ext uri="{FF2B5EF4-FFF2-40B4-BE49-F238E27FC236}">
                <a16:creationId xmlns:a16="http://schemas.microsoft.com/office/drawing/2014/main" id="{2F66573A-78EB-526D-3D9C-70CC93A6393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01D1A8A-E8E3-CA69-39C9-1A2CCBC63F5F}"/>
              </a:ext>
            </a:extLst>
          </p:cNvPr>
          <p:cNvSpPr>
            <a:spLocks noGrp="1"/>
          </p:cNvSpPr>
          <p:nvPr>
            <p:ph type="sldNum" sz="quarter" idx="12"/>
          </p:nvPr>
        </p:nvSpPr>
        <p:spPr/>
        <p:txBody>
          <a:bodyPr/>
          <a:lstStyle/>
          <a:p>
            <a:fld id="{FCC072CE-95FA-40FE-BC99-878DBE9A4B81}" type="slidenum">
              <a:rPr kumimoji="1" lang="ja-JP" altLang="en-US" smtClean="0"/>
              <a:t>‹#›</a:t>
            </a:fld>
            <a:endParaRPr kumimoji="1" lang="ja-JP" altLang="en-US"/>
          </a:p>
        </p:txBody>
      </p:sp>
    </p:spTree>
    <p:extLst>
      <p:ext uri="{BB962C8B-B14F-4D97-AF65-F5344CB8AC3E}">
        <p14:creationId xmlns:p14="http://schemas.microsoft.com/office/powerpoint/2010/main" val="117336663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204F7D86-38D1-B73A-6E09-30D6926308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92B2C88-8058-D973-C51F-094C1EB448B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441471AE-E4DB-F7BA-533C-DF217BD2FA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37D95D0-8BB4-41AF-BC7D-0DD2CBA9C5B7}" type="datetimeFigureOut">
              <a:rPr kumimoji="1" lang="ja-JP" altLang="en-US" smtClean="0"/>
              <a:t>2026/10/14</a:t>
            </a:fld>
            <a:endParaRPr kumimoji="1" lang="ja-JP" altLang="en-US"/>
          </a:p>
        </p:txBody>
      </p:sp>
      <p:sp>
        <p:nvSpPr>
          <p:cNvPr id="5" name="フッター プレースホルダー 4">
            <a:extLst>
              <a:ext uri="{FF2B5EF4-FFF2-40B4-BE49-F238E27FC236}">
                <a16:creationId xmlns:a16="http://schemas.microsoft.com/office/drawing/2014/main" id="{53AFA1C1-1EF2-D9E0-5A4C-B9A1EA0D630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C128741D-5005-70D2-EB07-8383A143C0F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FCC072CE-95FA-40FE-BC99-878DBE9A4B81}" type="slidenum">
              <a:rPr kumimoji="1" lang="ja-JP" altLang="en-US" smtClean="0"/>
              <a:t>‹#›</a:t>
            </a:fld>
            <a:endParaRPr kumimoji="1" lang="ja-JP" altLang="en-US"/>
          </a:p>
        </p:txBody>
      </p:sp>
      <p:sp>
        <p:nvSpPr>
          <p:cNvPr id="8" name="テキスト ボックス 7">
            <a:extLst>
              <a:ext uri="{FF2B5EF4-FFF2-40B4-BE49-F238E27FC236}">
                <a16:creationId xmlns:a16="http://schemas.microsoft.com/office/drawing/2014/main" id="{48E4CB5C-2952-02E4-ED93-80C2AC616E36}"/>
              </a:ext>
            </a:extLst>
          </p:cNvPr>
          <p:cNvSpPr txBox="1"/>
          <p:nvPr userDrawn="1">
            <p:extLst>
              <p:ext uri="{1162E1C5-73C7-4A58-AE30-91384D911F3F}">
                <p184:classification xmlns:p184="http://schemas.microsoft.com/office/powerpoint/2018/4/main" val="hdr"/>
              </p:ext>
            </p:extLst>
          </p:nvPr>
        </p:nvSpPr>
        <p:spPr>
          <a:xfrm>
            <a:off x="63500" y="63500"/>
            <a:ext cx="982663" cy="152400"/>
          </a:xfrm>
          <a:prstGeom prst="rect">
            <a:avLst/>
          </a:prstGeom>
        </p:spPr>
        <p:txBody>
          <a:bodyPr horzOverflow="overflow" lIns="0" tIns="0" rIns="0" bIns="0">
            <a:spAutoFit/>
          </a:bodyPr>
          <a:lstStyle/>
          <a:p>
            <a:pPr algn="l"/>
            <a:r>
              <a:rPr lang="ja-JP" altLang="en-US" sz="1000">
                <a:solidFill>
                  <a:srgbClr val="000000">
                    <a:alpha val="50000"/>
                  </a:srgbClr>
                </a:solidFill>
                <a:latin typeface="Aptos" panose="020B0004020202020204" pitchFamily="34" charset="0"/>
              </a:rPr>
              <a:t>【機密性2情報】</a:t>
            </a:r>
          </a:p>
        </p:txBody>
      </p:sp>
    </p:spTree>
    <p:extLst>
      <p:ext uri="{BB962C8B-B14F-4D97-AF65-F5344CB8AC3E}">
        <p14:creationId xmlns:p14="http://schemas.microsoft.com/office/powerpoint/2010/main" val="9982488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C764D44-28CF-2DE7-A261-FFD1DB5A5A0A}"/>
              </a:ext>
            </a:extLst>
          </p:cNvPr>
          <p:cNvSpPr>
            <a:spLocks noGrp="1"/>
          </p:cNvSpPr>
          <p:nvPr>
            <p:ph type="ctrTitle"/>
          </p:nvPr>
        </p:nvSpPr>
        <p:spPr>
          <a:xfrm>
            <a:off x="1524000" y="1145309"/>
            <a:ext cx="9144000" cy="2364654"/>
          </a:xfrm>
        </p:spPr>
        <p:txBody>
          <a:bodyPr>
            <a:normAutofit/>
          </a:bodyPr>
          <a:lstStyle/>
          <a:p>
            <a:r>
              <a:rPr kumimoji="1" lang="en-US" altLang="ja-JP" sz="3600" dirty="0">
                <a:latin typeface="BIZ UDゴシック" panose="020B0400000000000000" pitchFamily="49" charset="-128"/>
                <a:ea typeface="BIZ UDゴシック" panose="020B0400000000000000" pitchFamily="49" charset="-128"/>
              </a:rPr>
              <a:t>Applied Statistical Modelling for Ecologists</a:t>
            </a:r>
            <a:br>
              <a:rPr kumimoji="1" lang="en-US" altLang="ja-JP" sz="3600" dirty="0">
                <a:latin typeface="BIZ UDゴシック" panose="020B0400000000000000" pitchFamily="49" charset="-128"/>
                <a:ea typeface="BIZ UDゴシック" panose="020B0400000000000000" pitchFamily="49" charset="-128"/>
              </a:rPr>
            </a:br>
            <a:br>
              <a:rPr kumimoji="1" lang="en-US" altLang="ja-JP" sz="3600" dirty="0">
                <a:latin typeface="BIZ UDゴシック" panose="020B0400000000000000" pitchFamily="49" charset="-128"/>
                <a:ea typeface="BIZ UDゴシック" panose="020B0400000000000000" pitchFamily="49" charset="-128"/>
              </a:rPr>
            </a:br>
            <a:r>
              <a:rPr kumimoji="1" lang="en-US" altLang="ja-JP" sz="3600" dirty="0">
                <a:latin typeface="BIZ UDゴシック" panose="020B0400000000000000" pitchFamily="49" charset="-128"/>
                <a:ea typeface="BIZ UDゴシック" panose="020B0400000000000000" pitchFamily="49" charset="-128"/>
              </a:rPr>
              <a:t>ASME</a:t>
            </a:r>
            <a:endParaRPr kumimoji="1" lang="ja-JP" altLang="en-US" sz="3600" dirty="0">
              <a:latin typeface="BIZ UDゴシック" panose="020B0400000000000000" pitchFamily="49" charset="-128"/>
              <a:ea typeface="BIZ UDゴシック" panose="020B0400000000000000" pitchFamily="49" charset="-128"/>
            </a:endParaRPr>
          </a:p>
        </p:txBody>
      </p:sp>
      <p:sp>
        <p:nvSpPr>
          <p:cNvPr id="3" name="字幕 2">
            <a:extLst>
              <a:ext uri="{FF2B5EF4-FFF2-40B4-BE49-F238E27FC236}">
                <a16:creationId xmlns:a16="http://schemas.microsoft.com/office/drawing/2014/main" id="{0EC5D841-2E60-B1EB-3102-76804FA3912E}"/>
              </a:ext>
            </a:extLst>
          </p:cNvPr>
          <p:cNvSpPr>
            <a:spLocks noGrp="1"/>
          </p:cNvSpPr>
          <p:nvPr>
            <p:ph type="subTitle" idx="1"/>
          </p:nvPr>
        </p:nvSpPr>
        <p:spPr>
          <a:xfrm>
            <a:off x="1524000" y="4655272"/>
            <a:ext cx="9144000" cy="1655762"/>
          </a:xfrm>
        </p:spPr>
        <p:txBody>
          <a:bodyPr/>
          <a:lstStyle/>
          <a:p>
            <a:r>
              <a:rPr lang="en-US" altLang="ja-JP" dirty="0">
                <a:latin typeface="BIZ UDゴシック" panose="020B0400000000000000" pitchFamily="49" charset="-128"/>
                <a:ea typeface="BIZ UDゴシック" panose="020B0400000000000000" pitchFamily="49" charset="-128"/>
              </a:rPr>
              <a:t>Chapter 6</a:t>
            </a:r>
          </a:p>
          <a:p>
            <a:r>
              <a:rPr kumimoji="1" lang="ja-JP" altLang="en-US" dirty="0">
                <a:latin typeface="BIZ UDゴシック" panose="020B0400000000000000" pitchFamily="49" charset="-128"/>
                <a:ea typeface="BIZ UDゴシック" panose="020B0400000000000000" pitchFamily="49" charset="-128"/>
              </a:rPr>
              <a:t>正規モデルにおける</a:t>
            </a:r>
            <a:r>
              <a:rPr kumimoji="1" lang="en-US" altLang="ja-JP" dirty="0">
                <a:latin typeface="BIZ UDゴシック" panose="020B0400000000000000" pitchFamily="49" charset="-128"/>
                <a:ea typeface="BIZ UDゴシック" panose="020B0400000000000000" pitchFamily="49" charset="-128"/>
              </a:rPr>
              <a:t>2</a:t>
            </a:r>
            <a:r>
              <a:rPr kumimoji="1" lang="ja-JP" altLang="en-US" dirty="0">
                <a:latin typeface="BIZ UDゴシック" panose="020B0400000000000000" pitchFamily="49" charset="-128"/>
                <a:ea typeface="BIZ UDゴシック" panose="020B0400000000000000" pitchFamily="49" charset="-128"/>
              </a:rPr>
              <a:t>グループの比較 </a:t>
            </a:r>
            <a:endParaRPr kumimoji="1" lang="en-US" altLang="ja-JP" dirty="0">
              <a:latin typeface="BIZ UDゴシック" panose="020B0400000000000000" pitchFamily="49" charset="-128"/>
              <a:ea typeface="BIZ UDゴシック" panose="020B0400000000000000" pitchFamily="49" charset="-128"/>
            </a:endParaRPr>
          </a:p>
          <a:p>
            <a:r>
              <a:rPr kumimoji="1" lang="en-US" altLang="ja-JP" dirty="0">
                <a:latin typeface="BIZ UDゴシック" panose="020B0400000000000000" pitchFamily="49" charset="-128"/>
                <a:ea typeface="BIZ UDゴシック" panose="020B0400000000000000" pitchFamily="49" charset="-128"/>
              </a:rPr>
              <a:t>(Comparing two groups in a normal model)</a:t>
            </a:r>
            <a:endParaRPr kumimoji="1" lang="ja-JP" altLang="en-US" dirty="0">
              <a:latin typeface="BIZ UDゴシック" panose="020B0400000000000000" pitchFamily="49" charset="-128"/>
              <a:ea typeface="BIZ UDゴシック" panose="020B0400000000000000" pitchFamily="49" charset="-128"/>
            </a:endParaRPr>
          </a:p>
        </p:txBody>
      </p:sp>
      <p:pic>
        <p:nvPicPr>
          <p:cNvPr id="5" name="図 4">
            <a:extLst>
              <a:ext uri="{FF2B5EF4-FFF2-40B4-BE49-F238E27FC236}">
                <a16:creationId xmlns:a16="http://schemas.microsoft.com/office/drawing/2014/main" id="{06258DCC-7C73-D7EC-17A6-3E90AB75A127}"/>
              </a:ext>
            </a:extLst>
          </p:cNvPr>
          <p:cNvPicPr>
            <a:picLocks noChangeAspect="1"/>
          </p:cNvPicPr>
          <p:nvPr/>
        </p:nvPicPr>
        <p:blipFill>
          <a:blip r:embed="rId2"/>
          <a:stretch>
            <a:fillRect/>
          </a:stretch>
        </p:blipFill>
        <p:spPr>
          <a:xfrm>
            <a:off x="0" y="0"/>
            <a:ext cx="2309523" cy="2833771"/>
          </a:xfrm>
          <a:prstGeom prst="rect">
            <a:avLst/>
          </a:prstGeom>
        </p:spPr>
      </p:pic>
    </p:spTree>
    <p:extLst>
      <p:ext uri="{BB962C8B-B14F-4D97-AF65-F5344CB8AC3E}">
        <p14:creationId xmlns:p14="http://schemas.microsoft.com/office/powerpoint/2010/main" val="100606496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E3216D2-B67B-D61D-06B1-BEA1B6621244}"/>
              </a:ext>
            </a:extLst>
          </p:cNvPr>
          <p:cNvSpPr>
            <a:spLocks noGrp="1"/>
          </p:cNvSpPr>
          <p:nvPr>
            <p:ph type="title"/>
          </p:nvPr>
        </p:nvSpPr>
        <p:spPr>
          <a:xfrm>
            <a:off x="838200" y="365125"/>
            <a:ext cx="10515600" cy="169131"/>
          </a:xfrm>
        </p:spPr>
        <p:txBody>
          <a:bodyPr>
            <a:normAutofit fontScale="90000"/>
          </a:bodyPr>
          <a:lstStyle/>
          <a:p>
            <a:r>
              <a:rPr kumimoji="1" lang="en-US" altLang="ja-JP" dirty="0">
                <a:latin typeface="BIZ UDゴシック" panose="020B0400000000000000" pitchFamily="49" charset="-128"/>
                <a:ea typeface="BIZ UDゴシック" panose="020B0400000000000000" pitchFamily="49" charset="-128"/>
              </a:rPr>
              <a:t>6.1 </a:t>
            </a:r>
            <a:r>
              <a:rPr kumimoji="1" lang="ja-JP" altLang="en-US" dirty="0">
                <a:latin typeface="BIZ UDゴシック" panose="020B0400000000000000" pitchFamily="49" charset="-128"/>
                <a:ea typeface="BIZ UDゴシック" panose="020B0400000000000000" pitchFamily="49" charset="-128"/>
              </a:rPr>
              <a:t>導入 </a:t>
            </a:r>
            <a:r>
              <a:rPr kumimoji="1" lang="en-US" altLang="ja-JP" dirty="0">
                <a:latin typeface="BIZ UDゴシック" panose="020B0400000000000000" pitchFamily="49" charset="-128"/>
                <a:ea typeface="BIZ UDゴシック" panose="020B0400000000000000" pitchFamily="49" charset="-128"/>
              </a:rPr>
              <a:t>(Introduction)</a:t>
            </a:r>
            <a:endParaRPr kumimoji="1" lang="ja-JP" altLang="en-US" dirty="0">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C24EC48E-5702-7412-08D3-54CE807181D6}"/>
              </a:ext>
            </a:extLst>
          </p:cNvPr>
          <p:cNvSpPr>
            <a:spLocks noGrp="1"/>
          </p:cNvSpPr>
          <p:nvPr>
            <p:ph idx="1"/>
          </p:nvPr>
        </p:nvSpPr>
        <p:spPr>
          <a:xfrm>
            <a:off x="318499" y="1047964"/>
            <a:ext cx="11763910" cy="5128999"/>
          </a:xfrm>
        </p:spPr>
        <p:txBody>
          <a:bodyPr/>
          <a:lstStyle/>
          <a:p>
            <a:r>
              <a:rPr kumimoji="1" lang="ja-JP" altLang="en-US" dirty="0">
                <a:latin typeface="BIZ UDゴシック" panose="020B0400000000000000" pitchFamily="49" charset="-128"/>
                <a:ea typeface="BIZ UDゴシック" panose="020B0400000000000000" pitchFamily="49" charset="-128"/>
              </a:rPr>
              <a:t>本章では、第</a:t>
            </a:r>
            <a:r>
              <a:rPr kumimoji="1" lang="en-US" altLang="ja-JP" dirty="0">
                <a:latin typeface="BIZ UDゴシック" panose="020B0400000000000000" pitchFamily="49" charset="-128"/>
                <a:ea typeface="BIZ UDゴシック" panose="020B0400000000000000" pitchFamily="49" charset="-128"/>
              </a:rPr>
              <a:t>4</a:t>
            </a:r>
            <a:r>
              <a:rPr kumimoji="1" lang="ja-JP" altLang="en-US" dirty="0">
                <a:latin typeface="BIZ UDゴシック" panose="020B0400000000000000" pitchFamily="49" charset="-128"/>
                <a:ea typeface="BIZ UDゴシック" panose="020B0400000000000000" pitchFamily="49" charset="-128"/>
              </a:rPr>
              <a:t>章の「平均のモデル」を拡張し、カテゴリ共変量（因子</a:t>
            </a:r>
            <a:r>
              <a:rPr kumimoji="1" lang="en-US" altLang="ja-JP" dirty="0">
                <a:latin typeface="BIZ UDゴシック" panose="020B0400000000000000" pitchFamily="49" charset="-128"/>
                <a:ea typeface="BIZ UDゴシック" panose="020B0400000000000000" pitchFamily="49" charset="-128"/>
              </a:rPr>
              <a:t>: Factor</a:t>
            </a:r>
            <a:r>
              <a:rPr kumimoji="1" lang="ja-JP" altLang="en-US" dirty="0">
                <a:latin typeface="BIZ UDゴシック" panose="020B0400000000000000" pitchFamily="49" charset="-128"/>
                <a:ea typeface="BIZ UDゴシック" panose="020B0400000000000000" pitchFamily="49" charset="-128"/>
              </a:rPr>
              <a:t>）を用いて</a:t>
            </a:r>
            <a:r>
              <a:rPr kumimoji="1" lang="en-US" altLang="ja-JP" dirty="0">
                <a:latin typeface="BIZ UDゴシック" panose="020B0400000000000000" pitchFamily="49" charset="-128"/>
                <a:ea typeface="BIZ UDゴシック" panose="020B0400000000000000" pitchFamily="49" charset="-128"/>
              </a:rPr>
              <a:t>2</a:t>
            </a:r>
            <a:r>
              <a:rPr kumimoji="1" lang="ja-JP" altLang="en-US" dirty="0">
                <a:latin typeface="BIZ UDゴシック" panose="020B0400000000000000" pitchFamily="49" charset="-128"/>
                <a:ea typeface="BIZ UDゴシック" panose="020B0400000000000000" pitchFamily="49" charset="-128"/>
              </a:rPr>
              <a:t>つのグループの平均（および分散）を比較するモデルを扱います。</a:t>
            </a:r>
            <a:endParaRPr kumimoji="1" lang="en-US" altLang="ja-JP" dirty="0">
              <a:latin typeface="BIZ UDゴシック" panose="020B0400000000000000" pitchFamily="49" charset="-128"/>
              <a:ea typeface="BIZ UDゴシック" panose="020B0400000000000000" pitchFamily="49" charset="-128"/>
            </a:endParaRPr>
          </a:p>
          <a:p>
            <a:endParaRPr lang="en-US" altLang="ja-JP" dirty="0">
              <a:latin typeface="BIZ UDゴシック" panose="020B0400000000000000" pitchFamily="49" charset="-128"/>
              <a:ea typeface="BIZ UDゴシック" panose="020B0400000000000000" pitchFamily="49" charset="-128"/>
            </a:endParaRPr>
          </a:p>
          <a:p>
            <a:r>
              <a:rPr kumimoji="1" lang="en-US" altLang="ja-JP" dirty="0">
                <a:latin typeface="BIZ UDゴシック" panose="020B0400000000000000" pitchFamily="49" charset="-128"/>
                <a:ea typeface="BIZ UDゴシック" panose="020B0400000000000000" pitchFamily="49" charset="-128"/>
              </a:rPr>
              <a:t>2</a:t>
            </a:r>
            <a:r>
              <a:rPr kumimoji="1" lang="ja-JP" altLang="en-US" dirty="0">
                <a:latin typeface="BIZ UDゴシック" panose="020B0400000000000000" pitchFamily="49" charset="-128"/>
                <a:ea typeface="BIZ UDゴシック" panose="020B0400000000000000" pitchFamily="49" charset="-128"/>
              </a:rPr>
              <a:t>つのグループの平均を比較する手法として、伝統的な</a:t>
            </a:r>
            <a:r>
              <a:rPr kumimoji="1" lang="en-US" altLang="ja-JP" dirty="0">
                <a:latin typeface="BIZ UDゴシック" panose="020B0400000000000000" pitchFamily="49" charset="-128"/>
                <a:ea typeface="BIZ UDゴシック" panose="020B0400000000000000" pitchFamily="49" charset="-128"/>
              </a:rPr>
              <a:t>t</a:t>
            </a:r>
            <a:r>
              <a:rPr kumimoji="1" lang="ja-JP" altLang="en-US" dirty="0">
                <a:latin typeface="BIZ UDゴシック" panose="020B0400000000000000" pitchFamily="49" charset="-128"/>
                <a:ea typeface="BIZ UDゴシック" panose="020B0400000000000000" pitchFamily="49" charset="-128"/>
              </a:rPr>
              <a:t>検定ではなく、より一般的で拡張性の高い線形モデル（</a:t>
            </a:r>
            <a:r>
              <a:rPr kumimoji="1" lang="en-US" altLang="ja-JP" dirty="0">
                <a:latin typeface="BIZ UDゴシック" panose="020B0400000000000000" pitchFamily="49" charset="-128"/>
                <a:ea typeface="BIZ UDゴシック" panose="020B0400000000000000" pitchFamily="49" charset="-128"/>
              </a:rPr>
              <a:t>Linear modeling</a:t>
            </a:r>
            <a:r>
              <a:rPr kumimoji="1" lang="ja-JP" altLang="en-US" dirty="0">
                <a:latin typeface="BIZ UDゴシック" panose="020B0400000000000000" pitchFamily="49" charset="-128"/>
                <a:ea typeface="BIZ UDゴシック" panose="020B0400000000000000" pitchFamily="49" charset="-128"/>
              </a:rPr>
              <a:t>）の枠組みで捉える。   </a:t>
            </a:r>
            <a:endParaRPr kumimoji="1" lang="en-US" altLang="ja-JP" dirty="0">
              <a:latin typeface="BIZ UDゴシック" panose="020B0400000000000000" pitchFamily="49" charset="-128"/>
              <a:ea typeface="BIZ UDゴシック" panose="020B0400000000000000" pitchFamily="49" charset="-128"/>
            </a:endParaRPr>
          </a:p>
          <a:p>
            <a:endParaRPr lang="en-US" altLang="ja-JP" dirty="0">
              <a:latin typeface="BIZ UDゴシック" panose="020B0400000000000000" pitchFamily="49" charset="-128"/>
              <a:ea typeface="BIZ UDゴシック" panose="020B0400000000000000" pitchFamily="49" charset="-128"/>
            </a:endParaRPr>
          </a:p>
          <a:p>
            <a:r>
              <a:rPr kumimoji="1" lang="ja-JP" altLang="en-US" dirty="0">
                <a:latin typeface="BIZ UDゴシック" panose="020B0400000000000000" pitchFamily="49" charset="-128"/>
                <a:ea typeface="BIZ UDゴシック" panose="020B0400000000000000" pitchFamily="49" charset="-128"/>
              </a:rPr>
              <a:t>グループ間で「分散が等しいモデル（</a:t>
            </a:r>
            <a:r>
              <a:rPr kumimoji="1" lang="en-US" altLang="ja-JP" dirty="0">
                <a:latin typeface="BIZ UDゴシック" panose="020B0400000000000000" pitchFamily="49" charset="-128"/>
                <a:ea typeface="BIZ UDゴシック" panose="020B0400000000000000" pitchFamily="49" charset="-128"/>
              </a:rPr>
              <a:t>Homogeneous</a:t>
            </a:r>
            <a:r>
              <a:rPr kumimoji="1" lang="ja-JP" altLang="en-US" dirty="0">
                <a:latin typeface="BIZ UDゴシック" panose="020B0400000000000000" pitchFamily="49" charset="-128"/>
                <a:ea typeface="BIZ UDゴシック" panose="020B0400000000000000" pitchFamily="49" charset="-128"/>
              </a:rPr>
              <a:t>）」と「分散が異なるモデル（</a:t>
            </a:r>
            <a:r>
              <a:rPr kumimoji="1" lang="en-US" altLang="ja-JP" dirty="0">
                <a:latin typeface="BIZ UDゴシック" panose="020B0400000000000000" pitchFamily="49" charset="-128"/>
                <a:ea typeface="BIZ UDゴシック" panose="020B0400000000000000" pitchFamily="49" charset="-128"/>
              </a:rPr>
              <a:t>Heterogeneous / Welch</a:t>
            </a:r>
            <a:r>
              <a:rPr kumimoji="1" lang="ja-JP" altLang="en-US" dirty="0">
                <a:latin typeface="BIZ UDゴシック" panose="020B0400000000000000" pitchFamily="49" charset="-128"/>
                <a:ea typeface="BIZ UDゴシック" panose="020B0400000000000000" pitchFamily="49" charset="-128"/>
              </a:rPr>
              <a:t>の</a:t>
            </a:r>
            <a:r>
              <a:rPr kumimoji="1" lang="en-US" altLang="ja-JP" dirty="0">
                <a:latin typeface="BIZ UDゴシック" panose="020B0400000000000000" pitchFamily="49" charset="-128"/>
                <a:ea typeface="BIZ UDゴシック" panose="020B0400000000000000" pitchFamily="49" charset="-128"/>
              </a:rPr>
              <a:t>t</a:t>
            </a:r>
            <a:r>
              <a:rPr kumimoji="1" lang="ja-JP" altLang="en-US" dirty="0">
                <a:latin typeface="BIZ UDゴシック" panose="020B0400000000000000" pitchFamily="49" charset="-128"/>
                <a:ea typeface="BIZ UDゴシック" panose="020B0400000000000000" pitchFamily="49" charset="-128"/>
              </a:rPr>
              <a:t>検定相当）」の双方を汎用エンジンで構築する。</a:t>
            </a:r>
          </a:p>
        </p:txBody>
      </p:sp>
    </p:spTree>
    <p:extLst>
      <p:ext uri="{BB962C8B-B14F-4D97-AF65-F5344CB8AC3E}">
        <p14:creationId xmlns:p14="http://schemas.microsoft.com/office/powerpoint/2010/main" val="26838818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BE8CBA-82E1-5EF9-109D-6B49ADE6130C}"/>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E1880368-FA97-560F-8BC7-31E59687AA31}"/>
              </a:ext>
            </a:extLst>
          </p:cNvPr>
          <p:cNvSpPr>
            <a:spLocks noGrp="1"/>
          </p:cNvSpPr>
          <p:nvPr>
            <p:ph type="title"/>
          </p:nvPr>
        </p:nvSpPr>
        <p:spPr>
          <a:xfrm>
            <a:off x="838200" y="365126"/>
            <a:ext cx="10515600" cy="467082"/>
          </a:xfrm>
        </p:spPr>
        <p:txBody>
          <a:bodyPr>
            <a:noAutofit/>
          </a:bodyPr>
          <a:lstStyle/>
          <a:p>
            <a:r>
              <a:rPr kumimoji="1" lang="en-US" altLang="ja-JP" sz="3200" dirty="0">
                <a:latin typeface="BIZ UDゴシック" panose="020B0400000000000000" pitchFamily="49" charset="-128"/>
                <a:ea typeface="BIZ UDゴシック" panose="020B0400000000000000" pitchFamily="49" charset="-128"/>
              </a:rPr>
              <a:t>6.2 </a:t>
            </a:r>
            <a:r>
              <a:rPr kumimoji="1" lang="ja-JP" altLang="en-US" sz="3200" dirty="0">
                <a:latin typeface="BIZ UDゴシック" panose="020B0400000000000000" pitchFamily="49" charset="-128"/>
                <a:ea typeface="BIZ UDゴシック" panose="020B0400000000000000" pitchFamily="49" charset="-128"/>
              </a:rPr>
              <a:t>等分散の</a:t>
            </a:r>
            <a:r>
              <a:rPr kumimoji="1" lang="en-US" altLang="ja-JP" sz="3200" dirty="0">
                <a:latin typeface="BIZ UDゴシック" panose="020B0400000000000000" pitchFamily="49" charset="-128"/>
                <a:ea typeface="BIZ UDゴシック" panose="020B0400000000000000" pitchFamily="49" charset="-128"/>
              </a:rPr>
              <a:t>2</a:t>
            </a:r>
            <a:r>
              <a:rPr kumimoji="1" lang="ja-JP" altLang="en-US" sz="3200" dirty="0">
                <a:latin typeface="BIZ UDゴシック" panose="020B0400000000000000" pitchFamily="49" charset="-128"/>
                <a:ea typeface="BIZ UDゴシック" panose="020B0400000000000000" pitchFamily="49" charset="-128"/>
              </a:rPr>
              <a:t>グループ比較</a:t>
            </a:r>
            <a:br>
              <a:rPr kumimoji="1" lang="en-US" altLang="ja-JP" sz="3200" dirty="0">
                <a:latin typeface="BIZ UDゴシック" panose="020B0400000000000000" pitchFamily="49" charset="-128"/>
                <a:ea typeface="BIZ UDゴシック" panose="020B0400000000000000" pitchFamily="49" charset="-128"/>
              </a:rPr>
            </a:br>
            <a:r>
              <a:rPr kumimoji="1" lang="en-US" altLang="ja-JP" sz="3200" dirty="0">
                <a:latin typeface="BIZ UDゴシック" panose="020B0400000000000000" pitchFamily="49" charset="-128"/>
                <a:ea typeface="BIZ UDゴシック" panose="020B0400000000000000" pitchFamily="49" charset="-128"/>
              </a:rPr>
              <a:t>(Comparing two groups with equal variances)</a:t>
            </a:r>
            <a:endParaRPr kumimoji="1" lang="ja-JP" altLang="en-US" sz="3200" dirty="0">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A843F03F-51EA-94FA-6651-E4DA69D21B5E}"/>
              </a:ext>
            </a:extLst>
          </p:cNvPr>
          <p:cNvSpPr>
            <a:spLocks noGrp="1"/>
          </p:cNvSpPr>
          <p:nvPr>
            <p:ph idx="1"/>
          </p:nvPr>
        </p:nvSpPr>
        <p:spPr>
          <a:xfrm>
            <a:off x="246579" y="1171254"/>
            <a:ext cx="11681717" cy="5578867"/>
          </a:xfrm>
        </p:spPr>
        <p:txBody>
          <a:bodyPr>
            <a:normAutofit fontScale="85000" lnSpcReduction="20000"/>
          </a:bodyPr>
          <a:lstStyle/>
          <a:p>
            <a:r>
              <a:rPr kumimoji="1" lang="en-US" altLang="ja-JP" sz="2400" dirty="0">
                <a:latin typeface="BIZ UDゴシック" panose="020B0400000000000000" pitchFamily="49" charset="-128"/>
                <a:ea typeface="BIZ UDゴシック" panose="020B0400000000000000" pitchFamily="49" charset="-128"/>
              </a:rPr>
              <a:t>6.2.1 </a:t>
            </a:r>
            <a:r>
              <a:rPr kumimoji="1" lang="ja-JP" altLang="en-US" sz="2400" dirty="0">
                <a:latin typeface="BIZ UDゴシック" panose="020B0400000000000000" pitchFamily="49" charset="-128"/>
                <a:ea typeface="BIZ UDゴシック" panose="020B0400000000000000" pitchFamily="49" charset="-128"/>
              </a:rPr>
              <a:t>データの生成 </a:t>
            </a:r>
            <a:r>
              <a:rPr kumimoji="1" lang="en-US" altLang="ja-JP" sz="2400" dirty="0">
                <a:latin typeface="BIZ UDゴシック" panose="020B0400000000000000" pitchFamily="49" charset="-128"/>
                <a:ea typeface="BIZ UDゴシック" panose="020B0400000000000000" pitchFamily="49" charset="-128"/>
              </a:rPr>
              <a:t>(Data generation)</a:t>
            </a:r>
          </a:p>
          <a:p>
            <a:pPr marL="0" indent="0">
              <a:buNone/>
            </a:pPr>
            <a:r>
              <a:rPr kumimoji="1" lang="ja-JP" altLang="en-US" sz="2400" dirty="0">
                <a:latin typeface="BIZ UDゴシック" panose="020B0400000000000000" pitchFamily="49" charset="-128"/>
                <a:ea typeface="BIZ UDゴシック" panose="020B0400000000000000" pitchFamily="49" charset="-128"/>
              </a:rPr>
              <a:t>ハヤブサ（</a:t>
            </a:r>
            <a:r>
              <a:rPr kumimoji="1" lang="en-US" altLang="ja-JP" sz="2400" dirty="0">
                <a:latin typeface="BIZ UDゴシック" panose="020B0400000000000000" pitchFamily="49" charset="-128"/>
                <a:ea typeface="BIZ UDゴシック" panose="020B0400000000000000" pitchFamily="49" charset="-128"/>
              </a:rPr>
              <a:t>Falco peregrinus</a:t>
            </a:r>
            <a:r>
              <a:rPr kumimoji="1" lang="ja-JP" altLang="en-US" sz="2400" dirty="0">
                <a:latin typeface="BIZ UDゴシック" panose="020B0400000000000000" pitchFamily="49" charset="-128"/>
                <a:ea typeface="BIZ UDゴシック" panose="020B0400000000000000" pitchFamily="49" charset="-128"/>
              </a:rPr>
              <a:t>）の雌雄の翼長（</a:t>
            </a:r>
            <a:r>
              <a:rPr kumimoji="1" lang="en-US" altLang="ja-JP" sz="2400" dirty="0">
                <a:latin typeface="BIZ UDゴシック" panose="020B0400000000000000" pitchFamily="49" charset="-128"/>
                <a:ea typeface="BIZ UDゴシック" panose="020B0400000000000000" pitchFamily="49" charset="-128"/>
              </a:rPr>
              <a:t>Wingspan</a:t>
            </a:r>
            <a:r>
              <a:rPr kumimoji="1" lang="ja-JP" altLang="en-US" sz="2400" dirty="0">
                <a:latin typeface="BIZ UDゴシック" panose="020B0400000000000000" pitchFamily="49" charset="-128"/>
                <a:ea typeface="BIZ UDゴシック" panose="020B0400000000000000" pitchFamily="49" charset="-128"/>
              </a:rPr>
              <a:t>）データを想定（女性</a:t>
            </a:r>
            <a:r>
              <a:rPr kumimoji="1" lang="en-US" altLang="ja-JP" sz="2400" dirty="0">
                <a:latin typeface="BIZ UDゴシック" panose="020B0400000000000000" pitchFamily="49" charset="-128"/>
                <a:ea typeface="BIZ UDゴシック" panose="020B0400000000000000" pitchFamily="49" charset="-128"/>
              </a:rPr>
              <a:t>: $n_1=60$, </a:t>
            </a:r>
            <a:r>
              <a:rPr kumimoji="1" lang="ja-JP" altLang="en-US" sz="2400" dirty="0">
                <a:latin typeface="BIZ UDゴシック" panose="020B0400000000000000" pitchFamily="49" charset="-128"/>
                <a:ea typeface="BIZ UDゴシック" panose="020B0400000000000000" pitchFamily="49" charset="-128"/>
              </a:rPr>
              <a:t>平均</a:t>
            </a:r>
            <a:r>
              <a:rPr kumimoji="1" lang="en-US" altLang="ja-JP" sz="2400" dirty="0">
                <a:latin typeface="BIZ UDゴシック" panose="020B0400000000000000" pitchFamily="49" charset="-128"/>
                <a:ea typeface="BIZ UDゴシック" panose="020B0400000000000000" pitchFamily="49" charset="-128"/>
              </a:rPr>
              <a:t>105cm / </a:t>
            </a:r>
            <a:r>
              <a:rPr kumimoji="1" lang="ja-JP" altLang="en-US" sz="2400" dirty="0">
                <a:latin typeface="BIZ UDゴシック" panose="020B0400000000000000" pitchFamily="49" charset="-128"/>
                <a:ea typeface="BIZ UDゴシック" panose="020B0400000000000000" pitchFamily="49" charset="-128"/>
              </a:rPr>
              <a:t>男性</a:t>
            </a:r>
            <a:r>
              <a:rPr kumimoji="1" lang="en-US" altLang="ja-JP" sz="2400" dirty="0">
                <a:latin typeface="BIZ UDゴシック" panose="020B0400000000000000" pitchFamily="49" charset="-128"/>
                <a:ea typeface="BIZ UDゴシック" panose="020B0400000000000000" pitchFamily="49" charset="-128"/>
              </a:rPr>
              <a:t>: $n_2=40$, </a:t>
            </a:r>
            <a:r>
              <a:rPr kumimoji="1" lang="ja-JP" altLang="en-US" sz="2400" dirty="0">
                <a:latin typeface="BIZ UDゴシック" panose="020B0400000000000000" pitchFamily="49" charset="-128"/>
                <a:ea typeface="BIZ UDゴシック" panose="020B0400000000000000" pitchFamily="49" charset="-128"/>
              </a:rPr>
              <a:t>平均</a:t>
            </a:r>
            <a:r>
              <a:rPr kumimoji="1" lang="en-US" altLang="ja-JP" sz="2400" dirty="0">
                <a:latin typeface="BIZ UDゴシック" panose="020B0400000000000000" pitchFamily="49" charset="-128"/>
                <a:ea typeface="BIZ UDゴシック" panose="020B0400000000000000" pitchFamily="49" charset="-128"/>
              </a:rPr>
              <a:t>77.5cm / </a:t>
            </a:r>
            <a:r>
              <a:rPr kumimoji="1" lang="ja-JP" altLang="en-US" sz="2400" dirty="0">
                <a:latin typeface="BIZ UDゴシック" panose="020B0400000000000000" pitchFamily="49" charset="-128"/>
                <a:ea typeface="BIZ UDゴシック" panose="020B0400000000000000" pitchFamily="49" charset="-128"/>
              </a:rPr>
              <a:t>共通</a:t>
            </a:r>
            <a:r>
              <a:rPr kumimoji="1" lang="en-US" altLang="ja-JP" sz="2400" dirty="0">
                <a:latin typeface="BIZ UDゴシック" panose="020B0400000000000000" pitchFamily="49" charset="-128"/>
                <a:ea typeface="BIZ UDゴシック" panose="020B0400000000000000" pitchFamily="49" charset="-128"/>
              </a:rPr>
              <a:t>SD: 2.75cm</a:t>
            </a:r>
            <a:r>
              <a:rPr kumimoji="1" lang="ja-JP" altLang="en-US" sz="2400" dirty="0">
                <a:latin typeface="BIZ UDゴシック" panose="020B0400000000000000" pitchFamily="49" charset="-128"/>
                <a:ea typeface="BIZ UDゴシック" panose="020B0400000000000000" pitchFamily="49" charset="-128"/>
              </a:rPr>
              <a:t>）。   </a:t>
            </a:r>
            <a:endParaRPr kumimoji="1" lang="en-US" altLang="ja-JP" sz="2400" dirty="0">
              <a:latin typeface="BIZ UDゴシック" panose="020B0400000000000000" pitchFamily="49" charset="-128"/>
              <a:ea typeface="BIZ UDゴシック" panose="020B0400000000000000" pitchFamily="49" charset="-128"/>
            </a:endParaRPr>
          </a:p>
          <a:p>
            <a:pPr marL="0" indent="0">
              <a:buNone/>
            </a:pPr>
            <a:r>
              <a:rPr kumimoji="1" lang="ja-JP" altLang="en-US" sz="2400" dirty="0">
                <a:latin typeface="BIZ UDゴシック" panose="020B0400000000000000" pitchFamily="49" charset="-128"/>
                <a:ea typeface="BIZ UDゴシック" panose="020B0400000000000000" pitchFamily="49" charset="-128"/>
              </a:rPr>
              <a:t>グループ指標としてダミー変数（指標変数）</a:t>
            </a:r>
            <a:r>
              <a:rPr kumimoji="1" lang="en-US" altLang="ja-JP" sz="2400" dirty="0">
                <a:latin typeface="BIZ UDゴシック" panose="020B0400000000000000" pitchFamily="49" charset="-128"/>
                <a:ea typeface="BIZ UDゴシック" panose="020B0400000000000000" pitchFamily="49" charset="-128"/>
              </a:rPr>
              <a:t>$</a:t>
            </a:r>
            <a:r>
              <a:rPr kumimoji="1" lang="en-US" altLang="ja-JP" sz="2400" dirty="0" err="1">
                <a:latin typeface="BIZ UDゴシック" panose="020B0400000000000000" pitchFamily="49" charset="-128"/>
                <a:ea typeface="BIZ UDゴシック" panose="020B0400000000000000" pitchFamily="49" charset="-128"/>
              </a:rPr>
              <a:t>x_i</a:t>
            </a:r>
            <a:r>
              <a:rPr kumimoji="1" lang="en-US" altLang="ja-JP" sz="2400" dirty="0">
                <a:latin typeface="BIZ UDゴシック" panose="020B0400000000000000" pitchFamily="49" charset="-128"/>
                <a:ea typeface="BIZ UDゴシック" panose="020B0400000000000000" pitchFamily="49" charset="-128"/>
              </a:rPr>
              <a:t> \in \{0, 1\}$</a:t>
            </a:r>
            <a:r>
              <a:rPr kumimoji="1" lang="ja-JP" altLang="en-US" sz="2400" dirty="0">
                <a:latin typeface="BIZ UDゴシック" panose="020B0400000000000000" pitchFamily="49" charset="-128"/>
                <a:ea typeface="BIZ UDゴシック" panose="020B0400000000000000" pitchFamily="49" charset="-128"/>
              </a:rPr>
              <a:t>（</a:t>
            </a:r>
            <a:r>
              <a:rPr kumimoji="1" lang="en-US" altLang="ja-JP" sz="2400" dirty="0">
                <a:latin typeface="BIZ UDゴシック" panose="020B0400000000000000" pitchFamily="49" charset="-128"/>
                <a:ea typeface="BIZ UDゴシック" panose="020B0400000000000000" pitchFamily="49" charset="-128"/>
              </a:rPr>
              <a:t>0: </a:t>
            </a:r>
            <a:r>
              <a:rPr kumimoji="1" lang="ja-JP" altLang="en-US" sz="2400" dirty="0">
                <a:latin typeface="BIZ UDゴシック" panose="020B0400000000000000" pitchFamily="49" charset="-128"/>
                <a:ea typeface="BIZ UDゴシック" panose="020B0400000000000000" pitchFamily="49" charset="-128"/>
              </a:rPr>
              <a:t>雌、</a:t>
            </a:r>
            <a:r>
              <a:rPr kumimoji="1" lang="en-US" altLang="ja-JP" sz="2400" dirty="0">
                <a:latin typeface="BIZ UDゴシック" panose="020B0400000000000000" pitchFamily="49" charset="-128"/>
                <a:ea typeface="BIZ UDゴシック" panose="020B0400000000000000" pitchFamily="49" charset="-128"/>
              </a:rPr>
              <a:t>1: </a:t>
            </a:r>
            <a:r>
              <a:rPr kumimoji="1" lang="ja-JP" altLang="en-US" sz="2400" dirty="0">
                <a:latin typeface="BIZ UDゴシック" panose="020B0400000000000000" pitchFamily="49" charset="-128"/>
                <a:ea typeface="BIZ UDゴシック" panose="020B0400000000000000" pitchFamily="49" charset="-128"/>
              </a:rPr>
              <a:t>雄）を用いる。</a:t>
            </a:r>
            <a:endParaRPr kumimoji="1" lang="en-US" altLang="ja-JP" sz="2400" dirty="0">
              <a:latin typeface="BIZ UDゴシック" panose="020B0400000000000000" pitchFamily="49" charset="-128"/>
              <a:ea typeface="BIZ UDゴシック" panose="020B0400000000000000" pitchFamily="49" charset="-128"/>
            </a:endParaRPr>
          </a:p>
          <a:p>
            <a:pPr marL="0" indent="0">
              <a:buNone/>
            </a:pPr>
            <a:r>
              <a:rPr kumimoji="1" lang="ja-JP" altLang="en-US" sz="2400" dirty="0">
                <a:latin typeface="BIZ UDゴシック" panose="020B0400000000000000" pitchFamily="49" charset="-128"/>
                <a:ea typeface="BIZ UDゴシック" panose="020B0400000000000000" pitchFamily="49" charset="-128"/>
              </a:rPr>
              <a:t>   効果母数化（</a:t>
            </a:r>
            <a:r>
              <a:rPr kumimoji="1" lang="en-US" altLang="ja-JP" sz="2400" dirty="0">
                <a:latin typeface="BIZ UDゴシック" panose="020B0400000000000000" pitchFamily="49" charset="-128"/>
                <a:ea typeface="BIZ UDゴシック" panose="020B0400000000000000" pitchFamily="49" charset="-128"/>
              </a:rPr>
              <a:t>Effects parameterization</a:t>
            </a:r>
            <a:r>
              <a:rPr kumimoji="1" lang="ja-JP" altLang="en-US" sz="2400" dirty="0">
                <a:latin typeface="BIZ UDゴシック" panose="020B0400000000000000" pitchFamily="49" charset="-128"/>
                <a:ea typeface="BIZ UDゴシック" panose="020B0400000000000000" pitchFamily="49" charset="-128"/>
              </a:rPr>
              <a:t>）</a:t>
            </a:r>
            <a:r>
              <a:rPr kumimoji="1" lang="en-US" altLang="ja-JP" sz="2400" dirty="0">
                <a:latin typeface="BIZ UDゴシック" panose="020B0400000000000000" pitchFamily="49" charset="-128"/>
                <a:ea typeface="BIZ UDゴシック" panose="020B0400000000000000" pitchFamily="49" charset="-128"/>
              </a:rPr>
              <a:t>: $\alpha$</a:t>
            </a:r>
            <a:r>
              <a:rPr kumimoji="1" lang="ja-JP" altLang="en-US" sz="2400" dirty="0">
                <a:latin typeface="BIZ UDゴシック" panose="020B0400000000000000" pitchFamily="49" charset="-128"/>
                <a:ea typeface="BIZ UDゴシック" panose="020B0400000000000000" pitchFamily="49" charset="-128"/>
              </a:rPr>
              <a:t>（切片＝雌の平均）、</a:t>
            </a:r>
            <a:r>
              <a:rPr kumimoji="1" lang="en-US" altLang="ja-JP" sz="2400" dirty="0">
                <a:latin typeface="BIZ UDゴシック" panose="020B0400000000000000" pitchFamily="49" charset="-128"/>
                <a:ea typeface="BIZ UDゴシック" panose="020B0400000000000000" pitchFamily="49" charset="-128"/>
              </a:rPr>
              <a:t>$\beta$</a:t>
            </a:r>
            <a:r>
              <a:rPr kumimoji="1" lang="ja-JP" altLang="en-US" sz="2400" dirty="0">
                <a:latin typeface="BIZ UDゴシック" panose="020B0400000000000000" pitchFamily="49" charset="-128"/>
                <a:ea typeface="BIZ UDゴシック" panose="020B0400000000000000" pitchFamily="49" charset="-128"/>
              </a:rPr>
              <a:t>（傾き＝雄と雌の平均値差）としてモデル化。   </a:t>
            </a:r>
            <a:endParaRPr kumimoji="1" lang="en-US" altLang="ja-JP" sz="2400" dirty="0">
              <a:latin typeface="BIZ UDゴシック" panose="020B0400000000000000" pitchFamily="49" charset="-128"/>
              <a:ea typeface="BIZ UDゴシック" panose="020B0400000000000000" pitchFamily="49" charset="-128"/>
            </a:endParaRPr>
          </a:p>
          <a:p>
            <a:pPr marL="0" indent="0">
              <a:buNone/>
            </a:pPr>
            <a:endParaRPr lang="en-US" altLang="ja-JP" sz="2400" dirty="0">
              <a:latin typeface="BIZ UDゴシック" panose="020B0400000000000000" pitchFamily="49" charset="-128"/>
              <a:ea typeface="BIZ UDゴシック" panose="020B0400000000000000" pitchFamily="49" charset="-128"/>
            </a:endParaRPr>
          </a:p>
          <a:p>
            <a:pPr marL="0" indent="0">
              <a:buNone/>
            </a:pPr>
            <a:r>
              <a:rPr kumimoji="1" lang="en-US" altLang="ja-JP" sz="2400" dirty="0">
                <a:latin typeface="BIZ UDゴシック" panose="020B0400000000000000" pitchFamily="49" charset="-128"/>
                <a:ea typeface="BIZ UDゴシック" panose="020B0400000000000000" pitchFamily="49" charset="-128"/>
              </a:rPr>
              <a:t>6.2.2 R</a:t>
            </a:r>
            <a:r>
              <a:rPr kumimoji="1" lang="ja-JP" altLang="en-US" sz="2400" dirty="0">
                <a:latin typeface="BIZ UDゴシック" panose="020B0400000000000000" pitchFamily="49" charset="-128"/>
                <a:ea typeface="BIZ UDゴシック" panose="020B0400000000000000" pitchFamily="49" charset="-128"/>
              </a:rPr>
              <a:t>の標準関数による最尤分析 </a:t>
            </a:r>
            <a:r>
              <a:rPr kumimoji="1" lang="en-US" altLang="ja-JP" sz="2400" dirty="0">
                <a:latin typeface="BIZ UDゴシック" panose="020B0400000000000000" pitchFamily="49" charset="-128"/>
                <a:ea typeface="BIZ UDゴシック" panose="020B0400000000000000" pitchFamily="49" charset="-128"/>
              </a:rPr>
              <a:t>(Likelihood analysis with canned functions in R)</a:t>
            </a:r>
          </a:p>
          <a:p>
            <a:pPr marL="0" indent="0">
              <a:buNone/>
            </a:pPr>
            <a:r>
              <a:rPr kumimoji="1" lang="en-US" altLang="ja-JP" sz="2400" dirty="0" err="1">
                <a:latin typeface="BIZ UDゴシック" panose="020B0400000000000000" pitchFamily="49" charset="-128"/>
                <a:ea typeface="BIZ UDゴシック" panose="020B0400000000000000" pitchFamily="49" charset="-128"/>
              </a:rPr>
              <a:t>lm</a:t>
            </a:r>
            <a:r>
              <a:rPr kumimoji="1" lang="en-US" altLang="ja-JP" sz="2400" dirty="0">
                <a:latin typeface="BIZ UDゴシック" panose="020B0400000000000000" pitchFamily="49" charset="-128"/>
                <a:ea typeface="BIZ UDゴシック" panose="020B0400000000000000" pitchFamily="49" charset="-128"/>
              </a:rPr>
              <a:t>(y ~ x) </a:t>
            </a:r>
            <a:r>
              <a:rPr kumimoji="1" lang="ja-JP" altLang="en-US" sz="2400" dirty="0">
                <a:latin typeface="BIZ UDゴシック" panose="020B0400000000000000" pitchFamily="49" charset="-128"/>
                <a:ea typeface="BIZ UDゴシック" panose="020B0400000000000000" pitchFamily="49" charset="-128"/>
              </a:rPr>
              <a:t>を用いて適合。切片が基準グループ（雌）の平均、係数 </a:t>
            </a:r>
            <a:r>
              <a:rPr kumimoji="1" lang="en-US" altLang="ja-JP" sz="2400" dirty="0">
                <a:latin typeface="BIZ UDゴシック" panose="020B0400000000000000" pitchFamily="49" charset="-128"/>
                <a:ea typeface="BIZ UDゴシック" panose="020B0400000000000000" pitchFamily="49" charset="-128"/>
              </a:rPr>
              <a:t>$x$ </a:t>
            </a:r>
            <a:r>
              <a:rPr kumimoji="1" lang="ja-JP" altLang="en-US" sz="2400" dirty="0">
                <a:latin typeface="BIZ UDゴシック" panose="020B0400000000000000" pitchFamily="49" charset="-128"/>
                <a:ea typeface="BIZ UDゴシック" panose="020B0400000000000000" pitchFamily="49" charset="-128"/>
              </a:rPr>
              <a:t>がグループ間の差分を表す。   </a:t>
            </a:r>
            <a:endParaRPr kumimoji="1" lang="en-US" altLang="ja-JP" sz="2400" dirty="0">
              <a:latin typeface="BIZ UDゴシック" panose="020B0400000000000000" pitchFamily="49" charset="-128"/>
              <a:ea typeface="BIZ UDゴシック" panose="020B0400000000000000" pitchFamily="49" charset="-128"/>
            </a:endParaRPr>
          </a:p>
          <a:p>
            <a:pPr marL="0" indent="0">
              <a:buNone/>
            </a:pPr>
            <a:r>
              <a:rPr kumimoji="1" lang="en-US" altLang="ja-JP" sz="2400" dirty="0" err="1">
                <a:latin typeface="BIZ UDゴシック" panose="020B0400000000000000" pitchFamily="49" charset="-128"/>
                <a:ea typeface="BIZ UDゴシック" panose="020B0400000000000000" pitchFamily="49" charset="-128"/>
              </a:rPr>
              <a:t>t.test</a:t>
            </a:r>
            <a:r>
              <a:rPr kumimoji="1" lang="en-US" altLang="ja-JP" sz="2400" dirty="0">
                <a:latin typeface="BIZ UDゴシック" panose="020B0400000000000000" pitchFamily="49" charset="-128"/>
                <a:ea typeface="BIZ UDゴシック" panose="020B0400000000000000" pitchFamily="49" charset="-128"/>
              </a:rPr>
              <a:t>(y ~ x, </a:t>
            </a:r>
            <a:r>
              <a:rPr kumimoji="1" lang="en-US" altLang="ja-JP" sz="2400" dirty="0" err="1">
                <a:latin typeface="BIZ UDゴシック" panose="020B0400000000000000" pitchFamily="49" charset="-128"/>
                <a:ea typeface="BIZ UDゴシック" panose="020B0400000000000000" pitchFamily="49" charset="-128"/>
              </a:rPr>
              <a:t>var.equal</a:t>
            </a:r>
            <a:r>
              <a:rPr kumimoji="1" lang="en-US" altLang="ja-JP" sz="2400" dirty="0">
                <a:latin typeface="BIZ UDゴシック" panose="020B0400000000000000" pitchFamily="49" charset="-128"/>
                <a:ea typeface="BIZ UDゴシック" panose="020B0400000000000000" pitchFamily="49" charset="-128"/>
              </a:rPr>
              <a:t> = TRUE) </a:t>
            </a:r>
            <a:r>
              <a:rPr kumimoji="1" lang="ja-JP" altLang="en-US" sz="2400" dirty="0">
                <a:latin typeface="BIZ UDゴシック" panose="020B0400000000000000" pitchFamily="49" charset="-128"/>
                <a:ea typeface="BIZ UDゴシック" panose="020B0400000000000000" pitchFamily="49" charset="-128"/>
              </a:rPr>
              <a:t>でも同等の結果が得られることを確認。   </a:t>
            </a:r>
            <a:endParaRPr kumimoji="1" lang="en-US" altLang="ja-JP" sz="2400" dirty="0">
              <a:latin typeface="BIZ UDゴシック" panose="020B0400000000000000" pitchFamily="49" charset="-128"/>
              <a:ea typeface="BIZ UDゴシック" panose="020B0400000000000000" pitchFamily="49" charset="-128"/>
            </a:endParaRPr>
          </a:p>
          <a:p>
            <a:pPr marL="0" indent="0">
              <a:buNone/>
            </a:pPr>
            <a:r>
              <a:rPr kumimoji="1" lang="ja-JP" altLang="en-US" sz="2400" dirty="0">
                <a:latin typeface="BIZ UDゴシック" panose="020B0400000000000000" pitchFamily="49" charset="-128"/>
                <a:ea typeface="BIZ UDゴシック" panose="020B0400000000000000" pitchFamily="49" charset="-128"/>
              </a:rPr>
              <a:t>因子型変数（</a:t>
            </a:r>
            <a:r>
              <a:rPr kumimoji="1" lang="en-US" altLang="ja-JP" sz="2400" dirty="0">
                <a:latin typeface="BIZ UDゴシック" panose="020B0400000000000000" pitchFamily="49" charset="-128"/>
                <a:ea typeface="BIZ UDゴシック" panose="020B0400000000000000" pitchFamily="49" charset="-128"/>
              </a:rPr>
              <a:t>factor</a:t>
            </a:r>
            <a:r>
              <a:rPr kumimoji="1" lang="ja-JP" altLang="en-US" sz="2400" dirty="0">
                <a:latin typeface="BIZ UDゴシック" panose="020B0400000000000000" pitchFamily="49" charset="-128"/>
                <a:ea typeface="BIZ UDゴシック" panose="020B0400000000000000" pitchFamily="49" charset="-128"/>
              </a:rPr>
              <a:t>）の利用や、切片を落としてグループ平均を直接推定する平均値母数化（</a:t>
            </a:r>
            <a:r>
              <a:rPr kumimoji="1" lang="en-US" altLang="ja-JP" sz="2400" dirty="0">
                <a:latin typeface="BIZ UDゴシック" panose="020B0400000000000000" pitchFamily="49" charset="-128"/>
                <a:ea typeface="BIZ UDゴシック" panose="020B0400000000000000" pitchFamily="49" charset="-128"/>
              </a:rPr>
              <a:t>Means parameterization: y ~ </a:t>
            </a:r>
            <a:r>
              <a:rPr kumimoji="1" lang="en-US" altLang="ja-JP" sz="2400" dirty="0" err="1">
                <a:latin typeface="BIZ UDゴシック" panose="020B0400000000000000" pitchFamily="49" charset="-128"/>
                <a:ea typeface="BIZ UDゴシック" panose="020B0400000000000000" pitchFamily="49" charset="-128"/>
              </a:rPr>
              <a:t>xfac</a:t>
            </a:r>
            <a:r>
              <a:rPr kumimoji="1" lang="en-US" altLang="ja-JP" sz="2400" dirty="0">
                <a:latin typeface="BIZ UDゴシック" panose="020B0400000000000000" pitchFamily="49" charset="-128"/>
                <a:ea typeface="BIZ UDゴシック" panose="020B0400000000000000" pitchFamily="49" charset="-128"/>
              </a:rPr>
              <a:t> - 1</a:t>
            </a:r>
            <a:r>
              <a:rPr kumimoji="1" lang="ja-JP" altLang="en-US" sz="2400" dirty="0">
                <a:latin typeface="BIZ UDゴシック" panose="020B0400000000000000" pitchFamily="49" charset="-128"/>
                <a:ea typeface="BIZ UDゴシック" panose="020B0400000000000000" pitchFamily="49" charset="-128"/>
              </a:rPr>
              <a:t>）について言及。</a:t>
            </a:r>
            <a:endParaRPr kumimoji="1" lang="en-US" altLang="ja-JP" sz="2400" dirty="0">
              <a:latin typeface="BIZ UDゴシック" panose="020B0400000000000000" pitchFamily="49" charset="-128"/>
              <a:ea typeface="BIZ UDゴシック" panose="020B0400000000000000" pitchFamily="49" charset="-128"/>
            </a:endParaRPr>
          </a:p>
          <a:p>
            <a:pPr marL="0" indent="0">
              <a:buNone/>
            </a:pPr>
            <a:r>
              <a:rPr kumimoji="1" lang="ja-JP" altLang="en-US" sz="2400" dirty="0">
                <a:latin typeface="BIZ UDゴシック" panose="020B0400000000000000" pitchFamily="49" charset="-128"/>
                <a:ea typeface="BIZ UDゴシック" panose="020B0400000000000000" pitchFamily="49" charset="-128"/>
              </a:rPr>
              <a:t>   </a:t>
            </a:r>
            <a:endParaRPr kumimoji="1" lang="en-US" altLang="ja-JP" sz="2400" dirty="0">
              <a:latin typeface="BIZ UDゴシック" panose="020B0400000000000000" pitchFamily="49" charset="-128"/>
              <a:ea typeface="BIZ UDゴシック" panose="020B0400000000000000" pitchFamily="49" charset="-128"/>
            </a:endParaRPr>
          </a:p>
          <a:p>
            <a:pPr marL="0" indent="0">
              <a:buNone/>
            </a:pPr>
            <a:r>
              <a:rPr kumimoji="1" lang="en-US" altLang="ja-JP" sz="2400" dirty="0">
                <a:latin typeface="BIZ UDゴシック" panose="020B0400000000000000" pitchFamily="49" charset="-128"/>
                <a:ea typeface="BIZ UDゴシック" panose="020B0400000000000000" pitchFamily="49" charset="-128"/>
              </a:rPr>
              <a:t>6.2.3 JAGS</a:t>
            </a:r>
            <a:r>
              <a:rPr kumimoji="1" lang="ja-JP" altLang="en-US" sz="2400" dirty="0">
                <a:latin typeface="BIZ UDゴシック" panose="020B0400000000000000" pitchFamily="49" charset="-128"/>
                <a:ea typeface="BIZ UDゴシック" panose="020B0400000000000000" pitchFamily="49" charset="-128"/>
              </a:rPr>
              <a:t>によるベイズ分析 </a:t>
            </a:r>
            <a:r>
              <a:rPr kumimoji="1" lang="en-US" altLang="ja-JP" sz="2400" dirty="0">
                <a:latin typeface="BIZ UDゴシック" panose="020B0400000000000000" pitchFamily="49" charset="-128"/>
                <a:ea typeface="BIZ UDゴシック" panose="020B0400000000000000" pitchFamily="49" charset="-128"/>
              </a:rPr>
              <a:t>(Bayesian analysis with JAGS)</a:t>
            </a:r>
          </a:p>
          <a:p>
            <a:pPr marL="0" indent="0">
              <a:buNone/>
            </a:pPr>
            <a:r>
              <a:rPr kumimoji="1" lang="ja-JP" altLang="en-US" sz="2400" dirty="0">
                <a:latin typeface="BIZ UDゴシック" panose="020B0400000000000000" pitchFamily="49" charset="-128"/>
                <a:ea typeface="BIZ UDゴシック" panose="020B0400000000000000" pitchFamily="49" charset="-128"/>
              </a:rPr>
              <a:t>モデル内で </a:t>
            </a:r>
            <a:r>
              <a:rPr kumimoji="1" lang="en-US" altLang="ja-JP" sz="2400" dirty="0">
                <a:latin typeface="BIZ UDゴシック" panose="020B0400000000000000" pitchFamily="49" charset="-128"/>
                <a:ea typeface="BIZ UDゴシック" panose="020B0400000000000000" pitchFamily="49" charset="-128"/>
              </a:rPr>
              <a:t>mu1 &lt;- alpha</a:t>
            </a:r>
            <a:r>
              <a:rPr kumimoji="1" lang="ja-JP" altLang="en-US" sz="2400" dirty="0">
                <a:latin typeface="BIZ UDゴシック" panose="020B0400000000000000" pitchFamily="49" charset="-128"/>
                <a:ea typeface="BIZ UDゴシック" panose="020B0400000000000000" pitchFamily="49" charset="-128"/>
              </a:rPr>
              <a:t>（雌の平均）、</a:t>
            </a:r>
            <a:r>
              <a:rPr kumimoji="1" lang="en-US" altLang="ja-JP" sz="2400" dirty="0">
                <a:latin typeface="BIZ UDゴシック" panose="020B0400000000000000" pitchFamily="49" charset="-128"/>
                <a:ea typeface="BIZ UDゴシック" panose="020B0400000000000000" pitchFamily="49" charset="-128"/>
              </a:rPr>
              <a:t>mu2 &lt;- alpha + beta</a:t>
            </a:r>
            <a:r>
              <a:rPr kumimoji="1" lang="ja-JP" altLang="en-US" sz="2400" dirty="0">
                <a:latin typeface="BIZ UDゴシック" panose="020B0400000000000000" pitchFamily="49" charset="-128"/>
                <a:ea typeface="BIZ UDゴシック" panose="020B0400000000000000" pitchFamily="49" charset="-128"/>
              </a:rPr>
              <a:t>（雄の平均）という派生パラメータ（</a:t>
            </a:r>
            <a:r>
              <a:rPr kumimoji="1" lang="en-US" altLang="ja-JP" sz="2400" dirty="0">
                <a:latin typeface="BIZ UDゴシック" panose="020B0400000000000000" pitchFamily="49" charset="-128"/>
                <a:ea typeface="BIZ UDゴシック" panose="020B0400000000000000" pitchFamily="49" charset="-128"/>
              </a:rPr>
              <a:t>Derived parameters</a:t>
            </a:r>
            <a:r>
              <a:rPr kumimoji="1" lang="ja-JP" altLang="en-US" sz="2400" dirty="0">
                <a:latin typeface="BIZ UDゴシック" panose="020B0400000000000000" pitchFamily="49" charset="-128"/>
                <a:ea typeface="BIZ UDゴシック" panose="020B0400000000000000" pitchFamily="49" charset="-128"/>
              </a:rPr>
              <a:t>）を記述。   ベイズ推論では、派生パラメータの事後分布とその不確実性（信用区間など）を、デルタ法などの複雑な近似計算を使わずに直接かつ正確に取得できる。</a:t>
            </a:r>
          </a:p>
        </p:txBody>
      </p:sp>
    </p:spTree>
    <p:extLst>
      <p:ext uri="{BB962C8B-B14F-4D97-AF65-F5344CB8AC3E}">
        <p14:creationId xmlns:p14="http://schemas.microsoft.com/office/powerpoint/2010/main" val="368110209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F72B98-ACD4-59B6-B4BB-6833F6921B08}"/>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B7F450F-F5B1-D41C-B0AD-00103C54E528}"/>
              </a:ext>
            </a:extLst>
          </p:cNvPr>
          <p:cNvSpPr>
            <a:spLocks noGrp="1"/>
          </p:cNvSpPr>
          <p:nvPr>
            <p:ph type="title"/>
          </p:nvPr>
        </p:nvSpPr>
        <p:spPr>
          <a:xfrm>
            <a:off x="838200" y="365126"/>
            <a:ext cx="10515600" cy="477356"/>
          </a:xfrm>
        </p:spPr>
        <p:txBody>
          <a:bodyPr>
            <a:noAutofit/>
          </a:bodyPr>
          <a:lstStyle/>
          <a:p>
            <a:r>
              <a:rPr kumimoji="1" lang="en-US" altLang="ja-JP" sz="3200" dirty="0">
                <a:latin typeface="BIZ UDゴシック" panose="020B0400000000000000" pitchFamily="49" charset="-128"/>
                <a:ea typeface="BIZ UDゴシック" panose="020B0400000000000000" pitchFamily="49" charset="-128"/>
              </a:rPr>
              <a:t>6.2 </a:t>
            </a:r>
            <a:r>
              <a:rPr kumimoji="1" lang="ja-JP" altLang="en-US" sz="3200" dirty="0">
                <a:latin typeface="BIZ UDゴシック" panose="020B0400000000000000" pitchFamily="49" charset="-128"/>
                <a:ea typeface="BIZ UDゴシック" panose="020B0400000000000000" pitchFamily="49" charset="-128"/>
              </a:rPr>
              <a:t>等分散の</a:t>
            </a:r>
            <a:r>
              <a:rPr kumimoji="1" lang="en-US" altLang="ja-JP" sz="3200" dirty="0">
                <a:latin typeface="BIZ UDゴシック" panose="020B0400000000000000" pitchFamily="49" charset="-128"/>
                <a:ea typeface="BIZ UDゴシック" panose="020B0400000000000000" pitchFamily="49" charset="-128"/>
              </a:rPr>
              <a:t>2</a:t>
            </a:r>
            <a:r>
              <a:rPr kumimoji="1" lang="ja-JP" altLang="en-US" sz="3200" dirty="0">
                <a:latin typeface="BIZ UDゴシック" panose="020B0400000000000000" pitchFamily="49" charset="-128"/>
                <a:ea typeface="BIZ UDゴシック" panose="020B0400000000000000" pitchFamily="49" charset="-128"/>
              </a:rPr>
              <a:t>グループ比較</a:t>
            </a:r>
            <a:br>
              <a:rPr kumimoji="1" lang="ja-JP" altLang="en-US" sz="3200" dirty="0">
                <a:latin typeface="BIZ UDゴシック" panose="020B0400000000000000" pitchFamily="49" charset="-128"/>
                <a:ea typeface="BIZ UDゴシック" panose="020B0400000000000000" pitchFamily="49" charset="-128"/>
              </a:rPr>
            </a:br>
            <a:r>
              <a:rPr kumimoji="1" lang="en-US" altLang="ja-JP" sz="3200" dirty="0">
                <a:latin typeface="BIZ UDゴシック" panose="020B0400000000000000" pitchFamily="49" charset="-128"/>
                <a:ea typeface="BIZ UDゴシック" panose="020B0400000000000000" pitchFamily="49" charset="-128"/>
              </a:rPr>
              <a:t>(Comparing two groups with equal variances)</a:t>
            </a:r>
            <a:endParaRPr kumimoji="1" lang="ja-JP" altLang="en-US" sz="3200" dirty="0">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3A740BD5-4E95-147C-EEEF-11AF2A099DA9}"/>
              </a:ext>
            </a:extLst>
          </p:cNvPr>
          <p:cNvSpPr>
            <a:spLocks noGrp="1"/>
          </p:cNvSpPr>
          <p:nvPr>
            <p:ph idx="1"/>
          </p:nvPr>
        </p:nvSpPr>
        <p:spPr>
          <a:xfrm>
            <a:off x="174661" y="1284270"/>
            <a:ext cx="11640620" cy="5280917"/>
          </a:xfrm>
        </p:spPr>
        <p:txBody>
          <a:bodyPr>
            <a:normAutofit fontScale="70000" lnSpcReduction="20000"/>
          </a:bodyPr>
          <a:lstStyle/>
          <a:p>
            <a:r>
              <a:rPr kumimoji="1" lang="en-US" altLang="ja-JP" dirty="0">
                <a:latin typeface="BIZ UDゴシック" panose="020B0400000000000000" pitchFamily="49" charset="-128"/>
                <a:ea typeface="BIZ UDゴシック" panose="020B0400000000000000" pitchFamily="49" charset="-128"/>
              </a:rPr>
              <a:t>6.2.4 NIMBLE</a:t>
            </a:r>
            <a:r>
              <a:rPr kumimoji="1" lang="ja-JP" altLang="en-US" dirty="0">
                <a:latin typeface="BIZ UDゴシック" panose="020B0400000000000000" pitchFamily="49" charset="-128"/>
                <a:ea typeface="BIZ UDゴシック" panose="020B0400000000000000" pitchFamily="49" charset="-128"/>
              </a:rPr>
              <a:t>によるベイズ分析 </a:t>
            </a:r>
            <a:r>
              <a:rPr kumimoji="1" lang="en-US" altLang="ja-JP" dirty="0">
                <a:latin typeface="BIZ UDゴシック" panose="020B0400000000000000" pitchFamily="49" charset="-128"/>
                <a:ea typeface="BIZ UDゴシック" panose="020B0400000000000000" pitchFamily="49" charset="-128"/>
              </a:rPr>
              <a:t>(Bayesian analysis with NIMBLE)</a:t>
            </a:r>
          </a:p>
          <a:p>
            <a:pPr marL="0" indent="0">
              <a:buNone/>
            </a:pPr>
            <a:r>
              <a:rPr kumimoji="1" lang="en-US" altLang="ja-JP" dirty="0">
                <a:latin typeface="BIZ UDゴシック" panose="020B0400000000000000" pitchFamily="49" charset="-128"/>
                <a:ea typeface="BIZ UDゴシック" panose="020B0400000000000000" pitchFamily="49" charset="-128"/>
              </a:rPr>
              <a:t>BUGS</a:t>
            </a:r>
            <a:r>
              <a:rPr kumimoji="1" lang="ja-JP" altLang="en-US" dirty="0">
                <a:latin typeface="BIZ UDゴシック" panose="020B0400000000000000" pitchFamily="49" charset="-128"/>
                <a:ea typeface="BIZ UDゴシック" panose="020B0400000000000000" pitchFamily="49" charset="-128"/>
              </a:rPr>
              <a:t>言語互換のコードを用いた実行（</a:t>
            </a:r>
            <a:r>
              <a:rPr kumimoji="1" lang="en-US" altLang="ja-JP" dirty="0">
                <a:latin typeface="BIZ UDゴシック" panose="020B0400000000000000" pitchFamily="49" charset="-128"/>
                <a:ea typeface="BIZ UDゴシック" panose="020B0400000000000000" pitchFamily="49" charset="-128"/>
              </a:rPr>
              <a:t>Web</a:t>
            </a:r>
            <a:r>
              <a:rPr kumimoji="1" lang="ja-JP" altLang="en-US" dirty="0">
                <a:latin typeface="BIZ UDゴシック" panose="020B0400000000000000" pitchFamily="49" charset="-128"/>
                <a:ea typeface="BIZ UDゴシック" panose="020B0400000000000000" pitchFamily="49" charset="-128"/>
              </a:rPr>
              <a:t>サイト参照）。   </a:t>
            </a:r>
            <a:endParaRPr kumimoji="1" lang="en-US" altLang="ja-JP" dirty="0">
              <a:latin typeface="BIZ UDゴシック" panose="020B0400000000000000" pitchFamily="49" charset="-128"/>
              <a:ea typeface="BIZ UDゴシック" panose="020B0400000000000000" pitchFamily="49" charset="-128"/>
            </a:endParaRPr>
          </a:p>
          <a:p>
            <a:pPr marL="0" indent="0">
              <a:buNone/>
            </a:pPr>
            <a:endParaRPr kumimoji="1" lang="en-US" altLang="ja-JP" dirty="0">
              <a:latin typeface="BIZ UDゴシック" panose="020B0400000000000000" pitchFamily="49" charset="-128"/>
              <a:ea typeface="BIZ UDゴシック" panose="020B0400000000000000" pitchFamily="49" charset="-128"/>
            </a:endParaRPr>
          </a:p>
          <a:p>
            <a:pPr marL="0" indent="0">
              <a:buNone/>
            </a:pPr>
            <a:r>
              <a:rPr kumimoji="1" lang="en-US" altLang="ja-JP" dirty="0">
                <a:latin typeface="BIZ UDゴシック" panose="020B0400000000000000" pitchFamily="49" charset="-128"/>
                <a:ea typeface="BIZ UDゴシック" panose="020B0400000000000000" pitchFamily="49" charset="-128"/>
              </a:rPr>
              <a:t>6.2.5 Stan</a:t>
            </a:r>
            <a:r>
              <a:rPr kumimoji="1" lang="ja-JP" altLang="en-US" dirty="0">
                <a:latin typeface="BIZ UDゴシック" panose="020B0400000000000000" pitchFamily="49" charset="-128"/>
                <a:ea typeface="BIZ UDゴシック" panose="020B0400000000000000" pitchFamily="49" charset="-128"/>
              </a:rPr>
              <a:t>によるベイズ分析 </a:t>
            </a:r>
            <a:r>
              <a:rPr kumimoji="1" lang="en-US" altLang="ja-JP" dirty="0">
                <a:latin typeface="BIZ UDゴシック" panose="020B0400000000000000" pitchFamily="49" charset="-128"/>
                <a:ea typeface="BIZ UDゴシック" panose="020B0400000000000000" pitchFamily="49" charset="-128"/>
              </a:rPr>
              <a:t>(Bayesian analysis with Stan)</a:t>
            </a:r>
          </a:p>
          <a:p>
            <a:pPr marL="0" indent="0">
              <a:buNone/>
            </a:pPr>
            <a:r>
              <a:rPr kumimoji="1" lang="ja-JP" altLang="en-US" dirty="0">
                <a:latin typeface="BIZ UDゴシック" panose="020B0400000000000000" pitchFamily="49" charset="-128"/>
                <a:ea typeface="BIZ UDゴシック" panose="020B0400000000000000" pitchFamily="49" charset="-128"/>
              </a:rPr>
              <a:t>従来通りのブロック記述に加え、処理の高速化とコードの簡潔化を実現するベクトル化記法（</a:t>
            </a:r>
            <a:r>
              <a:rPr kumimoji="1" lang="en-US" altLang="ja-JP" dirty="0">
                <a:latin typeface="BIZ UDゴシック" panose="020B0400000000000000" pitchFamily="49" charset="-128"/>
                <a:ea typeface="BIZ UDゴシック" panose="020B0400000000000000" pitchFamily="49" charset="-128"/>
              </a:rPr>
              <a:t>Vectorization</a:t>
            </a:r>
            <a:r>
              <a:rPr kumimoji="1" lang="ja-JP" altLang="en-US" dirty="0">
                <a:latin typeface="BIZ UDゴシック" panose="020B0400000000000000" pitchFamily="49" charset="-128"/>
                <a:ea typeface="BIZ UDゴシック" panose="020B0400000000000000" pitchFamily="49" charset="-128"/>
              </a:rPr>
              <a:t>）（例</a:t>
            </a:r>
            <a:r>
              <a:rPr kumimoji="1" lang="en-US" altLang="ja-JP" dirty="0">
                <a:latin typeface="BIZ UDゴシック" panose="020B0400000000000000" pitchFamily="49" charset="-128"/>
                <a:ea typeface="BIZ UDゴシック" panose="020B0400000000000000" pitchFamily="49" charset="-128"/>
              </a:rPr>
              <a:t>: y ~ normal(μ, σ);</a:t>
            </a:r>
            <a:r>
              <a:rPr kumimoji="1" lang="ja-JP" altLang="en-US" dirty="0">
                <a:latin typeface="BIZ UDゴシック" panose="020B0400000000000000" pitchFamily="49" charset="-128"/>
                <a:ea typeface="BIZ UDゴシック" panose="020B0400000000000000" pitchFamily="49" charset="-128"/>
              </a:rPr>
              <a:t>）を導入・解説。   </a:t>
            </a:r>
            <a:endParaRPr kumimoji="1" lang="en-US" altLang="ja-JP" dirty="0">
              <a:latin typeface="BIZ UDゴシック" panose="020B0400000000000000" pitchFamily="49" charset="-128"/>
              <a:ea typeface="BIZ UDゴシック" panose="020B0400000000000000" pitchFamily="49" charset="-128"/>
            </a:endParaRPr>
          </a:p>
          <a:p>
            <a:pPr marL="0" indent="0">
              <a:buNone/>
            </a:pPr>
            <a:endParaRPr lang="en-US" altLang="ja-JP" dirty="0">
              <a:latin typeface="BIZ UDゴシック" panose="020B0400000000000000" pitchFamily="49" charset="-128"/>
              <a:ea typeface="BIZ UDゴシック" panose="020B0400000000000000" pitchFamily="49" charset="-128"/>
            </a:endParaRPr>
          </a:p>
          <a:p>
            <a:pPr marL="0" indent="0">
              <a:buNone/>
            </a:pPr>
            <a:r>
              <a:rPr kumimoji="1" lang="en-US" altLang="ja-JP" dirty="0">
                <a:latin typeface="BIZ UDゴシック" panose="020B0400000000000000" pitchFamily="49" charset="-128"/>
                <a:ea typeface="BIZ UDゴシック" panose="020B0400000000000000" pitchFamily="49" charset="-128"/>
              </a:rPr>
              <a:t>6.2.6 DIY</a:t>
            </a:r>
            <a:r>
              <a:rPr kumimoji="1" lang="ja-JP" altLang="en-US" dirty="0">
                <a:latin typeface="BIZ UDゴシック" panose="020B0400000000000000" pitchFamily="49" charset="-128"/>
                <a:ea typeface="BIZ UDゴシック" panose="020B0400000000000000" pitchFamily="49" charset="-128"/>
              </a:rPr>
              <a:t>による最尤推定 </a:t>
            </a:r>
            <a:r>
              <a:rPr kumimoji="1" lang="en-US" altLang="ja-JP" dirty="0">
                <a:latin typeface="BIZ UDゴシック" panose="020B0400000000000000" pitchFamily="49" charset="-128"/>
                <a:ea typeface="BIZ UDゴシック" panose="020B0400000000000000" pitchFamily="49" charset="-128"/>
              </a:rPr>
              <a:t>(Do-it-yourself maximum likelihood estimates)</a:t>
            </a:r>
            <a:r>
              <a:rPr kumimoji="1" lang="ja-JP" altLang="en-US" dirty="0">
                <a:latin typeface="BIZ UDゴシック" panose="020B0400000000000000" pitchFamily="49" charset="-128"/>
                <a:ea typeface="BIZ UDゴシック" panose="020B0400000000000000" pitchFamily="49" charset="-128"/>
              </a:rPr>
              <a:t>第</a:t>
            </a:r>
            <a:r>
              <a:rPr kumimoji="1" lang="en-US" altLang="ja-JP" dirty="0">
                <a:latin typeface="BIZ UDゴシック" panose="020B0400000000000000" pitchFamily="49" charset="-128"/>
                <a:ea typeface="BIZ UDゴシック" panose="020B0400000000000000" pitchFamily="49" charset="-128"/>
              </a:rPr>
              <a:t>5</a:t>
            </a:r>
            <a:r>
              <a:rPr kumimoji="1" lang="ja-JP" altLang="en-US" dirty="0">
                <a:latin typeface="BIZ UDゴシック" panose="020B0400000000000000" pitchFamily="49" charset="-128"/>
                <a:ea typeface="BIZ UDゴシック" panose="020B0400000000000000" pitchFamily="49" charset="-128"/>
              </a:rPr>
              <a:t>章と同様の </a:t>
            </a:r>
            <a:r>
              <a:rPr kumimoji="1" lang="en-US" altLang="ja-JP" dirty="0">
                <a:latin typeface="BIZ UDゴシック" panose="020B0400000000000000" pitchFamily="49" charset="-128"/>
                <a:ea typeface="BIZ UDゴシック" panose="020B0400000000000000" pitchFamily="49" charset="-128"/>
              </a:rPr>
              <a:t>NLL </a:t>
            </a:r>
            <a:r>
              <a:rPr kumimoji="1" lang="ja-JP" altLang="en-US" dirty="0">
                <a:latin typeface="BIZ UDゴシック" panose="020B0400000000000000" pitchFamily="49" charset="-128"/>
                <a:ea typeface="BIZ UDゴシック" panose="020B0400000000000000" pitchFamily="49" charset="-128"/>
              </a:rPr>
              <a:t>関数（単一のダミー変数を組み込んだ尤度関数）を作成し、</a:t>
            </a:r>
            <a:r>
              <a:rPr kumimoji="1" lang="en-US" altLang="ja-JP" dirty="0" err="1">
                <a:latin typeface="BIZ UDゴシック" panose="020B0400000000000000" pitchFamily="49" charset="-128"/>
                <a:ea typeface="BIZ UDゴシック" panose="020B0400000000000000" pitchFamily="49" charset="-128"/>
              </a:rPr>
              <a:t>optim</a:t>
            </a:r>
            <a:r>
              <a:rPr kumimoji="1" lang="en-US" altLang="ja-JP" dirty="0">
                <a:latin typeface="BIZ UDゴシック" panose="020B0400000000000000" pitchFamily="49" charset="-128"/>
                <a:ea typeface="BIZ UDゴシック" panose="020B0400000000000000" pitchFamily="49" charset="-128"/>
              </a:rPr>
              <a:t>() </a:t>
            </a:r>
            <a:r>
              <a:rPr kumimoji="1" lang="ja-JP" altLang="en-US" dirty="0">
                <a:latin typeface="BIZ UDゴシック" panose="020B0400000000000000" pitchFamily="49" charset="-128"/>
                <a:ea typeface="BIZ UDゴシック" panose="020B0400000000000000" pitchFamily="49" charset="-128"/>
              </a:rPr>
              <a:t>で最適化。   </a:t>
            </a:r>
            <a:endParaRPr kumimoji="1" lang="en-US" altLang="ja-JP" dirty="0">
              <a:latin typeface="BIZ UDゴシック" panose="020B0400000000000000" pitchFamily="49" charset="-128"/>
              <a:ea typeface="BIZ UDゴシック" panose="020B0400000000000000" pitchFamily="49" charset="-128"/>
            </a:endParaRPr>
          </a:p>
          <a:p>
            <a:pPr marL="0" indent="0">
              <a:buNone/>
            </a:pPr>
            <a:endParaRPr lang="en-US" altLang="ja-JP" dirty="0">
              <a:latin typeface="BIZ UDゴシック" panose="020B0400000000000000" pitchFamily="49" charset="-128"/>
              <a:ea typeface="BIZ UDゴシック" panose="020B0400000000000000" pitchFamily="49" charset="-128"/>
            </a:endParaRPr>
          </a:p>
          <a:p>
            <a:pPr marL="0" indent="0">
              <a:buNone/>
            </a:pPr>
            <a:r>
              <a:rPr kumimoji="1" lang="en-US" altLang="ja-JP" dirty="0">
                <a:latin typeface="BIZ UDゴシック" panose="020B0400000000000000" pitchFamily="49" charset="-128"/>
                <a:ea typeface="BIZ UDゴシック" panose="020B0400000000000000" pitchFamily="49" charset="-128"/>
              </a:rPr>
              <a:t>6.2.7 TMB</a:t>
            </a:r>
            <a:r>
              <a:rPr kumimoji="1" lang="ja-JP" altLang="en-US" dirty="0">
                <a:latin typeface="BIZ UDゴシック" panose="020B0400000000000000" pitchFamily="49" charset="-128"/>
                <a:ea typeface="BIZ UDゴシック" panose="020B0400000000000000" pitchFamily="49" charset="-128"/>
              </a:rPr>
              <a:t>による最尤分析 </a:t>
            </a:r>
            <a:r>
              <a:rPr kumimoji="1" lang="en-US" altLang="ja-JP" dirty="0">
                <a:latin typeface="BIZ UDゴシック" panose="020B0400000000000000" pitchFamily="49" charset="-128"/>
                <a:ea typeface="BIZ UDゴシック" panose="020B0400000000000000" pitchFamily="49" charset="-128"/>
              </a:rPr>
              <a:t>(Likelihood analysis with TMB)</a:t>
            </a:r>
          </a:p>
          <a:p>
            <a:pPr marL="0" indent="0">
              <a:buNone/>
            </a:pPr>
            <a:r>
              <a:rPr kumimoji="1" lang="en-US" altLang="ja-JP" dirty="0">
                <a:latin typeface="BIZ UDゴシック" panose="020B0400000000000000" pitchFamily="49" charset="-128"/>
                <a:ea typeface="BIZ UDゴシック" panose="020B0400000000000000" pitchFamily="49" charset="-128"/>
              </a:rPr>
              <a:t>C++</a:t>
            </a:r>
            <a:r>
              <a:rPr kumimoji="1" lang="ja-JP" altLang="en-US" dirty="0">
                <a:latin typeface="BIZ UDゴシック" panose="020B0400000000000000" pitchFamily="49" charset="-128"/>
                <a:ea typeface="BIZ UDゴシック" panose="020B0400000000000000" pitchFamily="49" charset="-128"/>
              </a:rPr>
              <a:t>コード内で派生パラメータ </a:t>
            </a:r>
            <a:r>
              <a:rPr kumimoji="1" lang="en-US" altLang="ja-JP" dirty="0" err="1">
                <a:latin typeface="BIZ UDゴシック" panose="020B0400000000000000" pitchFamily="49" charset="-128"/>
                <a:ea typeface="BIZ UDゴシック" panose="020B0400000000000000" pitchFamily="49" charset="-128"/>
              </a:rPr>
              <a:t>μl</a:t>
            </a:r>
            <a:r>
              <a:rPr kumimoji="1" lang="en-US" altLang="ja-JP" dirty="0">
                <a:latin typeface="BIZ UDゴシック" panose="020B0400000000000000" pitchFamily="49" charset="-128"/>
                <a:ea typeface="BIZ UDゴシック" panose="020B0400000000000000" pitchFamily="49" charset="-128"/>
              </a:rPr>
              <a:t> = α </a:t>
            </a:r>
            <a:r>
              <a:rPr kumimoji="1" lang="ja-JP" altLang="en-US" dirty="0">
                <a:latin typeface="BIZ UDゴシック" panose="020B0400000000000000" pitchFamily="49" charset="-128"/>
                <a:ea typeface="BIZ UDゴシック" panose="020B0400000000000000" pitchFamily="49" charset="-128"/>
              </a:rPr>
              <a:t>および </a:t>
            </a:r>
            <a:r>
              <a:rPr kumimoji="1" lang="en-US" altLang="ja-JP" dirty="0">
                <a:latin typeface="BIZ UDゴシック" panose="020B0400000000000000" pitchFamily="49" charset="-128"/>
                <a:ea typeface="BIZ UDゴシック" panose="020B0400000000000000" pitchFamily="49" charset="-128"/>
              </a:rPr>
              <a:t>μ2 = α + β </a:t>
            </a:r>
            <a:r>
              <a:rPr kumimoji="1" lang="ja-JP" altLang="en-US" dirty="0">
                <a:latin typeface="BIZ UDゴシック" panose="020B0400000000000000" pitchFamily="49" charset="-128"/>
                <a:ea typeface="BIZ UDゴシック" panose="020B0400000000000000" pitchFamily="49" charset="-128"/>
              </a:rPr>
              <a:t>を定義し、</a:t>
            </a:r>
            <a:r>
              <a:rPr kumimoji="1" lang="en-US" altLang="ja-JP" dirty="0">
                <a:latin typeface="BIZ UDゴシック" panose="020B0400000000000000" pitchFamily="49" charset="-128"/>
                <a:ea typeface="BIZ UDゴシック" panose="020B0400000000000000" pitchFamily="49" charset="-128"/>
              </a:rPr>
              <a:t>ADREPORT() </a:t>
            </a:r>
            <a:r>
              <a:rPr kumimoji="1" lang="ja-JP" altLang="en-US" dirty="0">
                <a:latin typeface="BIZ UDゴシック" panose="020B0400000000000000" pitchFamily="49" charset="-128"/>
                <a:ea typeface="BIZ UDゴシック" panose="020B0400000000000000" pitchFamily="49" charset="-128"/>
              </a:rPr>
              <a:t>に渡すことで、グループごとの平均値の点推定値と標準誤差を自動出力させる。   </a:t>
            </a:r>
            <a:endParaRPr kumimoji="1" lang="en-US" altLang="ja-JP" dirty="0">
              <a:latin typeface="BIZ UDゴシック" panose="020B0400000000000000" pitchFamily="49" charset="-128"/>
              <a:ea typeface="BIZ UDゴシック" panose="020B0400000000000000" pitchFamily="49" charset="-128"/>
            </a:endParaRPr>
          </a:p>
          <a:p>
            <a:pPr marL="0" indent="0">
              <a:buNone/>
            </a:pPr>
            <a:endParaRPr kumimoji="1" lang="en-US" altLang="ja-JP" dirty="0">
              <a:latin typeface="BIZ UDゴシック" panose="020B0400000000000000" pitchFamily="49" charset="-128"/>
              <a:ea typeface="BIZ UDゴシック" panose="020B0400000000000000" pitchFamily="49" charset="-128"/>
            </a:endParaRPr>
          </a:p>
          <a:p>
            <a:pPr marL="0" indent="0">
              <a:buNone/>
            </a:pPr>
            <a:r>
              <a:rPr kumimoji="1" lang="en-US" altLang="ja-JP" dirty="0">
                <a:latin typeface="BIZ UDゴシック" panose="020B0400000000000000" pitchFamily="49" charset="-128"/>
                <a:ea typeface="BIZ UDゴシック" panose="020B0400000000000000" pitchFamily="49" charset="-128"/>
              </a:rPr>
              <a:t>6.2.8 </a:t>
            </a:r>
            <a:r>
              <a:rPr kumimoji="1" lang="ja-JP" altLang="en-US" dirty="0">
                <a:latin typeface="BIZ UDゴシック" panose="020B0400000000000000" pitchFamily="49" charset="-128"/>
                <a:ea typeface="BIZ UDゴシック" panose="020B0400000000000000" pitchFamily="49" charset="-128"/>
              </a:rPr>
              <a:t>パラメータ推定値の比較 </a:t>
            </a:r>
            <a:r>
              <a:rPr kumimoji="1" lang="en-US" altLang="ja-JP" dirty="0">
                <a:latin typeface="BIZ UDゴシック" panose="020B0400000000000000" pitchFamily="49" charset="-128"/>
                <a:ea typeface="BIZ UDゴシック" panose="020B0400000000000000" pitchFamily="49" charset="-128"/>
              </a:rPr>
              <a:t>(Comparison of the parameter estimates)</a:t>
            </a:r>
          </a:p>
          <a:p>
            <a:pPr marL="0" indent="0">
              <a:buNone/>
            </a:pPr>
            <a:r>
              <a:rPr kumimoji="1" lang="ja-JP" altLang="en-US" dirty="0">
                <a:latin typeface="BIZ UDゴシック" panose="020B0400000000000000" pitchFamily="49" charset="-128"/>
                <a:ea typeface="BIZ UDゴシック" panose="020B0400000000000000" pitchFamily="49" charset="-128"/>
              </a:rPr>
              <a:t>サンプルサイズが十分に大きい（</a:t>
            </a:r>
            <a:r>
              <a:rPr kumimoji="1" lang="en-US" altLang="ja-JP" dirty="0">
                <a:latin typeface="BIZ UDゴシック" panose="020B0400000000000000" pitchFamily="49" charset="-128"/>
                <a:ea typeface="BIZ UDゴシック" panose="020B0400000000000000" pitchFamily="49" charset="-128"/>
              </a:rPr>
              <a:t>n=100</a:t>
            </a:r>
            <a:r>
              <a:rPr kumimoji="1" lang="ja-JP" altLang="en-US" dirty="0">
                <a:latin typeface="BIZ UDゴシック" panose="020B0400000000000000" pitchFamily="49" charset="-128"/>
                <a:ea typeface="BIZ UDゴシック" panose="020B0400000000000000" pitchFamily="49" charset="-128"/>
              </a:rPr>
              <a:t>）ため、すべてのエンジンおよび手法において、推定値（平均・差分・標準偏差）はほぼ完全に一致する。 </a:t>
            </a:r>
          </a:p>
        </p:txBody>
      </p:sp>
    </p:spTree>
    <p:extLst>
      <p:ext uri="{BB962C8B-B14F-4D97-AF65-F5344CB8AC3E}">
        <p14:creationId xmlns:p14="http://schemas.microsoft.com/office/powerpoint/2010/main" val="1105873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595137-4136-CB30-3C62-CBCD6B1582F6}"/>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FDD00626-B930-9FA1-E129-423A8D7E095D}"/>
              </a:ext>
            </a:extLst>
          </p:cNvPr>
          <p:cNvSpPr>
            <a:spLocks noGrp="1"/>
          </p:cNvSpPr>
          <p:nvPr>
            <p:ph type="title"/>
          </p:nvPr>
        </p:nvSpPr>
        <p:spPr>
          <a:xfrm>
            <a:off x="838200" y="365126"/>
            <a:ext cx="10515600" cy="456808"/>
          </a:xfrm>
        </p:spPr>
        <p:txBody>
          <a:bodyPr>
            <a:normAutofit fontScale="90000"/>
          </a:bodyPr>
          <a:lstStyle/>
          <a:p>
            <a:r>
              <a:rPr kumimoji="1" lang="en-US" altLang="ja-JP" sz="3200" dirty="0">
                <a:latin typeface="BIZ UDゴシック" panose="020B0400000000000000" pitchFamily="49" charset="-128"/>
                <a:ea typeface="BIZ UDゴシック" panose="020B0400000000000000" pitchFamily="49" charset="-128"/>
              </a:rPr>
              <a:t>6.3 </a:t>
            </a:r>
            <a:r>
              <a:rPr kumimoji="1" lang="ja-JP" altLang="en-US" sz="3200" dirty="0">
                <a:latin typeface="BIZ UDゴシック" panose="020B0400000000000000" pitchFamily="49" charset="-128"/>
                <a:ea typeface="BIZ UDゴシック" panose="020B0400000000000000" pitchFamily="49" charset="-128"/>
              </a:rPr>
              <a:t>不等分散の</a:t>
            </a:r>
            <a:r>
              <a:rPr kumimoji="1" lang="en-US" altLang="ja-JP" sz="3200" dirty="0">
                <a:latin typeface="BIZ UDゴシック" panose="020B0400000000000000" pitchFamily="49" charset="-128"/>
                <a:ea typeface="BIZ UDゴシック" panose="020B0400000000000000" pitchFamily="49" charset="-128"/>
              </a:rPr>
              <a:t>2</a:t>
            </a:r>
            <a:r>
              <a:rPr kumimoji="1" lang="ja-JP" altLang="en-US" sz="3200" dirty="0">
                <a:latin typeface="BIZ UDゴシック" panose="020B0400000000000000" pitchFamily="49" charset="-128"/>
                <a:ea typeface="BIZ UDゴシック" panose="020B0400000000000000" pitchFamily="49" charset="-128"/>
              </a:rPr>
              <a:t>グループ比較 </a:t>
            </a:r>
            <a:br>
              <a:rPr kumimoji="1" lang="en-US" altLang="ja-JP" sz="3200" dirty="0">
                <a:latin typeface="BIZ UDゴシック" panose="020B0400000000000000" pitchFamily="49" charset="-128"/>
                <a:ea typeface="BIZ UDゴシック" panose="020B0400000000000000" pitchFamily="49" charset="-128"/>
              </a:rPr>
            </a:br>
            <a:r>
              <a:rPr kumimoji="1" lang="en-US" altLang="ja-JP" sz="3200" dirty="0">
                <a:latin typeface="BIZ UDゴシック" panose="020B0400000000000000" pitchFamily="49" charset="-128"/>
                <a:ea typeface="BIZ UDゴシック" panose="020B0400000000000000" pitchFamily="49" charset="-128"/>
              </a:rPr>
              <a:t>(Comparing two groups with unequal variances)</a:t>
            </a:r>
            <a:endParaRPr kumimoji="1" lang="ja-JP" altLang="en-US" sz="3200" dirty="0">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45310487-AC29-292D-1D09-9578B82E22B6}"/>
              </a:ext>
            </a:extLst>
          </p:cNvPr>
          <p:cNvSpPr>
            <a:spLocks noGrp="1"/>
          </p:cNvSpPr>
          <p:nvPr>
            <p:ph idx="1"/>
          </p:nvPr>
        </p:nvSpPr>
        <p:spPr>
          <a:xfrm>
            <a:off x="308225" y="1160980"/>
            <a:ext cx="11883775" cy="5548045"/>
          </a:xfrm>
        </p:spPr>
        <p:txBody>
          <a:bodyPr>
            <a:normAutofit fontScale="70000" lnSpcReduction="20000"/>
          </a:bodyPr>
          <a:lstStyle/>
          <a:p>
            <a:pPr marL="0" indent="0">
              <a:buNone/>
            </a:pPr>
            <a:r>
              <a:rPr kumimoji="1" lang="en-US" altLang="ja-JP" dirty="0">
                <a:latin typeface="BIZ UDゴシック" panose="020B0400000000000000" pitchFamily="49" charset="-128"/>
                <a:ea typeface="BIZ UDゴシック" panose="020B0400000000000000" pitchFamily="49" charset="-128"/>
              </a:rPr>
              <a:t>6.3.1 </a:t>
            </a:r>
            <a:r>
              <a:rPr kumimoji="1" lang="ja-JP" altLang="en-US" dirty="0">
                <a:latin typeface="BIZ UDゴシック" panose="020B0400000000000000" pitchFamily="49" charset="-128"/>
                <a:ea typeface="BIZ UDゴシック" panose="020B0400000000000000" pitchFamily="49" charset="-128"/>
              </a:rPr>
              <a:t>データの生成 </a:t>
            </a:r>
            <a:r>
              <a:rPr kumimoji="1" lang="en-US" altLang="ja-JP" dirty="0">
                <a:latin typeface="BIZ UDゴシック" panose="020B0400000000000000" pitchFamily="49" charset="-128"/>
                <a:ea typeface="BIZ UDゴシック" panose="020B0400000000000000" pitchFamily="49" charset="-128"/>
              </a:rPr>
              <a:t>(Data generation)</a:t>
            </a:r>
          </a:p>
          <a:p>
            <a:pPr marL="0" indent="0">
              <a:buNone/>
            </a:pPr>
            <a:r>
              <a:rPr kumimoji="1" lang="ja-JP" altLang="en-US" dirty="0">
                <a:latin typeface="BIZ UDゴシック" panose="020B0400000000000000" pitchFamily="49" charset="-128"/>
                <a:ea typeface="BIZ UDゴシック" panose="020B0400000000000000" pitchFamily="49" charset="-128"/>
              </a:rPr>
              <a:t>雌雄で標準偏差が異なるデータセットをシミュレート（雌</a:t>
            </a:r>
            <a:r>
              <a:rPr kumimoji="1" lang="en-US" altLang="ja-JP" dirty="0">
                <a:latin typeface="BIZ UDゴシック" panose="020B0400000000000000" pitchFamily="49" charset="-128"/>
                <a:ea typeface="BIZ UDゴシック" panose="020B0400000000000000" pitchFamily="49" charset="-128"/>
              </a:rPr>
              <a:t>SD $\sigma_1 = 3.0$</a:t>
            </a:r>
            <a:r>
              <a:rPr kumimoji="1" lang="ja-JP" altLang="en-US" dirty="0">
                <a:latin typeface="BIZ UDゴシック" panose="020B0400000000000000" pitchFamily="49" charset="-128"/>
                <a:ea typeface="BIZ UDゴシック" panose="020B0400000000000000" pitchFamily="49" charset="-128"/>
              </a:rPr>
              <a:t>、雄</a:t>
            </a:r>
            <a:r>
              <a:rPr kumimoji="1" lang="en-US" altLang="ja-JP" dirty="0">
                <a:latin typeface="BIZ UDゴシック" panose="020B0400000000000000" pitchFamily="49" charset="-128"/>
                <a:ea typeface="BIZ UDゴシック" panose="020B0400000000000000" pitchFamily="49" charset="-128"/>
              </a:rPr>
              <a:t>SD $\sigma_2 = 2.5$</a:t>
            </a:r>
            <a:r>
              <a:rPr kumimoji="1" lang="ja-JP" altLang="en-US" dirty="0">
                <a:latin typeface="BIZ UDゴシック" panose="020B0400000000000000" pitchFamily="49" charset="-128"/>
                <a:ea typeface="BIZ UDゴシック" panose="020B0400000000000000" pitchFamily="49" charset="-128"/>
              </a:rPr>
              <a:t>）。   </a:t>
            </a:r>
            <a:endParaRPr kumimoji="1" lang="en-US" altLang="ja-JP" dirty="0">
              <a:latin typeface="BIZ UDゴシック" panose="020B0400000000000000" pitchFamily="49" charset="-128"/>
              <a:ea typeface="BIZ UDゴシック" panose="020B0400000000000000" pitchFamily="49" charset="-128"/>
            </a:endParaRPr>
          </a:p>
          <a:p>
            <a:pPr marL="0" indent="0">
              <a:buNone/>
            </a:pPr>
            <a:endParaRPr kumimoji="1" lang="en-US" altLang="ja-JP" dirty="0">
              <a:latin typeface="BIZ UDゴシック" panose="020B0400000000000000" pitchFamily="49" charset="-128"/>
              <a:ea typeface="BIZ UDゴシック" panose="020B0400000000000000" pitchFamily="49" charset="-128"/>
            </a:endParaRPr>
          </a:p>
          <a:p>
            <a:pPr marL="0" indent="0">
              <a:buNone/>
            </a:pPr>
            <a:r>
              <a:rPr kumimoji="1" lang="en-US" altLang="ja-JP" dirty="0">
                <a:latin typeface="BIZ UDゴシック" panose="020B0400000000000000" pitchFamily="49" charset="-128"/>
                <a:ea typeface="BIZ UDゴシック" panose="020B0400000000000000" pitchFamily="49" charset="-128"/>
              </a:rPr>
              <a:t>6.3.2 R</a:t>
            </a:r>
            <a:r>
              <a:rPr kumimoji="1" lang="ja-JP" altLang="en-US" dirty="0">
                <a:latin typeface="BIZ UDゴシック" panose="020B0400000000000000" pitchFamily="49" charset="-128"/>
                <a:ea typeface="BIZ UDゴシック" panose="020B0400000000000000" pitchFamily="49" charset="-128"/>
              </a:rPr>
              <a:t>の標準関数による頻度論分析 </a:t>
            </a:r>
            <a:r>
              <a:rPr kumimoji="1" lang="en-US" altLang="ja-JP" dirty="0">
                <a:latin typeface="BIZ UDゴシック" panose="020B0400000000000000" pitchFamily="49" charset="-128"/>
                <a:ea typeface="BIZ UDゴシック" panose="020B0400000000000000" pitchFamily="49" charset="-128"/>
              </a:rPr>
              <a:t>(Frequentist analysis with canned functions in R)</a:t>
            </a:r>
          </a:p>
          <a:p>
            <a:pPr marL="0" indent="0">
              <a:buNone/>
            </a:pPr>
            <a:r>
              <a:rPr kumimoji="1" lang="en-US" altLang="ja-JP" dirty="0">
                <a:latin typeface="BIZ UDゴシック" panose="020B0400000000000000" pitchFamily="49" charset="-128"/>
                <a:ea typeface="BIZ UDゴシック" panose="020B0400000000000000" pitchFamily="49" charset="-128"/>
              </a:rPr>
              <a:t>R</a:t>
            </a:r>
            <a:r>
              <a:rPr kumimoji="1" lang="ja-JP" altLang="en-US" dirty="0">
                <a:latin typeface="BIZ UDゴシック" panose="020B0400000000000000" pitchFamily="49" charset="-128"/>
                <a:ea typeface="BIZ UDゴシック" panose="020B0400000000000000" pitchFamily="49" charset="-128"/>
              </a:rPr>
              <a:t>の標準関数 </a:t>
            </a:r>
            <a:r>
              <a:rPr kumimoji="1" lang="en-US" altLang="ja-JP" dirty="0" err="1">
                <a:latin typeface="BIZ UDゴシック" panose="020B0400000000000000" pitchFamily="49" charset="-128"/>
                <a:ea typeface="BIZ UDゴシック" panose="020B0400000000000000" pitchFamily="49" charset="-128"/>
              </a:rPr>
              <a:t>lm</a:t>
            </a:r>
            <a:r>
              <a:rPr kumimoji="1" lang="en-US" altLang="ja-JP" dirty="0">
                <a:latin typeface="BIZ UDゴシック" panose="020B0400000000000000" pitchFamily="49" charset="-128"/>
                <a:ea typeface="BIZ UDゴシック" panose="020B0400000000000000" pitchFamily="49" charset="-128"/>
              </a:rPr>
              <a:t>() </a:t>
            </a:r>
            <a:r>
              <a:rPr kumimoji="1" lang="ja-JP" altLang="en-US" dirty="0">
                <a:latin typeface="BIZ UDゴシック" panose="020B0400000000000000" pitchFamily="49" charset="-128"/>
                <a:ea typeface="BIZ UDゴシック" panose="020B0400000000000000" pitchFamily="49" charset="-128"/>
              </a:rPr>
              <a:t>では不等分散モデルを直接扱えないため、</a:t>
            </a:r>
            <a:r>
              <a:rPr kumimoji="1" lang="en-US" altLang="ja-JP" dirty="0" err="1">
                <a:latin typeface="BIZ UDゴシック" panose="020B0400000000000000" pitchFamily="49" charset="-128"/>
                <a:ea typeface="BIZ UDゴシック" panose="020B0400000000000000" pitchFamily="49" charset="-128"/>
              </a:rPr>
              <a:t>t.test</a:t>
            </a:r>
            <a:r>
              <a:rPr kumimoji="1" lang="en-US" altLang="ja-JP" dirty="0">
                <a:latin typeface="BIZ UDゴシック" panose="020B0400000000000000" pitchFamily="49" charset="-128"/>
                <a:ea typeface="BIZ UDゴシック" panose="020B0400000000000000" pitchFamily="49" charset="-128"/>
              </a:rPr>
              <a:t>(y ~ x, </a:t>
            </a:r>
            <a:r>
              <a:rPr kumimoji="1" lang="en-US" altLang="ja-JP" dirty="0" err="1">
                <a:latin typeface="BIZ UDゴシック" panose="020B0400000000000000" pitchFamily="49" charset="-128"/>
                <a:ea typeface="BIZ UDゴシック" panose="020B0400000000000000" pitchFamily="49" charset="-128"/>
              </a:rPr>
              <a:t>var.equal</a:t>
            </a:r>
            <a:r>
              <a:rPr kumimoji="1" lang="en-US" altLang="ja-JP" dirty="0">
                <a:latin typeface="BIZ UDゴシック" panose="020B0400000000000000" pitchFamily="49" charset="-128"/>
                <a:ea typeface="BIZ UDゴシック" panose="020B0400000000000000" pitchFamily="49" charset="-128"/>
              </a:rPr>
              <a:t> = FALSE)</a:t>
            </a:r>
            <a:r>
              <a:rPr kumimoji="1" lang="ja-JP" altLang="en-US" dirty="0">
                <a:latin typeface="BIZ UDゴシック" panose="020B0400000000000000" pitchFamily="49" charset="-128"/>
                <a:ea typeface="BIZ UDゴシック" panose="020B0400000000000000" pitchFamily="49" charset="-128"/>
              </a:rPr>
              <a:t>（</a:t>
            </a:r>
            <a:r>
              <a:rPr kumimoji="1" lang="en-US" altLang="ja-JP" dirty="0">
                <a:latin typeface="BIZ UDゴシック" panose="020B0400000000000000" pitchFamily="49" charset="-128"/>
                <a:ea typeface="BIZ UDゴシック" panose="020B0400000000000000" pitchFamily="49" charset="-128"/>
              </a:rPr>
              <a:t>Welch</a:t>
            </a:r>
            <a:r>
              <a:rPr kumimoji="1" lang="ja-JP" altLang="en-US" dirty="0">
                <a:latin typeface="BIZ UDゴシック" panose="020B0400000000000000" pitchFamily="49" charset="-128"/>
                <a:ea typeface="BIZ UDゴシック" panose="020B0400000000000000" pitchFamily="49" charset="-128"/>
              </a:rPr>
              <a:t>の</a:t>
            </a:r>
            <a:r>
              <a:rPr kumimoji="1" lang="en-US" altLang="ja-JP" dirty="0">
                <a:latin typeface="BIZ UDゴシック" panose="020B0400000000000000" pitchFamily="49" charset="-128"/>
                <a:ea typeface="BIZ UDゴシック" panose="020B0400000000000000" pitchFamily="49" charset="-128"/>
              </a:rPr>
              <a:t>2</a:t>
            </a:r>
            <a:r>
              <a:rPr kumimoji="1" lang="ja-JP" altLang="en-US" dirty="0">
                <a:latin typeface="BIZ UDゴシック" panose="020B0400000000000000" pitchFamily="49" charset="-128"/>
                <a:ea typeface="BIZ UDゴシック" panose="020B0400000000000000" pitchFamily="49" charset="-128"/>
              </a:rPr>
              <a:t>標本</a:t>
            </a:r>
            <a:r>
              <a:rPr kumimoji="1" lang="en-US" altLang="ja-JP" dirty="0">
                <a:latin typeface="BIZ UDゴシック" panose="020B0400000000000000" pitchFamily="49" charset="-128"/>
                <a:ea typeface="BIZ UDゴシック" panose="020B0400000000000000" pitchFamily="49" charset="-128"/>
              </a:rPr>
              <a:t>t</a:t>
            </a:r>
            <a:r>
              <a:rPr kumimoji="1" lang="ja-JP" altLang="en-US" dirty="0">
                <a:latin typeface="BIZ UDゴシック" panose="020B0400000000000000" pitchFamily="49" charset="-128"/>
                <a:ea typeface="BIZ UDゴシック" panose="020B0400000000000000" pitchFamily="49" charset="-128"/>
              </a:rPr>
              <a:t>検定）を使用する。   </a:t>
            </a:r>
            <a:endParaRPr kumimoji="1" lang="en-US" altLang="ja-JP" dirty="0">
              <a:latin typeface="BIZ UDゴシック" panose="020B0400000000000000" pitchFamily="49" charset="-128"/>
              <a:ea typeface="BIZ UDゴシック" panose="020B0400000000000000" pitchFamily="49" charset="-128"/>
            </a:endParaRPr>
          </a:p>
          <a:p>
            <a:pPr marL="0" indent="0">
              <a:buNone/>
            </a:pPr>
            <a:r>
              <a:rPr kumimoji="1" lang="ja-JP" altLang="en-US" dirty="0">
                <a:latin typeface="BIZ UDゴシック" panose="020B0400000000000000" pitchFamily="49" charset="-128"/>
                <a:ea typeface="BIZ UDゴシック" panose="020B0400000000000000" pitchFamily="49" charset="-128"/>
              </a:rPr>
              <a:t>ただし </a:t>
            </a:r>
            <a:r>
              <a:rPr kumimoji="1" lang="en-US" altLang="ja-JP" dirty="0" err="1">
                <a:latin typeface="BIZ UDゴシック" panose="020B0400000000000000" pitchFamily="49" charset="-128"/>
                <a:ea typeface="BIZ UDゴシック" panose="020B0400000000000000" pitchFamily="49" charset="-128"/>
              </a:rPr>
              <a:t>t.test</a:t>
            </a:r>
            <a:r>
              <a:rPr kumimoji="1" lang="en-US" altLang="ja-JP" dirty="0">
                <a:latin typeface="BIZ UDゴシック" panose="020B0400000000000000" pitchFamily="49" charset="-128"/>
                <a:ea typeface="BIZ UDゴシック" panose="020B0400000000000000" pitchFamily="49" charset="-128"/>
              </a:rPr>
              <a:t> </a:t>
            </a:r>
            <a:r>
              <a:rPr kumimoji="1" lang="ja-JP" altLang="en-US" dirty="0">
                <a:latin typeface="BIZ UDゴシック" panose="020B0400000000000000" pitchFamily="49" charset="-128"/>
                <a:ea typeface="BIZ UDゴシック" panose="020B0400000000000000" pitchFamily="49" charset="-128"/>
              </a:rPr>
              <a:t>からはグループ別の分散推定値は出力されない。   </a:t>
            </a:r>
            <a:endParaRPr kumimoji="1" lang="en-US" altLang="ja-JP" dirty="0">
              <a:latin typeface="BIZ UDゴシック" panose="020B0400000000000000" pitchFamily="49" charset="-128"/>
              <a:ea typeface="BIZ UDゴシック" panose="020B0400000000000000" pitchFamily="49" charset="-128"/>
            </a:endParaRPr>
          </a:p>
          <a:p>
            <a:pPr marL="0" indent="0">
              <a:buNone/>
            </a:pPr>
            <a:endParaRPr lang="en-US" altLang="ja-JP" dirty="0">
              <a:latin typeface="BIZ UDゴシック" panose="020B0400000000000000" pitchFamily="49" charset="-128"/>
              <a:ea typeface="BIZ UDゴシック" panose="020B0400000000000000" pitchFamily="49" charset="-128"/>
            </a:endParaRPr>
          </a:p>
          <a:p>
            <a:pPr marL="0" indent="0">
              <a:buNone/>
            </a:pPr>
            <a:r>
              <a:rPr kumimoji="1" lang="en-US" altLang="ja-JP" dirty="0">
                <a:latin typeface="BIZ UDゴシック" panose="020B0400000000000000" pitchFamily="49" charset="-128"/>
                <a:ea typeface="BIZ UDゴシック" panose="020B0400000000000000" pitchFamily="49" charset="-128"/>
              </a:rPr>
              <a:t>6.3.3 JAGS</a:t>
            </a:r>
            <a:r>
              <a:rPr kumimoji="1" lang="ja-JP" altLang="en-US" dirty="0">
                <a:latin typeface="BIZ UDゴシック" panose="020B0400000000000000" pitchFamily="49" charset="-128"/>
                <a:ea typeface="BIZ UDゴシック" panose="020B0400000000000000" pitchFamily="49" charset="-128"/>
              </a:rPr>
              <a:t>によるベイズ分析 </a:t>
            </a:r>
            <a:r>
              <a:rPr kumimoji="1" lang="en-US" altLang="ja-JP" dirty="0">
                <a:latin typeface="BIZ UDゴシック" panose="020B0400000000000000" pitchFamily="49" charset="-128"/>
                <a:ea typeface="BIZ UDゴシック" panose="020B0400000000000000" pitchFamily="49" charset="-128"/>
              </a:rPr>
              <a:t>(Bayesian analysis with JAGS)2</a:t>
            </a:r>
            <a:r>
              <a:rPr kumimoji="1" lang="ja-JP" altLang="en-US" dirty="0">
                <a:latin typeface="BIZ UDゴシック" panose="020B0400000000000000" pitchFamily="49" charset="-128"/>
                <a:ea typeface="BIZ UDゴシック" panose="020B0400000000000000" pitchFamily="49" charset="-128"/>
              </a:rPr>
              <a:t>つの独立した「平均のモデル」を同時に結合させたモデルを構築。   </a:t>
            </a:r>
            <a:endParaRPr kumimoji="1" lang="en-US" altLang="ja-JP" dirty="0">
              <a:latin typeface="BIZ UDゴシック" panose="020B0400000000000000" pitchFamily="49" charset="-128"/>
              <a:ea typeface="BIZ UDゴシック" panose="020B0400000000000000" pitchFamily="49" charset="-128"/>
            </a:endParaRPr>
          </a:p>
          <a:p>
            <a:pPr marL="0" indent="0">
              <a:buNone/>
            </a:pPr>
            <a:r>
              <a:rPr kumimoji="1" lang="ja-JP" altLang="en-US" dirty="0">
                <a:latin typeface="BIZ UDゴシック" panose="020B0400000000000000" pitchFamily="49" charset="-128"/>
                <a:ea typeface="BIZ UDゴシック" panose="020B0400000000000000" pitchFamily="49" charset="-128"/>
              </a:rPr>
              <a:t>雌雄それぞれに固有の平均（</a:t>
            </a:r>
            <a:r>
              <a:rPr kumimoji="1" lang="en-US" altLang="ja-JP" dirty="0">
                <a:latin typeface="BIZ UDゴシック" panose="020B0400000000000000" pitchFamily="49" charset="-128"/>
                <a:ea typeface="BIZ UDゴシック" panose="020B0400000000000000" pitchFamily="49" charset="-128"/>
              </a:rPr>
              <a:t>mu1, mu2</a:t>
            </a:r>
            <a:r>
              <a:rPr kumimoji="1" lang="ja-JP" altLang="en-US" dirty="0">
                <a:latin typeface="BIZ UDゴシック" panose="020B0400000000000000" pitchFamily="49" charset="-128"/>
                <a:ea typeface="BIZ UDゴシック" panose="020B0400000000000000" pitchFamily="49" charset="-128"/>
              </a:rPr>
              <a:t>）と精度</a:t>
            </a:r>
            <a:r>
              <a:rPr kumimoji="1" lang="en-US" altLang="ja-JP" dirty="0">
                <a:latin typeface="BIZ UDゴシック" panose="020B0400000000000000" pitchFamily="49" charset="-128"/>
                <a:ea typeface="BIZ UDゴシック" panose="020B0400000000000000" pitchFamily="49" charset="-128"/>
              </a:rPr>
              <a:t>/</a:t>
            </a:r>
            <a:r>
              <a:rPr kumimoji="1" lang="ja-JP" altLang="en-US" dirty="0">
                <a:latin typeface="BIZ UDゴシック" panose="020B0400000000000000" pitchFamily="49" charset="-128"/>
                <a:ea typeface="BIZ UDゴシック" panose="020B0400000000000000" pitchFamily="49" charset="-128"/>
              </a:rPr>
              <a:t>標準偏差（</a:t>
            </a:r>
            <a:r>
              <a:rPr kumimoji="1" lang="en-US" altLang="ja-JP" dirty="0">
                <a:latin typeface="BIZ UDゴシック" panose="020B0400000000000000" pitchFamily="49" charset="-128"/>
                <a:ea typeface="BIZ UDゴシック" panose="020B0400000000000000" pitchFamily="49" charset="-128"/>
              </a:rPr>
              <a:t>sigma1, sigma2</a:t>
            </a:r>
            <a:r>
              <a:rPr kumimoji="1" lang="ja-JP" altLang="en-US" dirty="0">
                <a:latin typeface="BIZ UDゴシック" panose="020B0400000000000000" pitchFamily="49" charset="-128"/>
                <a:ea typeface="BIZ UDゴシック" panose="020B0400000000000000" pitchFamily="49" charset="-128"/>
              </a:rPr>
              <a:t>）の事前分布および尤度ループを記述し、差分 </a:t>
            </a:r>
            <a:r>
              <a:rPr kumimoji="1" lang="en-US" altLang="ja-JP" dirty="0">
                <a:latin typeface="BIZ UDゴシック" panose="020B0400000000000000" pitchFamily="49" charset="-128"/>
                <a:ea typeface="BIZ UDゴシック" panose="020B0400000000000000" pitchFamily="49" charset="-128"/>
              </a:rPr>
              <a:t>delta &lt;- mu2 - mu1 </a:t>
            </a:r>
            <a:r>
              <a:rPr kumimoji="1" lang="ja-JP" altLang="en-US" dirty="0">
                <a:latin typeface="BIZ UDゴシック" panose="020B0400000000000000" pitchFamily="49" charset="-128"/>
                <a:ea typeface="BIZ UDゴシック" panose="020B0400000000000000" pitchFamily="49" charset="-128"/>
              </a:rPr>
              <a:t>を派生パラメータとして算出する。   </a:t>
            </a:r>
            <a:endParaRPr kumimoji="1" lang="en-US" altLang="ja-JP" dirty="0">
              <a:latin typeface="BIZ UDゴシック" panose="020B0400000000000000" pitchFamily="49" charset="-128"/>
              <a:ea typeface="BIZ UDゴシック" panose="020B0400000000000000" pitchFamily="49" charset="-128"/>
            </a:endParaRPr>
          </a:p>
          <a:p>
            <a:pPr marL="0" indent="0">
              <a:buNone/>
            </a:pPr>
            <a:r>
              <a:rPr kumimoji="1" lang="en-US" altLang="ja-JP" dirty="0">
                <a:latin typeface="BIZ UDゴシック" panose="020B0400000000000000" pitchFamily="49" charset="-128"/>
                <a:ea typeface="BIZ UDゴシック" panose="020B0400000000000000" pitchFamily="49" charset="-128"/>
              </a:rPr>
              <a:t>2</a:t>
            </a:r>
            <a:r>
              <a:rPr kumimoji="1" lang="ja-JP" altLang="en-US" dirty="0">
                <a:latin typeface="BIZ UDゴシック" panose="020B0400000000000000" pitchFamily="49" charset="-128"/>
                <a:ea typeface="BIZ UDゴシック" panose="020B0400000000000000" pitchFamily="49" charset="-128"/>
              </a:rPr>
              <a:t>つの分散</a:t>
            </a:r>
            <a:r>
              <a:rPr kumimoji="1" lang="en-US" altLang="ja-JP" dirty="0">
                <a:latin typeface="BIZ UDゴシック" panose="020B0400000000000000" pitchFamily="49" charset="-128"/>
                <a:ea typeface="BIZ UDゴシック" panose="020B0400000000000000" pitchFamily="49" charset="-128"/>
              </a:rPr>
              <a:t>/</a:t>
            </a:r>
            <a:r>
              <a:rPr kumimoji="1" lang="ja-JP" altLang="en-US" dirty="0">
                <a:latin typeface="BIZ UDゴシック" panose="020B0400000000000000" pitchFamily="49" charset="-128"/>
                <a:ea typeface="BIZ UDゴシック" panose="020B0400000000000000" pitchFamily="49" charset="-128"/>
              </a:rPr>
              <a:t>標準偏差が異なるかどうかの検定は、</a:t>
            </a:r>
            <a:r>
              <a:rPr kumimoji="1" lang="en-US" altLang="ja-JP" dirty="0">
                <a:latin typeface="BIZ UDゴシック" panose="020B0400000000000000" pitchFamily="49" charset="-128"/>
                <a:ea typeface="BIZ UDゴシック" panose="020B0400000000000000" pitchFamily="49" charset="-128"/>
              </a:rPr>
              <a:t>R</a:t>
            </a:r>
            <a:r>
              <a:rPr kumimoji="1" lang="ja-JP" altLang="en-US" dirty="0">
                <a:latin typeface="BIZ UDゴシック" panose="020B0400000000000000" pitchFamily="49" charset="-128"/>
                <a:ea typeface="BIZ UDゴシック" panose="020B0400000000000000" pitchFamily="49" charset="-128"/>
              </a:rPr>
              <a:t>側で事後サンプルの差分（</a:t>
            </a:r>
            <a:r>
              <a:rPr kumimoji="1" lang="en-US" altLang="ja-JP" dirty="0">
                <a:latin typeface="BIZ UDゴシック" panose="020B0400000000000000" pitchFamily="49" charset="-128"/>
                <a:ea typeface="BIZ UDゴシック" panose="020B0400000000000000" pitchFamily="49" charset="-128"/>
              </a:rPr>
              <a:t>sigma2 - sigma1</a:t>
            </a:r>
            <a:r>
              <a:rPr kumimoji="1" lang="ja-JP" altLang="en-US" dirty="0">
                <a:latin typeface="BIZ UDゴシック" panose="020B0400000000000000" pitchFamily="49" charset="-128"/>
                <a:ea typeface="BIZ UDゴシック" panose="020B0400000000000000" pitchFamily="49" charset="-128"/>
              </a:rPr>
              <a:t>）の信用区間を計算することでも容易に行える。   </a:t>
            </a:r>
            <a:endParaRPr kumimoji="1" lang="en-US" altLang="ja-JP" dirty="0">
              <a:latin typeface="BIZ UDゴシック" panose="020B0400000000000000" pitchFamily="49" charset="-128"/>
              <a:ea typeface="BIZ UDゴシック" panose="020B0400000000000000" pitchFamily="49" charset="-128"/>
            </a:endParaRPr>
          </a:p>
          <a:p>
            <a:pPr marL="0" indent="0">
              <a:buNone/>
            </a:pPr>
            <a:endParaRPr kumimoji="1" lang="en-US" altLang="ja-JP" dirty="0">
              <a:latin typeface="BIZ UDゴシック" panose="020B0400000000000000" pitchFamily="49" charset="-128"/>
              <a:ea typeface="BIZ UDゴシック" panose="020B0400000000000000" pitchFamily="49" charset="-128"/>
            </a:endParaRPr>
          </a:p>
          <a:p>
            <a:pPr marL="0" indent="0">
              <a:buNone/>
            </a:pPr>
            <a:r>
              <a:rPr kumimoji="1" lang="en-US" altLang="ja-JP" dirty="0">
                <a:latin typeface="BIZ UDゴシック" panose="020B0400000000000000" pitchFamily="49" charset="-128"/>
                <a:ea typeface="BIZ UDゴシック" panose="020B0400000000000000" pitchFamily="49" charset="-128"/>
              </a:rPr>
              <a:t>6.3.4 NIMBLE</a:t>
            </a:r>
            <a:r>
              <a:rPr kumimoji="1" lang="ja-JP" altLang="en-US" dirty="0">
                <a:latin typeface="BIZ UDゴシック" panose="020B0400000000000000" pitchFamily="49" charset="-128"/>
                <a:ea typeface="BIZ UDゴシック" panose="020B0400000000000000" pitchFamily="49" charset="-128"/>
              </a:rPr>
              <a:t>によるベイズ分析 </a:t>
            </a:r>
            <a:r>
              <a:rPr kumimoji="1" lang="en-US" altLang="ja-JP" dirty="0">
                <a:latin typeface="BIZ UDゴシック" panose="020B0400000000000000" pitchFamily="49" charset="-128"/>
                <a:ea typeface="BIZ UDゴシック" panose="020B0400000000000000" pitchFamily="49" charset="-128"/>
              </a:rPr>
              <a:t>(Bayesian analysis with NIMBLE)</a:t>
            </a:r>
            <a:r>
              <a:rPr kumimoji="1" lang="ja-JP" altLang="en-US" dirty="0">
                <a:latin typeface="BIZ UDゴシック" panose="020B0400000000000000" pitchFamily="49" charset="-128"/>
                <a:ea typeface="BIZ UDゴシック" panose="020B0400000000000000" pitchFamily="49" charset="-128"/>
              </a:rPr>
              <a:t>同様の構造を持つ</a:t>
            </a:r>
            <a:r>
              <a:rPr kumimoji="1" lang="en-US" altLang="ja-JP" dirty="0">
                <a:latin typeface="BIZ UDゴシック" panose="020B0400000000000000" pitchFamily="49" charset="-128"/>
                <a:ea typeface="BIZ UDゴシック" panose="020B0400000000000000" pitchFamily="49" charset="-128"/>
              </a:rPr>
              <a:t>NIMBLE</a:t>
            </a:r>
            <a:r>
              <a:rPr kumimoji="1" lang="ja-JP" altLang="en-US" dirty="0">
                <a:latin typeface="BIZ UDゴシック" panose="020B0400000000000000" pitchFamily="49" charset="-128"/>
                <a:ea typeface="BIZ UDゴシック" panose="020B0400000000000000" pitchFamily="49" charset="-128"/>
              </a:rPr>
              <a:t>コードの実行（</a:t>
            </a:r>
            <a:r>
              <a:rPr kumimoji="1" lang="en-US" altLang="ja-JP" dirty="0">
                <a:latin typeface="BIZ UDゴシック" panose="020B0400000000000000" pitchFamily="49" charset="-128"/>
                <a:ea typeface="BIZ UDゴシック" panose="020B0400000000000000" pitchFamily="49" charset="-128"/>
              </a:rPr>
              <a:t>Web</a:t>
            </a:r>
            <a:r>
              <a:rPr kumimoji="1" lang="ja-JP" altLang="en-US" dirty="0">
                <a:latin typeface="BIZ UDゴシック" panose="020B0400000000000000" pitchFamily="49" charset="-128"/>
                <a:ea typeface="BIZ UDゴシック" panose="020B0400000000000000" pitchFamily="49" charset="-128"/>
              </a:rPr>
              <a:t>サイト参照）。</a:t>
            </a:r>
          </a:p>
        </p:txBody>
      </p:sp>
    </p:spTree>
    <p:extLst>
      <p:ext uri="{BB962C8B-B14F-4D97-AF65-F5344CB8AC3E}">
        <p14:creationId xmlns:p14="http://schemas.microsoft.com/office/powerpoint/2010/main" val="48105064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4EFCF-2E9D-B012-032A-FA31DDD351B3}"/>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612594F6-1127-304D-B37F-61176535A32A}"/>
              </a:ext>
            </a:extLst>
          </p:cNvPr>
          <p:cNvSpPr>
            <a:spLocks noGrp="1"/>
          </p:cNvSpPr>
          <p:nvPr>
            <p:ph type="title"/>
          </p:nvPr>
        </p:nvSpPr>
        <p:spPr>
          <a:xfrm>
            <a:off x="838200" y="365126"/>
            <a:ext cx="10515600" cy="220502"/>
          </a:xfrm>
        </p:spPr>
        <p:txBody>
          <a:bodyPr>
            <a:noAutofit/>
          </a:bodyPr>
          <a:lstStyle/>
          <a:p>
            <a:r>
              <a:rPr kumimoji="1" lang="en-US" altLang="ja-JP" sz="3200" dirty="0">
                <a:latin typeface="BIZ UDゴシック" panose="020B0400000000000000" pitchFamily="49" charset="-128"/>
                <a:ea typeface="BIZ UDゴシック" panose="020B0400000000000000" pitchFamily="49" charset="-128"/>
              </a:rPr>
              <a:t>6.3 </a:t>
            </a:r>
            <a:r>
              <a:rPr kumimoji="1" lang="ja-JP" altLang="en-US" sz="3200" dirty="0">
                <a:latin typeface="BIZ UDゴシック" panose="020B0400000000000000" pitchFamily="49" charset="-128"/>
                <a:ea typeface="BIZ UDゴシック" panose="020B0400000000000000" pitchFamily="49" charset="-128"/>
              </a:rPr>
              <a:t>不等分散の</a:t>
            </a:r>
            <a:r>
              <a:rPr kumimoji="1" lang="en-US" altLang="ja-JP" sz="3200" dirty="0">
                <a:latin typeface="BIZ UDゴシック" panose="020B0400000000000000" pitchFamily="49" charset="-128"/>
                <a:ea typeface="BIZ UDゴシック" panose="020B0400000000000000" pitchFamily="49" charset="-128"/>
              </a:rPr>
              <a:t>2</a:t>
            </a:r>
            <a:r>
              <a:rPr kumimoji="1" lang="ja-JP" altLang="en-US" sz="3200" dirty="0">
                <a:latin typeface="BIZ UDゴシック" panose="020B0400000000000000" pitchFamily="49" charset="-128"/>
                <a:ea typeface="BIZ UDゴシック" panose="020B0400000000000000" pitchFamily="49" charset="-128"/>
              </a:rPr>
              <a:t>グループ比較 </a:t>
            </a:r>
            <a:br>
              <a:rPr kumimoji="1" lang="ja-JP" altLang="en-US" sz="3200" dirty="0">
                <a:latin typeface="BIZ UDゴシック" panose="020B0400000000000000" pitchFamily="49" charset="-128"/>
                <a:ea typeface="BIZ UDゴシック" panose="020B0400000000000000" pitchFamily="49" charset="-128"/>
              </a:rPr>
            </a:br>
            <a:r>
              <a:rPr kumimoji="1" lang="en-US" altLang="ja-JP" sz="3200" dirty="0">
                <a:latin typeface="BIZ UDゴシック" panose="020B0400000000000000" pitchFamily="49" charset="-128"/>
                <a:ea typeface="BIZ UDゴシック" panose="020B0400000000000000" pitchFamily="49" charset="-128"/>
              </a:rPr>
              <a:t>(Comparing two groups with unequal variances)</a:t>
            </a:r>
            <a:endParaRPr kumimoji="1" lang="ja-JP" altLang="en-US" sz="3200" dirty="0">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4A8C8D27-B1EA-A07B-6930-2B5FE71C9E95}"/>
              </a:ext>
            </a:extLst>
          </p:cNvPr>
          <p:cNvSpPr>
            <a:spLocks noGrp="1"/>
          </p:cNvSpPr>
          <p:nvPr>
            <p:ph idx="1"/>
          </p:nvPr>
        </p:nvSpPr>
        <p:spPr>
          <a:xfrm>
            <a:off x="369870" y="1294544"/>
            <a:ext cx="11404314" cy="5322013"/>
          </a:xfrm>
        </p:spPr>
        <p:txBody>
          <a:bodyPr>
            <a:normAutofit fontScale="77500" lnSpcReduction="20000"/>
          </a:bodyPr>
          <a:lstStyle/>
          <a:p>
            <a:pPr marL="0" indent="0">
              <a:buNone/>
            </a:pPr>
            <a:r>
              <a:rPr kumimoji="1" lang="en-US" altLang="ja-JP" dirty="0">
                <a:latin typeface="BIZ UDゴシック" panose="020B0400000000000000" pitchFamily="49" charset="-128"/>
                <a:ea typeface="BIZ UDゴシック" panose="020B0400000000000000" pitchFamily="49" charset="-128"/>
              </a:rPr>
              <a:t>6.3.5 Stan</a:t>
            </a:r>
            <a:r>
              <a:rPr kumimoji="1" lang="ja-JP" altLang="en-US" dirty="0">
                <a:latin typeface="BIZ UDゴシック" panose="020B0400000000000000" pitchFamily="49" charset="-128"/>
                <a:ea typeface="BIZ UDゴシック" panose="020B0400000000000000" pitchFamily="49" charset="-128"/>
              </a:rPr>
              <a:t>によるベイズ分析 </a:t>
            </a:r>
            <a:r>
              <a:rPr kumimoji="1" lang="en-US" altLang="ja-JP" dirty="0">
                <a:latin typeface="BIZ UDゴシック" panose="020B0400000000000000" pitchFamily="49" charset="-128"/>
                <a:ea typeface="BIZ UDゴシック" panose="020B0400000000000000" pitchFamily="49" charset="-128"/>
              </a:rPr>
              <a:t>(Bayesian analysis with Stan)</a:t>
            </a:r>
          </a:p>
          <a:p>
            <a:pPr marL="0" indent="0">
              <a:buNone/>
            </a:pPr>
            <a:r>
              <a:rPr kumimoji="1" lang="ja-JP" altLang="en-US" dirty="0">
                <a:latin typeface="BIZ UDゴシック" panose="020B0400000000000000" pitchFamily="49" charset="-128"/>
                <a:ea typeface="BIZ UDゴシック" panose="020B0400000000000000" pitchFamily="49" charset="-128"/>
              </a:rPr>
              <a:t>ベクトル化を用いた不等分散モデルを構築。</a:t>
            </a:r>
            <a:r>
              <a:rPr kumimoji="1" lang="en-US" altLang="ja-JP" dirty="0">
                <a:latin typeface="BIZ UDゴシック" panose="020B0400000000000000" pitchFamily="49" charset="-128"/>
                <a:ea typeface="BIZ UDゴシック" panose="020B0400000000000000" pitchFamily="49" charset="-128"/>
              </a:rPr>
              <a:t>generated quantities </a:t>
            </a:r>
            <a:r>
              <a:rPr kumimoji="1" lang="ja-JP" altLang="en-US" dirty="0">
                <a:latin typeface="BIZ UDゴシック" panose="020B0400000000000000" pitchFamily="49" charset="-128"/>
                <a:ea typeface="BIZ UDゴシック" panose="020B0400000000000000" pitchFamily="49" charset="-128"/>
              </a:rPr>
              <a:t>ブロックで </a:t>
            </a:r>
            <a:r>
              <a:rPr kumimoji="1" lang="en-US" altLang="ja-JP" dirty="0">
                <a:latin typeface="BIZ UDゴシック" panose="020B0400000000000000" pitchFamily="49" charset="-128"/>
                <a:ea typeface="BIZ UDゴシック" panose="020B0400000000000000" pitchFamily="49" charset="-128"/>
              </a:rPr>
              <a:t>delta </a:t>
            </a:r>
            <a:r>
              <a:rPr kumimoji="1" lang="ja-JP" altLang="en-US" dirty="0">
                <a:latin typeface="BIZ UDゴシック" panose="020B0400000000000000" pitchFamily="49" charset="-128"/>
                <a:ea typeface="BIZ UDゴシック" panose="020B0400000000000000" pitchFamily="49" charset="-128"/>
              </a:rPr>
              <a:t>を計算する。  </a:t>
            </a:r>
            <a:endParaRPr kumimoji="1" lang="en-US" altLang="ja-JP" dirty="0">
              <a:latin typeface="BIZ UDゴシック" panose="020B0400000000000000" pitchFamily="49" charset="-128"/>
              <a:ea typeface="BIZ UDゴシック" panose="020B0400000000000000" pitchFamily="49" charset="-128"/>
            </a:endParaRPr>
          </a:p>
          <a:p>
            <a:pPr marL="0" indent="0">
              <a:buNone/>
            </a:pPr>
            <a:endParaRPr lang="en-US" altLang="ja-JP" dirty="0">
              <a:latin typeface="BIZ UDゴシック" panose="020B0400000000000000" pitchFamily="49" charset="-128"/>
              <a:ea typeface="BIZ UDゴシック" panose="020B0400000000000000" pitchFamily="49" charset="-128"/>
            </a:endParaRPr>
          </a:p>
          <a:p>
            <a:pPr marL="0" indent="0">
              <a:buNone/>
            </a:pPr>
            <a:r>
              <a:rPr kumimoji="1" lang="en-US" altLang="ja-JP" dirty="0">
                <a:latin typeface="BIZ UDゴシック" panose="020B0400000000000000" pitchFamily="49" charset="-128"/>
                <a:ea typeface="BIZ UDゴシック" panose="020B0400000000000000" pitchFamily="49" charset="-128"/>
              </a:rPr>
              <a:t>6.3.6 DIY</a:t>
            </a:r>
            <a:r>
              <a:rPr kumimoji="1" lang="ja-JP" altLang="en-US" dirty="0">
                <a:latin typeface="BIZ UDゴシック" panose="020B0400000000000000" pitchFamily="49" charset="-128"/>
                <a:ea typeface="BIZ UDゴシック" panose="020B0400000000000000" pitchFamily="49" charset="-128"/>
              </a:rPr>
              <a:t>による最尤推定 </a:t>
            </a:r>
            <a:r>
              <a:rPr kumimoji="1" lang="en-US" altLang="ja-JP" dirty="0">
                <a:latin typeface="BIZ UDゴシック" panose="020B0400000000000000" pitchFamily="49" charset="-128"/>
                <a:ea typeface="BIZ UDゴシック" panose="020B0400000000000000" pitchFamily="49" charset="-128"/>
              </a:rPr>
              <a:t>(Do-it-yourself maximum likelihood estimates)</a:t>
            </a:r>
          </a:p>
          <a:p>
            <a:pPr marL="0" indent="0">
              <a:buNone/>
            </a:pPr>
            <a:r>
              <a:rPr kumimoji="1" lang="en-US" altLang="ja-JP" dirty="0">
                <a:latin typeface="BIZ UDゴシック" panose="020B0400000000000000" pitchFamily="49" charset="-128"/>
                <a:ea typeface="BIZ UDゴシック" panose="020B0400000000000000" pitchFamily="49" charset="-128"/>
              </a:rPr>
              <a:t>2</a:t>
            </a:r>
            <a:r>
              <a:rPr kumimoji="1" lang="ja-JP" altLang="en-US" dirty="0">
                <a:latin typeface="BIZ UDゴシック" panose="020B0400000000000000" pitchFamily="49" charset="-128"/>
                <a:ea typeface="BIZ UDゴシック" panose="020B0400000000000000" pitchFamily="49" charset="-128"/>
              </a:rPr>
              <a:t>つのグループの尤度の積（対数尤度の和）を計算する </a:t>
            </a:r>
            <a:r>
              <a:rPr kumimoji="1" lang="en-US" altLang="ja-JP" dirty="0">
                <a:latin typeface="BIZ UDゴシック" panose="020B0400000000000000" pitchFamily="49" charset="-128"/>
                <a:ea typeface="BIZ UDゴシック" panose="020B0400000000000000" pitchFamily="49" charset="-128"/>
              </a:rPr>
              <a:t>NLL </a:t>
            </a:r>
            <a:r>
              <a:rPr kumimoji="1" lang="ja-JP" altLang="en-US" dirty="0">
                <a:latin typeface="BIZ UDゴシック" panose="020B0400000000000000" pitchFamily="49" charset="-128"/>
                <a:ea typeface="BIZ UDゴシック" panose="020B0400000000000000" pitchFamily="49" charset="-128"/>
              </a:rPr>
              <a:t>関数を作成。   平均値母数化（</a:t>
            </a:r>
            <a:r>
              <a:rPr kumimoji="1" lang="en-US" altLang="ja-JP" dirty="0">
                <a:latin typeface="BIZ UDゴシック" panose="020B0400000000000000" pitchFamily="49" charset="-128"/>
                <a:ea typeface="BIZ UDゴシック" panose="020B0400000000000000" pitchFamily="49" charset="-128"/>
              </a:rPr>
              <a:t>Means parameterization</a:t>
            </a:r>
            <a:r>
              <a:rPr kumimoji="1" lang="ja-JP" altLang="en-US" dirty="0">
                <a:latin typeface="BIZ UDゴシック" panose="020B0400000000000000" pitchFamily="49" charset="-128"/>
                <a:ea typeface="BIZ UDゴシック" panose="020B0400000000000000" pitchFamily="49" charset="-128"/>
              </a:rPr>
              <a:t>）に基づくため、各グループの平均と標準偏差（対数スケール）を直接推定する。   </a:t>
            </a:r>
            <a:endParaRPr kumimoji="1" lang="en-US" altLang="ja-JP" dirty="0">
              <a:latin typeface="BIZ UDゴシック" panose="020B0400000000000000" pitchFamily="49" charset="-128"/>
              <a:ea typeface="BIZ UDゴシック" panose="020B0400000000000000" pitchFamily="49" charset="-128"/>
            </a:endParaRPr>
          </a:p>
          <a:p>
            <a:pPr marL="0" indent="0">
              <a:buNone/>
            </a:pPr>
            <a:endParaRPr kumimoji="1" lang="en-US" altLang="ja-JP" dirty="0">
              <a:latin typeface="BIZ UDゴシック" panose="020B0400000000000000" pitchFamily="49" charset="-128"/>
              <a:ea typeface="BIZ UDゴシック" panose="020B0400000000000000" pitchFamily="49" charset="-128"/>
            </a:endParaRPr>
          </a:p>
          <a:p>
            <a:pPr marL="0" indent="0">
              <a:buNone/>
            </a:pPr>
            <a:r>
              <a:rPr kumimoji="1" lang="en-US" altLang="ja-JP" dirty="0">
                <a:latin typeface="BIZ UDゴシック" panose="020B0400000000000000" pitchFamily="49" charset="-128"/>
                <a:ea typeface="BIZ UDゴシック" panose="020B0400000000000000" pitchFamily="49" charset="-128"/>
              </a:rPr>
              <a:t>6.3.7 TMB</a:t>
            </a:r>
            <a:r>
              <a:rPr kumimoji="1" lang="ja-JP" altLang="en-US" dirty="0">
                <a:latin typeface="BIZ UDゴシック" panose="020B0400000000000000" pitchFamily="49" charset="-128"/>
                <a:ea typeface="BIZ UDゴシック" panose="020B0400000000000000" pitchFamily="49" charset="-128"/>
              </a:rPr>
              <a:t>による最尤分析 </a:t>
            </a:r>
            <a:r>
              <a:rPr kumimoji="1" lang="en-US" altLang="ja-JP" dirty="0">
                <a:latin typeface="BIZ UDゴシック" panose="020B0400000000000000" pitchFamily="49" charset="-128"/>
                <a:ea typeface="BIZ UDゴシック" panose="020B0400000000000000" pitchFamily="49" charset="-128"/>
              </a:rPr>
              <a:t>(Likelihood analysis with TMB)</a:t>
            </a:r>
          </a:p>
          <a:p>
            <a:pPr marL="0" indent="0">
              <a:buNone/>
            </a:pPr>
            <a:r>
              <a:rPr kumimoji="1" lang="en-US" altLang="ja-JP" dirty="0">
                <a:latin typeface="BIZ UDゴシック" panose="020B0400000000000000" pitchFamily="49" charset="-128"/>
                <a:ea typeface="BIZ UDゴシック" panose="020B0400000000000000" pitchFamily="49" charset="-128"/>
              </a:rPr>
              <a:t>C++</a:t>
            </a:r>
            <a:r>
              <a:rPr kumimoji="1" lang="ja-JP" altLang="en-US" dirty="0">
                <a:latin typeface="BIZ UDゴシック" panose="020B0400000000000000" pitchFamily="49" charset="-128"/>
                <a:ea typeface="BIZ UDゴシック" panose="020B0400000000000000" pitchFamily="49" charset="-128"/>
              </a:rPr>
              <a:t>コードでグループ別の対数尤度を足し合わせるループを記述し、</a:t>
            </a:r>
            <a:r>
              <a:rPr kumimoji="1" lang="en-US" altLang="ja-JP" dirty="0">
                <a:latin typeface="BIZ UDゴシック" panose="020B0400000000000000" pitchFamily="49" charset="-128"/>
                <a:ea typeface="BIZ UDゴシック" panose="020B0400000000000000" pitchFamily="49" charset="-128"/>
              </a:rPr>
              <a:t>ADREPORT(delta) </a:t>
            </a:r>
            <a:r>
              <a:rPr kumimoji="1" lang="ja-JP" altLang="en-US" dirty="0">
                <a:latin typeface="BIZ UDゴシック" panose="020B0400000000000000" pitchFamily="49" charset="-128"/>
                <a:ea typeface="BIZ UDゴシック" panose="020B0400000000000000" pitchFamily="49" charset="-128"/>
              </a:rPr>
              <a:t>を用いて平均の差分とその標準誤差を併せて取得する。</a:t>
            </a:r>
            <a:endParaRPr kumimoji="1" lang="en-US" altLang="ja-JP" dirty="0">
              <a:latin typeface="BIZ UDゴシック" panose="020B0400000000000000" pitchFamily="49" charset="-128"/>
              <a:ea typeface="BIZ UDゴシック" panose="020B0400000000000000" pitchFamily="49" charset="-128"/>
            </a:endParaRPr>
          </a:p>
          <a:p>
            <a:pPr marL="0" indent="0">
              <a:buNone/>
            </a:pPr>
            <a:r>
              <a:rPr kumimoji="1" lang="ja-JP" altLang="en-US" dirty="0">
                <a:latin typeface="BIZ UDゴシック" panose="020B0400000000000000" pitchFamily="49" charset="-128"/>
                <a:ea typeface="BIZ UDゴシック" panose="020B0400000000000000" pitchFamily="49" charset="-128"/>
              </a:rPr>
              <a:t>   </a:t>
            </a:r>
            <a:endParaRPr kumimoji="1" lang="en-US" altLang="ja-JP" dirty="0">
              <a:latin typeface="BIZ UDゴシック" panose="020B0400000000000000" pitchFamily="49" charset="-128"/>
              <a:ea typeface="BIZ UDゴシック" panose="020B0400000000000000" pitchFamily="49" charset="-128"/>
            </a:endParaRPr>
          </a:p>
          <a:p>
            <a:pPr marL="0" indent="0">
              <a:buNone/>
            </a:pPr>
            <a:r>
              <a:rPr kumimoji="1" lang="en-US" altLang="ja-JP" dirty="0">
                <a:latin typeface="BIZ UDゴシック" panose="020B0400000000000000" pitchFamily="49" charset="-128"/>
                <a:ea typeface="BIZ UDゴシック" panose="020B0400000000000000" pitchFamily="49" charset="-128"/>
              </a:rPr>
              <a:t>6.3.8 </a:t>
            </a:r>
            <a:r>
              <a:rPr kumimoji="1" lang="ja-JP" altLang="en-US" dirty="0">
                <a:latin typeface="BIZ UDゴシック" panose="020B0400000000000000" pitchFamily="49" charset="-128"/>
                <a:ea typeface="BIZ UDゴシック" panose="020B0400000000000000" pitchFamily="49" charset="-128"/>
              </a:rPr>
              <a:t>パラメータ推定値の比較 </a:t>
            </a:r>
            <a:r>
              <a:rPr kumimoji="1" lang="en-US" altLang="ja-JP" dirty="0">
                <a:latin typeface="BIZ UDゴシック" panose="020B0400000000000000" pitchFamily="49" charset="-128"/>
                <a:ea typeface="BIZ UDゴシック" panose="020B0400000000000000" pitchFamily="49" charset="-128"/>
              </a:rPr>
              <a:t>(Comparison of the parameter estimates)</a:t>
            </a:r>
          </a:p>
          <a:p>
            <a:pPr marL="0" indent="0">
              <a:buNone/>
            </a:pPr>
            <a:r>
              <a:rPr kumimoji="1" lang="ja-JP" altLang="en-US" dirty="0">
                <a:latin typeface="BIZ UDゴシック" panose="020B0400000000000000" pitchFamily="49" charset="-128"/>
                <a:ea typeface="BIZ UDゴシック" panose="020B0400000000000000" pitchFamily="49" charset="-128"/>
              </a:rPr>
              <a:t>すべてのエンジンで、</a:t>
            </a:r>
            <a:r>
              <a:rPr kumimoji="1" lang="en-US" altLang="ja-JP" dirty="0">
                <a:latin typeface="BIZ UDゴシック" panose="020B0400000000000000" pitchFamily="49" charset="-128"/>
                <a:ea typeface="BIZ UDゴシック" panose="020B0400000000000000" pitchFamily="49" charset="-128"/>
              </a:rPr>
              <a:t>2</a:t>
            </a:r>
            <a:r>
              <a:rPr kumimoji="1" lang="ja-JP" altLang="en-US" dirty="0">
                <a:latin typeface="BIZ UDゴシック" panose="020B0400000000000000" pitchFamily="49" charset="-128"/>
                <a:ea typeface="BIZ UDゴシック" panose="020B0400000000000000" pitchFamily="49" charset="-128"/>
              </a:rPr>
              <a:t>つの平均および</a:t>
            </a:r>
            <a:r>
              <a:rPr kumimoji="1" lang="en-US" altLang="ja-JP" dirty="0">
                <a:latin typeface="BIZ UDゴシック" panose="020B0400000000000000" pitchFamily="49" charset="-128"/>
                <a:ea typeface="BIZ UDゴシック" panose="020B0400000000000000" pitchFamily="49" charset="-128"/>
              </a:rPr>
              <a:t>2</a:t>
            </a:r>
            <a:r>
              <a:rPr kumimoji="1" lang="ja-JP" altLang="en-US" dirty="0">
                <a:latin typeface="BIZ UDゴシック" panose="020B0400000000000000" pitchFamily="49" charset="-128"/>
                <a:ea typeface="BIZ UDゴシック" panose="020B0400000000000000" pitchFamily="49" charset="-128"/>
              </a:rPr>
              <a:t>つの標準偏差の推定値が極めて良く一致することを確認。</a:t>
            </a:r>
          </a:p>
        </p:txBody>
      </p:sp>
    </p:spTree>
    <p:extLst>
      <p:ext uri="{BB962C8B-B14F-4D97-AF65-F5344CB8AC3E}">
        <p14:creationId xmlns:p14="http://schemas.microsoft.com/office/powerpoint/2010/main" val="12377453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C2C9C-3870-1BDF-2457-EEABA4230E2A}"/>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3BF8E13-2B16-CBE2-77A9-C644261EA7FF}"/>
              </a:ext>
            </a:extLst>
          </p:cNvPr>
          <p:cNvSpPr>
            <a:spLocks noGrp="1"/>
          </p:cNvSpPr>
          <p:nvPr>
            <p:ph type="title"/>
          </p:nvPr>
        </p:nvSpPr>
        <p:spPr>
          <a:xfrm>
            <a:off x="838200" y="365125"/>
            <a:ext cx="10515600" cy="580097"/>
          </a:xfrm>
        </p:spPr>
        <p:txBody>
          <a:bodyPr>
            <a:noAutofit/>
          </a:bodyPr>
          <a:lstStyle/>
          <a:p>
            <a:r>
              <a:rPr kumimoji="1" lang="en-US" altLang="ja-JP" sz="3200" dirty="0">
                <a:latin typeface="BIZ UDゴシック" panose="020B0400000000000000" pitchFamily="49" charset="-128"/>
                <a:ea typeface="BIZ UDゴシック" panose="020B0400000000000000" pitchFamily="49" charset="-128"/>
              </a:rPr>
              <a:t>6.4 </a:t>
            </a:r>
            <a:r>
              <a:rPr kumimoji="1" lang="ja-JP" altLang="en-US" sz="3200" dirty="0">
                <a:latin typeface="BIZ UDゴシック" panose="020B0400000000000000" pitchFamily="49" charset="-128"/>
                <a:ea typeface="BIZ UDゴシック" panose="020B0400000000000000" pitchFamily="49" charset="-128"/>
              </a:rPr>
              <a:t>まとめと分散のモデル化に関する注記 </a:t>
            </a:r>
            <a:r>
              <a:rPr kumimoji="1" lang="en-US" altLang="ja-JP" sz="3200" dirty="0">
                <a:latin typeface="BIZ UDゴシック" panose="020B0400000000000000" pitchFamily="49" charset="-128"/>
                <a:ea typeface="BIZ UDゴシック" panose="020B0400000000000000" pitchFamily="49" charset="-128"/>
              </a:rPr>
              <a:t>(Summary and a comment on the modeling of variances)</a:t>
            </a:r>
            <a:endParaRPr kumimoji="1" lang="ja-JP" altLang="en-US" sz="3200" dirty="0">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11D8B54B-DC09-8267-67E3-AF4F67320172}"/>
              </a:ext>
            </a:extLst>
          </p:cNvPr>
          <p:cNvSpPr>
            <a:spLocks noGrp="1"/>
          </p:cNvSpPr>
          <p:nvPr>
            <p:ph idx="1"/>
          </p:nvPr>
        </p:nvSpPr>
        <p:spPr>
          <a:xfrm>
            <a:off x="431515" y="1438382"/>
            <a:ext cx="11414588" cy="5137079"/>
          </a:xfrm>
        </p:spPr>
        <p:txBody>
          <a:bodyPr/>
          <a:lstStyle/>
          <a:p>
            <a:pPr marL="0" indent="0">
              <a:buNone/>
            </a:pPr>
            <a:r>
              <a:rPr kumimoji="1" lang="en-US" altLang="ja-JP" dirty="0">
                <a:latin typeface="BIZ UDゴシック" panose="020B0400000000000000" pitchFamily="49" charset="-128"/>
                <a:ea typeface="BIZ UDゴシック" panose="020B0400000000000000" pitchFamily="49" charset="-128"/>
              </a:rPr>
              <a:t>2</a:t>
            </a:r>
            <a:r>
              <a:rPr kumimoji="1" lang="ja-JP" altLang="en-US" dirty="0">
                <a:latin typeface="BIZ UDゴシック" panose="020B0400000000000000" pitchFamily="49" charset="-128"/>
                <a:ea typeface="BIZ UDゴシック" panose="020B0400000000000000" pitchFamily="49" charset="-128"/>
              </a:rPr>
              <a:t>グループの平均比較は、等分散であれば単一共変量の線形回帰、不等分散であれば</a:t>
            </a:r>
            <a:r>
              <a:rPr kumimoji="1" lang="en-US" altLang="ja-JP" dirty="0">
                <a:latin typeface="BIZ UDゴシック" panose="020B0400000000000000" pitchFamily="49" charset="-128"/>
                <a:ea typeface="BIZ UDゴシック" panose="020B0400000000000000" pitchFamily="49" charset="-128"/>
              </a:rPr>
              <a:t>2</a:t>
            </a:r>
            <a:r>
              <a:rPr kumimoji="1" lang="ja-JP" altLang="en-US" dirty="0">
                <a:latin typeface="BIZ UDゴシック" panose="020B0400000000000000" pitchFamily="49" charset="-128"/>
                <a:ea typeface="BIZ UDゴシック" panose="020B0400000000000000" pitchFamily="49" charset="-128"/>
              </a:rPr>
              <a:t>つの「平均のモデル」の結合として記述できる。   </a:t>
            </a:r>
            <a:endParaRPr kumimoji="1" lang="en-US" altLang="ja-JP" dirty="0">
              <a:latin typeface="BIZ UDゴシック" panose="020B0400000000000000" pitchFamily="49" charset="-128"/>
              <a:ea typeface="BIZ UDゴシック" panose="020B0400000000000000" pitchFamily="49" charset="-128"/>
            </a:endParaRPr>
          </a:p>
          <a:p>
            <a:pPr marL="0" indent="0">
              <a:buNone/>
            </a:pPr>
            <a:endParaRPr lang="en-US" altLang="ja-JP">
              <a:latin typeface="BIZ UDゴシック" panose="020B0400000000000000" pitchFamily="49" charset="-128"/>
              <a:ea typeface="BIZ UDゴシック" panose="020B0400000000000000" pitchFamily="49" charset="-128"/>
            </a:endParaRPr>
          </a:p>
          <a:p>
            <a:pPr marL="0" indent="0">
              <a:buNone/>
            </a:pPr>
            <a:r>
              <a:rPr kumimoji="1" lang="ja-JP" altLang="en-US">
                <a:latin typeface="BIZ UDゴシック" panose="020B0400000000000000" pitchFamily="49" charset="-128"/>
                <a:ea typeface="BIZ UDゴシック" panose="020B0400000000000000" pitchFamily="49" charset="-128"/>
              </a:rPr>
              <a:t>本章</a:t>
            </a:r>
            <a:r>
              <a:rPr kumimoji="1" lang="ja-JP" altLang="en-US" dirty="0">
                <a:latin typeface="BIZ UDゴシック" panose="020B0400000000000000" pitchFamily="49" charset="-128"/>
                <a:ea typeface="BIZ UDゴシック" panose="020B0400000000000000" pitchFamily="49" charset="-128"/>
              </a:rPr>
              <a:t>のように「分散そのもの」を共変量や因子の関数としてモデル化するアプローチ（対数リンク関数等の利用）は、生態学データにおける不斉一分散（</a:t>
            </a:r>
            <a:r>
              <a:rPr kumimoji="1" lang="en-US" altLang="ja-JP" dirty="0">
                <a:latin typeface="BIZ UDゴシック" panose="020B0400000000000000" pitchFamily="49" charset="-128"/>
                <a:ea typeface="BIZ UDゴシック" panose="020B0400000000000000" pitchFamily="49" charset="-128"/>
              </a:rPr>
              <a:t>Heteroskedasticity</a:t>
            </a:r>
            <a:r>
              <a:rPr kumimoji="1" lang="ja-JP" altLang="en-US" dirty="0">
                <a:latin typeface="BIZ UDゴシック" panose="020B0400000000000000" pitchFamily="49" charset="-128"/>
                <a:ea typeface="BIZ UDゴシック" panose="020B0400000000000000" pitchFamily="49" charset="-128"/>
              </a:rPr>
              <a:t>）の処理や、分散自体に対する仮説検証において極めて重要である。 </a:t>
            </a:r>
          </a:p>
        </p:txBody>
      </p:sp>
    </p:spTree>
    <p:extLst>
      <p:ext uri="{BB962C8B-B14F-4D97-AF65-F5344CB8AC3E}">
        <p14:creationId xmlns:p14="http://schemas.microsoft.com/office/powerpoint/2010/main" val="28596245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4F3F6-011E-359A-3E8C-306F208AE27E}"/>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B282F90A-EDCD-8B1C-CF00-E23D0DF42862}"/>
              </a:ext>
            </a:extLst>
          </p:cNvPr>
          <p:cNvSpPr>
            <a:spLocks noGrp="1"/>
          </p:cNvSpPr>
          <p:nvPr>
            <p:ph type="title"/>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A52F3826-30AA-1DA3-432D-9CD68E5BBE64}"/>
              </a:ext>
            </a:extLst>
          </p:cNvPr>
          <p:cNvSpPr>
            <a:spLocks noGrp="1"/>
          </p:cNvSpPr>
          <p:nvPr>
            <p:ph idx="1"/>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Tree>
    <p:extLst>
      <p:ext uri="{BB962C8B-B14F-4D97-AF65-F5344CB8AC3E}">
        <p14:creationId xmlns:p14="http://schemas.microsoft.com/office/powerpoint/2010/main" val="35844838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1BF122-3760-8629-5888-9007EE78AE7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CF26D12-931A-88BA-87FF-23C688F3C81A}"/>
              </a:ext>
            </a:extLst>
          </p:cNvPr>
          <p:cNvSpPr>
            <a:spLocks noGrp="1"/>
          </p:cNvSpPr>
          <p:nvPr>
            <p:ph type="title"/>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
        <p:nvSpPr>
          <p:cNvPr id="3" name="コンテンツ プレースホルダー 2">
            <a:extLst>
              <a:ext uri="{FF2B5EF4-FFF2-40B4-BE49-F238E27FC236}">
                <a16:creationId xmlns:a16="http://schemas.microsoft.com/office/drawing/2014/main" id="{3D6091ED-4EE0-9C13-F151-FEF120222F2D}"/>
              </a:ext>
            </a:extLst>
          </p:cNvPr>
          <p:cNvSpPr>
            <a:spLocks noGrp="1"/>
          </p:cNvSpPr>
          <p:nvPr>
            <p:ph idx="1"/>
          </p:nvPr>
        </p:nvSpPr>
        <p:spPr/>
        <p:txBody>
          <a:bodyPr/>
          <a:lstStyle/>
          <a:p>
            <a:endParaRPr kumimoji="1" lang="ja-JP" altLang="en-US">
              <a:latin typeface="BIZ UDゴシック" panose="020B0400000000000000" pitchFamily="49" charset="-128"/>
              <a:ea typeface="BIZ UDゴシック" panose="020B0400000000000000" pitchFamily="49" charset="-128"/>
            </a:endParaRPr>
          </a:p>
        </p:txBody>
      </p:sp>
    </p:spTree>
    <p:extLst>
      <p:ext uri="{BB962C8B-B14F-4D97-AF65-F5344CB8AC3E}">
        <p14:creationId xmlns:p14="http://schemas.microsoft.com/office/powerpoint/2010/main" val="1354504948"/>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1264</Words>
  <Application>Microsoft Office PowerPoint</Application>
  <PresentationFormat>ワイド画面</PresentationFormat>
  <Paragraphs>66</Paragraphs>
  <Slides>9</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9</vt:i4>
      </vt:variant>
    </vt:vector>
  </HeadingPairs>
  <TitlesOfParts>
    <vt:vector size="15" baseType="lpstr">
      <vt:lpstr>BIZ UDゴシック</vt:lpstr>
      <vt:lpstr>游ゴシック</vt:lpstr>
      <vt:lpstr>游ゴシック Light</vt:lpstr>
      <vt:lpstr>Aptos</vt:lpstr>
      <vt:lpstr>Arial</vt:lpstr>
      <vt:lpstr>Office テーマ</vt:lpstr>
      <vt:lpstr>Applied Statistical Modelling for Ecologists  ASME</vt:lpstr>
      <vt:lpstr>6.1 導入 (Introduction)</vt:lpstr>
      <vt:lpstr>6.2 等分散の2グループ比較 (Comparing two groups with equal variances)</vt:lpstr>
      <vt:lpstr>6.2 等分散の2グループ比較 (Comparing two groups with equal variances)</vt:lpstr>
      <vt:lpstr>6.3 不等分散の2グループ比較  (Comparing two groups with unequal variances)</vt:lpstr>
      <vt:lpstr>6.3 不等分散の2グループ比較  (Comparing two groups with unequal variances)</vt:lpstr>
      <vt:lpstr>6.4 まとめと分散のモデル化に関する注記 (Summary and a comment on the modeling of variances)</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大下　誠二</dc:creator>
  <cp:lastModifiedBy>誠二 大下</cp:lastModifiedBy>
  <cp:revision>6</cp:revision>
  <dcterms:created xsi:type="dcterms:W3CDTF">2026-10-06T23:13:34Z</dcterms:created>
  <dcterms:modified xsi:type="dcterms:W3CDTF">2026-10-14T13:26:32Z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2a7f20da-a1a1-4a35-a6a7-15fbbc2fd93a_Enabled">
    <vt:lpwstr>true</vt:lpwstr>
  </property>
  <property fmtid="{D5CDD505-2E9C-101B-9397-08002B2CF9AE}" pid="3" name="MSIP_Label_2a7f20da-a1a1-4a35-a6a7-15fbbc2fd93a_SetDate">
    <vt:lpwstr>2026-10-06T23:15:09Z</vt:lpwstr>
  </property>
  <property fmtid="{D5CDD505-2E9C-101B-9397-08002B2CF9AE}" pid="4" name="MSIP_Label_2a7f20da-a1a1-4a35-a6a7-15fbbc2fd93a_Method">
    <vt:lpwstr>Standard</vt:lpwstr>
  </property>
  <property fmtid="{D5CDD505-2E9C-101B-9397-08002B2CF9AE}" pid="5" name="MSIP_Label_2a7f20da-a1a1-4a35-a6a7-15fbbc2fd93a_Name">
    <vt:lpwstr>機密性２情報</vt:lpwstr>
  </property>
  <property fmtid="{D5CDD505-2E9C-101B-9397-08002B2CF9AE}" pid="6" name="MSIP_Label_2a7f20da-a1a1-4a35-a6a7-15fbbc2fd93a_SiteId">
    <vt:lpwstr>b4a530b7-04dc-4923-a02e-b4eaa332ba4a</vt:lpwstr>
  </property>
  <property fmtid="{D5CDD505-2E9C-101B-9397-08002B2CF9AE}" pid="7" name="MSIP_Label_2a7f20da-a1a1-4a35-a6a7-15fbbc2fd93a_ActionId">
    <vt:lpwstr>1d969f6b-a62f-407a-9855-5580c37b838a</vt:lpwstr>
  </property>
  <property fmtid="{D5CDD505-2E9C-101B-9397-08002B2CF9AE}" pid="8" name="MSIP_Label_2a7f20da-a1a1-4a35-a6a7-15fbbc2fd93a_ContentBits">
    <vt:lpwstr>1</vt:lpwstr>
  </property>
  <property fmtid="{D5CDD505-2E9C-101B-9397-08002B2CF9AE}" pid="9" name="MSIP_Label_2a7f20da-a1a1-4a35-a6a7-15fbbc2fd93a_Tag">
    <vt:lpwstr>10, 3, 0, 1</vt:lpwstr>
  </property>
  <property fmtid="{D5CDD505-2E9C-101B-9397-08002B2CF9AE}" pid="10" name="ClassificationContentMarkingHeaderLocations">
    <vt:lpwstr>Office テーマ:8</vt:lpwstr>
  </property>
  <property fmtid="{D5CDD505-2E9C-101B-9397-08002B2CF9AE}" pid="11" name="ClassificationContentMarkingHeaderText">
    <vt:lpwstr>【機密性2情報】</vt:lpwstr>
  </property>
</Properties>
</file>