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CC6D3B-DE21-6EAC-5D2A-634944F25A9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8DDC94E-0A8A-02B3-86B8-67F8AB4AD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5902414-41A8-14CF-CA4C-0BC7A1F22091}"/>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2965CCE0-646D-510B-5E1A-E6FC3DA4EB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140ADAA-BA7B-D393-C571-9BB8D5EDA36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16943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689CA-809D-EC2E-F42D-51DA21E10E8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71E619-DDD1-A880-251B-8618138E4D4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54BE2D-F637-3F7F-C2EE-4AF004B18FED}"/>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8F5F4E32-7EBC-9328-50AA-0127818051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1E142-AEAB-CBC9-6AA7-02191D3E27F2}"/>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259703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6BE4B-4A35-1360-8BC3-620E0FEA0AB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DCE3DD8-BADC-F81E-FD4F-6F5C3A752C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E403AC6-230A-A712-8397-57460796F17E}"/>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5A509A3C-BD45-2301-A19A-D8F47DE0410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2B8E95-19B8-562A-195E-B97CAB19F14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44154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3CF66-0CE0-9770-4B3D-EDE4BF22CF5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2430839-DC72-6840-7135-880B6F3318E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68C0A13-BC41-C2C2-254E-959725D366E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C3FC1AD-844F-F2EB-5CD4-7ECBE986C228}"/>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6" name="フッター プレースホルダー 5">
            <a:extLst>
              <a:ext uri="{FF2B5EF4-FFF2-40B4-BE49-F238E27FC236}">
                <a16:creationId xmlns:a16="http://schemas.microsoft.com/office/drawing/2014/main" id="{2DFD71B2-B10A-3189-AE8E-C8770E7B4E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58EB0C-CD20-EA24-3C4D-B8C7DB7A71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830975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0BD50-8C71-827A-6EC1-AF51D847CA8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89B170-986F-C31F-825B-7EBED4BD4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318AC9C-6C90-D8D2-6288-1D513D83EC2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F24543-B2CB-E027-40CC-B0FF7FE6D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DD201EA-DB17-A7BD-790C-13263CC2A71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2CFFB64-C910-8328-522C-65422DC5BDC3}"/>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8" name="フッター プレースホルダー 7">
            <a:extLst>
              <a:ext uri="{FF2B5EF4-FFF2-40B4-BE49-F238E27FC236}">
                <a16:creationId xmlns:a16="http://schemas.microsoft.com/office/drawing/2014/main" id="{71ACDE15-9236-F758-F8DA-AA2CE97AE8C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3F28DB3-43AE-A9D6-2402-6609B39C3364}"/>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300025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5505AF-A1C2-CBC5-4541-E3BBD7C6C5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4C82E2D-EB7E-2F58-1D8E-DFD5E9ED666A}"/>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4" name="フッター プレースホルダー 3">
            <a:extLst>
              <a:ext uri="{FF2B5EF4-FFF2-40B4-BE49-F238E27FC236}">
                <a16:creationId xmlns:a16="http://schemas.microsoft.com/office/drawing/2014/main" id="{E61517C2-9DC9-1FC7-BAA1-F079D0EBF6D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AB984E0-F2A7-0601-1D98-ADAABBA13D15}"/>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41202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45A27BF-84F8-7F53-609F-4F8A70924D59}"/>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3" name="フッター プレースホルダー 2">
            <a:extLst>
              <a:ext uri="{FF2B5EF4-FFF2-40B4-BE49-F238E27FC236}">
                <a16:creationId xmlns:a16="http://schemas.microsoft.com/office/drawing/2014/main" id="{7BC85232-C11B-8E0B-2796-3620AB78825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63503A-3C58-B141-4C18-B8662B7A572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671484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FBC3C-7162-359A-EF01-13661AD826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354480-09EF-2E42-E3FE-EF8ED81B70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0E653F2-221C-99A3-C1B8-DB77BEAFB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90D2D9-092D-0C41-9CE2-7C104E31D310}"/>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6" name="フッター プレースホルダー 5">
            <a:extLst>
              <a:ext uri="{FF2B5EF4-FFF2-40B4-BE49-F238E27FC236}">
                <a16:creationId xmlns:a16="http://schemas.microsoft.com/office/drawing/2014/main" id="{46BD2603-912B-32D5-C64F-36FC10DE33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239B87-DEE4-474D-D6A6-40621140231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72735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52B2CF-351C-10E8-9400-DFE83250F34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40F68A4-4F5F-A43A-0798-CFFCB204EE9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7CF935-3E83-2100-57AC-CD42FE903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5ECA0EA-9447-A015-BEC4-F179CFB34C5A}"/>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6" name="フッター プレースホルダー 5">
            <a:extLst>
              <a:ext uri="{FF2B5EF4-FFF2-40B4-BE49-F238E27FC236}">
                <a16:creationId xmlns:a16="http://schemas.microsoft.com/office/drawing/2014/main" id="{D1D4A49E-132A-9075-B13E-0F9CF0F0712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2D7FD69-1261-377E-B2E9-4FAC302B1E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0705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E86154-6B32-9FA7-AC64-0401BBA865B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18E00B-875E-22FB-0F3E-C86D394A8E1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5EC8F4-56D4-7835-4D70-10A949B38340}"/>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5B721F0E-8EB6-74D5-90A2-DBF52A6942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3BE141-607E-04CC-8BC3-3BE43A0D6E9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42602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F714B61-1775-8DD8-7529-027DE6E9F24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B42191-A290-F301-F947-9D924AF33EC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3FE194-4488-3B20-9F7D-BD0FC38CEE67}"/>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2F66573A-78EB-526D-3D9C-70CC93A639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1D1A8A-E8E3-CA69-39C9-1A2CCBC63F5F}"/>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173366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4F7D86-38D1-B73A-6E09-30D692630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92B2C88-8058-D973-C51F-094C1EB44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1471AE-E4DB-F7BA-533C-DF217BD2F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53AFA1C1-1EF2-D9E0-5A4C-B9A1EA0D6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28741D-5005-70D2-EB07-8383A143C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C072CE-95FA-40FE-BC99-878DBE9A4B81}" type="slidenum">
              <a:rPr kumimoji="1" lang="ja-JP" altLang="en-US" smtClean="0"/>
              <a:t>‹#›</a:t>
            </a:fld>
            <a:endParaRPr kumimoji="1" lang="ja-JP" altLang="en-US"/>
          </a:p>
        </p:txBody>
      </p:sp>
      <p:sp>
        <p:nvSpPr>
          <p:cNvPr id="8" name="テキスト ボックス 7">
            <a:extLst>
              <a:ext uri="{FF2B5EF4-FFF2-40B4-BE49-F238E27FC236}">
                <a16:creationId xmlns:a16="http://schemas.microsoft.com/office/drawing/2014/main" id="{48E4CB5C-2952-02E4-ED93-80C2AC616E36}"/>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998248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ASPM</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3</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a:xfrm>
            <a:off x="838200" y="365126"/>
            <a:ext cx="10515600" cy="610920"/>
          </a:xfrm>
        </p:spPr>
        <p:txBody>
          <a:bodyPr>
            <a:normAutofit fontScale="90000"/>
          </a:bodyPr>
          <a:lstStyle/>
          <a:p>
            <a:r>
              <a:rPr kumimoji="1" lang="en-US" altLang="ja-JP" dirty="0">
                <a:latin typeface="BIZ UDゴシック" panose="020B0400000000000000" pitchFamily="49" charset="-128"/>
                <a:ea typeface="BIZ UDゴシック" panose="020B0400000000000000" pitchFamily="49" charset="-128"/>
              </a:rPr>
              <a:t>3.1 </a:t>
            </a:r>
            <a:r>
              <a:rPr kumimoji="1" lang="ja-JP" altLang="en-US" dirty="0">
                <a:latin typeface="BIZ UDゴシック" panose="020B0400000000000000" pitchFamily="49" charset="-128"/>
                <a:ea typeface="BIZ UDゴシック" panose="020B0400000000000000" pitchFamily="49" charset="-128"/>
              </a:rPr>
              <a:t>導入 </a:t>
            </a:r>
            <a:r>
              <a:rPr kumimoji="1" lang="en-US" altLang="ja-JP" dirty="0">
                <a:latin typeface="BIZ UDゴシック" panose="020B0400000000000000" pitchFamily="49" charset="-128"/>
                <a:ea typeface="BIZ UDゴシック" panose="020B0400000000000000" pitchFamily="49" charset="-128"/>
              </a:rPr>
              <a:t>(Introduction)</a:t>
            </a:r>
            <a:endParaRPr kumimoji="1" lang="ja-JP" altLang="en-US"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a:xfrm>
            <a:off x="838200" y="1160980"/>
            <a:ext cx="10515600" cy="5015983"/>
          </a:xfrm>
        </p:spPr>
        <p:txBody>
          <a:bodyPr>
            <a:normAutofit lnSpcReduction="10000"/>
          </a:bodyPr>
          <a:lstStyle/>
          <a:p>
            <a:r>
              <a:rPr kumimoji="1" lang="ja-JP" altLang="en-US" dirty="0">
                <a:latin typeface="BIZ UDゴシック" panose="020B0400000000000000" pitchFamily="49" charset="-128"/>
                <a:ea typeface="BIZ UDゴシック" panose="020B0400000000000000" pitchFamily="49" charset="-128"/>
              </a:rPr>
              <a:t>確率変数の種類、確率分布の仮定、および確率変数の組み合わせ構造により、ほぼすべての統計モデルを構築することができる。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モデル構築における主要な選択肢として、応答変数の確率分布の選定、共変量効果の指定（線形モデル）、およびパラメータ変換（リンク関数）の</a:t>
            </a:r>
            <a:r>
              <a:rPr kumimoji="1" lang="en-US" altLang="ja-JP" dirty="0">
                <a:latin typeface="BIZ UDゴシック" panose="020B0400000000000000" pitchFamily="49" charset="-128"/>
                <a:ea typeface="BIZ UDゴシック" panose="020B0400000000000000" pitchFamily="49" charset="-128"/>
              </a:rPr>
              <a:t>3</a:t>
            </a:r>
            <a:r>
              <a:rPr kumimoji="1" lang="ja-JP" altLang="en-US" dirty="0">
                <a:latin typeface="BIZ UDゴシック" panose="020B0400000000000000" pitchFamily="49" charset="-128"/>
                <a:ea typeface="BIZ UDゴシック" panose="020B0400000000000000" pitchFamily="49" charset="-128"/>
              </a:rPr>
              <a:t>つが存在する。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これら</a:t>
            </a:r>
            <a:r>
              <a:rPr kumimoji="1" lang="en-US" altLang="ja-JP" dirty="0">
                <a:latin typeface="BIZ UDゴシック" panose="020B0400000000000000" pitchFamily="49" charset="-128"/>
                <a:ea typeface="BIZ UDゴシック" panose="020B0400000000000000" pitchFamily="49" charset="-128"/>
              </a:rPr>
              <a:t>3</a:t>
            </a:r>
            <a:r>
              <a:rPr kumimoji="1" lang="ja-JP" altLang="en-US" dirty="0">
                <a:latin typeface="BIZ UDゴシック" panose="020B0400000000000000" pitchFamily="49" charset="-128"/>
                <a:ea typeface="BIZ UDゴシック" panose="020B0400000000000000" pitchFamily="49" charset="-128"/>
              </a:rPr>
              <a:t>つの要素が一般化線形モデル（</a:t>
            </a:r>
            <a:r>
              <a:rPr kumimoji="1" lang="en-US" altLang="ja-JP" dirty="0">
                <a:latin typeface="BIZ UDゴシック" panose="020B0400000000000000" pitchFamily="49" charset="-128"/>
                <a:ea typeface="BIZ UDゴシック" panose="020B0400000000000000" pitchFamily="49" charset="-128"/>
              </a:rPr>
              <a:t>GLM</a:t>
            </a:r>
            <a:r>
              <a:rPr kumimoji="1" lang="ja-JP" altLang="en-US" dirty="0">
                <a:latin typeface="BIZ UDゴシック" panose="020B0400000000000000" pitchFamily="49" charset="-128"/>
                <a:ea typeface="BIZ UDゴシック" panose="020B0400000000000000" pitchFamily="49" charset="-128"/>
              </a:rPr>
              <a:t>）の定義を構成しており、本書で扱われる他のモデルもすべて</a:t>
            </a:r>
            <a:r>
              <a:rPr kumimoji="1" lang="en-US" altLang="ja-JP" dirty="0">
                <a:latin typeface="BIZ UDゴシック" panose="020B0400000000000000" pitchFamily="49" charset="-128"/>
                <a:ea typeface="BIZ UDゴシック" panose="020B0400000000000000" pitchFamily="49" charset="-128"/>
              </a:rPr>
              <a:t>GLM</a:t>
            </a:r>
            <a:r>
              <a:rPr kumimoji="1" lang="ja-JP" altLang="en-US" dirty="0">
                <a:latin typeface="BIZ UDゴシック" panose="020B0400000000000000" pitchFamily="49" charset="-128"/>
                <a:ea typeface="BIZ UDゴシック" panose="020B0400000000000000" pitchFamily="49" charset="-128"/>
              </a:rPr>
              <a:t>の特殊ケース、あるいは複数の</a:t>
            </a:r>
            <a:r>
              <a:rPr kumimoji="1" lang="en-US" altLang="ja-JP" dirty="0">
                <a:latin typeface="BIZ UDゴシック" panose="020B0400000000000000" pitchFamily="49" charset="-128"/>
                <a:ea typeface="BIZ UDゴシック" panose="020B0400000000000000" pitchFamily="49" charset="-128"/>
              </a:rPr>
              <a:t>GLM</a:t>
            </a:r>
            <a:r>
              <a:rPr kumimoji="1" lang="ja-JP" altLang="en-US" dirty="0">
                <a:latin typeface="BIZ UDゴシック" panose="020B0400000000000000" pitchFamily="49" charset="-128"/>
                <a:ea typeface="BIZ UDゴシック" panose="020B0400000000000000" pitchFamily="49" charset="-128"/>
              </a:rPr>
              <a:t>を組み合わせた階層モデル（</a:t>
            </a:r>
            <a:r>
              <a:rPr kumimoji="1" lang="en-US" altLang="ja-JP" dirty="0">
                <a:latin typeface="BIZ UDゴシック" panose="020B0400000000000000" pitchFamily="49" charset="-128"/>
                <a:ea typeface="BIZ UDゴシック" panose="020B0400000000000000" pitchFamily="49" charset="-128"/>
              </a:rPr>
              <a:t>HM</a:t>
            </a:r>
            <a:r>
              <a:rPr kumimoji="1" lang="ja-JP" altLang="en-US" dirty="0">
                <a:latin typeface="BIZ UDゴシック" panose="020B0400000000000000" pitchFamily="49" charset="-128"/>
                <a:ea typeface="BIZ UDゴシック" panose="020B0400000000000000" pitchFamily="49" charset="-128"/>
              </a:rPr>
              <a:t>）・統合モデル（</a:t>
            </a:r>
            <a:r>
              <a:rPr kumimoji="1" lang="en-US" altLang="ja-JP" dirty="0">
                <a:latin typeface="BIZ UDゴシック" panose="020B0400000000000000" pitchFamily="49" charset="-128"/>
                <a:ea typeface="BIZ UDゴシック" panose="020B0400000000000000" pitchFamily="49" charset="-128"/>
              </a:rPr>
              <a:t>IM</a:t>
            </a:r>
            <a:r>
              <a:rPr kumimoji="1" lang="ja-JP" altLang="en-US" dirty="0">
                <a:latin typeface="BIZ UDゴシック" panose="020B0400000000000000" pitchFamily="49" charset="-128"/>
                <a:ea typeface="BIZ UDゴシック" panose="020B0400000000000000" pitchFamily="49" charset="-128"/>
              </a:rPr>
              <a:t>）として理解できる。</a:t>
            </a:r>
          </a:p>
        </p:txBody>
      </p:sp>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8CBA-82E1-5EF9-109D-6B49ADE613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880368-FA97-560F-8BC7-31E59687AA31}"/>
              </a:ext>
            </a:extLst>
          </p:cNvPr>
          <p:cNvSpPr>
            <a:spLocks noGrp="1"/>
          </p:cNvSpPr>
          <p:nvPr>
            <p:ph type="title"/>
          </p:nvPr>
        </p:nvSpPr>
        <p:spPr>
          <a:xfrm>
            <a:off x="838200" y="365126"/>
            <a:ext cx="10515600" cy="641742"/>
          </a:xfrm>
        </p:spPr>
        <p:txBody>
          <a:bodyPr>
            <a:noAutofit/>
          </a:bodyPr>
          <a:lstStyle/>
          <a:p>
            <a:r>
              <a:rPr kumimoji="1" lang="en-US" altLang="ja-JP" sz="2800" dirty="0">
                <a:latin typeface="BIZ UDゴシック" panose="020B0400000000000000" pitchFamily="49" charset="-128"/>
                <a:ea typeface="BIZ UDゴシック" panose="020B0400000000000000" pitchFamily="49" charset="-128"/>
              </a:rPr>
              <a:t>3.2 </a:t>
            </a:r>
            <a:r>
              <a:rPr kumimoji="1" lang="ja-JP" altLang="en-US" sz="2800" dirty="0">
                <a:latin typeface="BIZ UDゴシック" panose="020B0400000000000000" pitchFamily="49" charset="-128"/>
                <a:ea typeface="BIZ UDゴシック" panose="020B0400000000000000" pitchFamily="49" charset="-128"/>
              </a:rPr>
              <a:t>モデル内の確率変数に対する統計分布 </a:t>
            </a:r>
            <a:r>
              <a:rPr kumimoji="1" lang="en-US" altLang="ja-JP" sz="2800" dirty="0">
                <a:latin typeface="BIZ UDゴシック" panose="020B0400000000000000" pitchFamily="49" charset="-128"/>
                <a:ea typeface="BIZ UDゴシック" panose="020B0400000000000000" pitchFamily="49" charset="-128"/>
              </a:rPr>
              <a:t>(Statistical distributions for the random variables in our model)</a:t>
            </a:r>
            <a:endParaRPr kumimoji="1" lang="ja-JP" altLang="en-US" sz="28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A843F03F-51EA-94FA-6651-E4DA69D21B5E}"/>
              </a:ext>
            </a:extLst>
          </p:cNvPr>
          <p:cNvSpPr>
            <a:spLocks noGrp="1"/>
          </p:cNvSpPr>
          <p:nvPr>
            <p:ph idx="1"/>
          </p:nvPr>
        </p:nvSpPr>
        <p:spPr>
          <a:xfrm>
            <a:off x="838200" y="1407560"/>
            <a:ext cx="10515600" cy="5260368"/>
          </a:xfrm>
        </p:spPr>
        <p:txBody>
          <a:bodyPr>
            <a:normAutofit fontScale="62500" lnSpcReduction="20000"/>
          </a:bodyPr>
          <a:lstStyle/>
          <a:p>
            <a:r>
              <a:rPr kumimoji="1" lang="ja-JP" altLang="en-US" dirty="0">
                <a:latin typeface="BIZ UDゴシック" panose="020B0400000000000000" pitchFamily="49" charset="-128"/>
                <a:ea typeface="BIZ UDゴシック" panose="020B0400000000000000" pitchFamily="49" charset="-128"/>
              </a:rPr>
              <a:t>本書では、正規分布、一様分布、二項分布、ポアソン分布というわずか</a:t>
            </a:r>
            <a:r>
              <a:rPr kumimoji="1" lang="en-US" altLang="ja-JP" dirty="0">
                <a:latin typeface="BIZ UDゴシック" panose="020B0400000000000000" pitchFamily="49" charset="-128"/>
                <a:ea typeface="BIZ UDゴシック" panose="020B0400000000000000" pitchFamily="49" charset="-128"/>
              </a:rPr>
              <a:t>4</a:t>
            </a:r>
            <a:r>
              <a:rPr kumimoji="1" lang="ja-JP" altLang="en-US" dirty="0">
                <a:latin typeface="BIZ UDゴシック" panose="020B0400000000000000" pitchFamily="49" charset="-128"/>
                <a:ea typeface="BIZ UDゴシック" panose="020B0400000000000000" pitchFamily="49" charset="-128"/>
              </a:rPr>
              <a:t>つの基本的な統計分布のみを用いて、すべてのモデルが構築される。   分布を選択する際の重要な考慮事項として、変数のサポート（定義域）と、それが離散型か連続型かという点がある。   </a:t>
            </a:r>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3.2.1 </a:t>
            </a:r>
            <a:r>
              <a:rPr kumimoji="1" lang="ja-JP" altLang="en-US" dirty="0">
                <a:latin typeface="BIZ UDゴシック" panose="020B0400000000000000" pitchFamily="49" charset="-128"/>
                <a:ea typeface="BIZ UDゴシック" panose="020B0400000000000000" pitchFamily="49" charset="-128"/>
              </a:rPr>
              <a:t>正規分布 </a:t>
            </a:r>
            <a:r>
              <a:rPr kumimoji="1" lang="en-US" altLang="ja-JP" dirty="0">
                <a:latin typeface="BIZ UDゴシック" panose="020B0400000000000000" pitchFamily="49" charset="-128"/>
                <a:ea typeface="BIZ UDゴシック" panose="020B0400000000000000" pitchFamily="49" charset="-128"/>
              </a:rPr>
              <a:t>(Normal distribution)</a:t>
            </a:r>
            <a:r>
              <a:rPr kumimoji="1" lang="ja-JP" altLang="en-US" dirty="0">
                <a:latin typeface="BIZ UDゴシック" panose="020B0400000000000000" pitchFamily="49" charset="-128"/>
                <a:ea typeface="BIZ UDゴシック" panose="020B0400000000000000" pitchFamily="49" charset="-128"/>
              </a:rPr>
              <a:t>連続かつ</a:t>
            </a:r>
            <a:r>
              <a:rPr kumimoji="1" lang="en-US" altLang="ja-JP" dirty="0">
                <a:latin typeface="BIZ UDゴシック" panose="020B0400000000000000" pitchFamily="49" charset="-128"/>
                <a:ea typeface="BIZ UDゴシック" panose="020B0400000000000000" pitchFamily="49" charset="-128"/>
              </a:rPr>
              <a:t>0</a:t>
            </a:r>
            <a:r>
              <a:rPr kumimoji="1" lang="ja-JP" altLang="en-US" dirty="0">
                <a:latin typeface="BIZ UDゴシック" panose="020B0400000000000000" pitchFamily="49" charset="-128"/>
                <a:ea typeface="BIZ UDゴシック" panose="020B0400000000000000" pitchFamily="49" charset="-128"/>
              </a:rPr>
              <a:t>と</a:t>
            </a:r>
            <a:r>
              <a:rPr kumimoji="1" lang="en-US" altLang="ja-JP" dirty="0">
                <a:latin typeface="BIZ UDゴシック" panose="020B0400000000000000" pitchFamily="49" charset="-128"/>
                <a:ea typeface="BIZ UDゴシック" panose="020B0400000000000000" pitchFamily="49" charset="-128"/>
              </a:rPr>
              <a:t>1</a:t>
            </a:r>
            <a:r>
              <a:rPr kumimoji="1" lang="ja-JP" altLang="en-US" dirty="0">
                <a:latin typeface="BIZ UDゴシック" panose="020B0400000000000000" pitchFamily="49" charset="-128"/>
                <a:ea typeface="BIZ UDゴシック" panose="020B0400000000000000" pitchFamily="49" charset="-128"/>
              </a:rPr>
              <a:t>に限定されず、中央の典型的な値のまわりに左右対称に集まるデータのデフォルト選択である。   パラメータは平均 </a:t>
            </a:r>
            <a:r>
              <a:rPr kumimoji="1" lang="en-US" altLang="ja-JP" dirty="0">
                <a:latin typeface="BIZ UDゴシック" panose="020B0400000000000000" pitchFamily="49" charset="-128"/>
                <a:ea typeface="BIZ UDゴシック" panose="020B0400000000000000" pitchFamily="49" charset="-128"/>
              </a:rPr>
              <a:t>μ </a:t>
            </a:r>
            <a:r>
              <a:rPr kumimoji="1" lang="ja-JP" altLang="en-US" dirty="0">
                <a:latin typeface="BIZ UDゴシック" panose="020B0400000000000000" pitchFamily="49" charset="-128"/>
                <a:ea typeface="BIZ UDゴシック" panose="020B0400000000000000" pitchFamily="49" charset="-128"/>
              </a:rPr>
              <a:t>と標準偏差 </a:t>
            </a:r>
            <a:r>
              <a:rPr kumimoji="1" lang="en-US" altLang="ja-JP" dirty="0">
                <a:latin typeface="BIZ UDゴシック" panose="020B0400000000000000" pitchFamily="49" charset="-128"/>
                <a:ea typeface="BIZ UDゴシック" panose="020B0400000000000000" pitchFamily="49" charset="-128"/>
              </a:rPr>
              <a:t>σ </a:t>
            </a:r>
            <a:r>
              <a:rPr kumimoji="1" lang="ja-JP" altLang="en-US" dirty="0">
                <a:latin typeface="BIZ UDゴシック" panose="020B0400000000000000" pitchFamily="49" charset="-128"/>
                <a:ea typeface="BIZ UDゴシック" panose="020B0400000000000000" pitchFamily="49" charset="-128"/>
              </a:rPr>
              <a:t>である。   加算的な効果を多く受ける測定値や、ベイズ推論における無情報事前分布、大規模な場合の二項・ポアソン分布の近似として用いられる。   </a:t>
            </a:r>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3.2.2 </a:t>
            </a:r>
            <a:r>
              <a:rPr kumimoji="1" lang="ja-JP" altLang="en-US" dirty="0">
                <a:latin typeface="BIZ UDゴシック" panose="020B0400000000000000" pitchFamily="49" charset="-128"/>
                <a:ea typeface="BIZ UDゴシック" panose="020B0400000000000000" pitchFamily="49" charset="-128"/>
              </a:rPr>
              <a:t>均一分布 </a:t>
            </a:r>
            <a:r>
              <a:rPr kumimoji="1" lang="en-US" altLang="ja-JP" dirty="0">
                <a:latin typeface="BIZ UDゴシック" panose="020B0400000000000000" pitchFamily="49" charset="-128"/>
                <a:ea typeface="BIZ UDゴシック" panose="020B0400000000000000" pitchFamily="49" charset="-128"/>
              </a:rPr>
              <a:t>(Uniform distribution)</a:t>
            </a:r>
            <a:r>
              <a:rPr kumimoji="1" lang="ja-JP" altLang="en-US" dirty="0">
                <a:latin typeface="BIZ UDゴシック" panose="020B0400000000000000" pitchFamily="49" charset="-128"/>
                <a:ea typeface="BIZ UDゴシック" panose="020B0400000000000000" pitchFamily="49" charset="-128"/>
              </a:rPr>
              <a:t>指定された下限 </a:t>
            </a:r>
            <a:r>
              <a:rPr kumimoji="1" lang="en-US" altLang="ja-JP" dirty="0">
                <a:latin typeface="BIZ UDゴシック" panose="020B0400000000000000" pitchFamily="49" charset="-128"/>
                <a:ea typeface="BIZ UDゴシック" panose="020B0400000000000000" pitchFamily="49" charset="-128"/>
              </a:rPr>
              <a:t>$a$ </a:t>
            </a:r>
            <a:r>
              <a:rPr kumimoji="1" lang="ja-JP" altLang="en-US" dirty="0">
                <a:latin typeface="BIZ UDゴシック" panose="020B0400000000000000" pitchFamily="49" charset="-128"/>
                <a:ea typeface="BIZ UDゴシック" panose="020B0400000000000000" pitchFamily="49" charset="-128"/>
              </a:rPr>
              <a:t>から上限 </a:t>
            </a:r>
            <a:r>
              <a:rPr kumimoji="1" lang="en-US" altLang="ja-JP" dirty="0">
                <a:latin typeface="BIZ UDゴシック" panose="020B0400000000000000" pitchFamily="49" charset="-128"/>
                <a:ea typeface="BIZ UDゴシック" panose="020B0400000000000000" pitchFamily="49" charset="-128"/>
              </a:rPr>
              <a:t>$b$ </a:t>
            </a:r>
            <a:r>
              <a:rPr kumimoji="1" lang="ja-JP" altLang="en-US" dirty="0">
                <a:latin typeface="BIZ UDゴシック" panose="020B0400000000000000" pitchFamily="49" charset="-128"/>
                <a:ea typeface="BIZ UDゴシック" panose="020B0400000000000000" pitchFamily="49" charset="-128"/>
              </a:rPr>
              <a:t>の間の値がすべて等しい確率で生じる連続分布である。   多くの応用では上下限が既知であり、その場合パラメータを持たない特異な分布となる。   ベイズ分析における無情報事前分布や、空間捕獲再捕獲モデルの活動中心の事前分布としてよく使用される。   </a:t>
            </a:r>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3.2.3 </a:t>
            </a:r>
            <a:r>
              <a:rPr kumimoji="1" lang="ja-JP" altLang="en-US" dirty="0">
                <a:latin typeface="BIZ UDゴシック" panose="020B0400000000000000" pitchFamily="49" charset="-128"/>
                <a:ea typeface="BIZ UDゴシック" panose="020B0400000000000000" pitchFamily="49" charset="-128"/>
              </a:rPr>
              <a:t>二項分布：「コイントス分布」 </a:t>
            </a:r>
            <a:r>
              <a:rPr kumimoji="1" lang="en-US" altLang="ja-JP" dirty="0">
                <a:latin typeface="BIZ UDゴシック" panose="020B0400000000000000" pitchFamily="49" charset="-128"/>
                <a:ea typeface="BIZ UDゴシック" panose="020B0400000000000000" pitchFamily="49" charset="-128"/>
              </a:rPr>
              <a:t>(Binomial distribution: the "coin-flip distribution")</a:t>
            </a:r>
            <a:r>
              <a:rPr kumimoji="1" lang="ja-JP" altLang="en-US" dirty="0">
                <a:latin typeface="BIZ UDゴシック" panose="020B0400000000000000" pitchFamily="49" charset="-128"/>
                <a:ea typeface="BIZ UDゴシック" panose="020B0400000000000000" pitchFamily="49" charset="-128"/>
              </a:rPr>
              <a:t>上限が既知であり、確率に支配されるカウントデータの最初の選択肢である。   試行回数 </a:t>
            </a:r>
            <a:r>
              <a:rPr kumimoji="1" lang="en-US" altLang="ja-JP" dirty="0">
                <a:latin typeface="BIZ UDゴシック" panose="020B0400000000000000" pitchFamily="49" charset="-128"/>
                <a:ea typeface="BIZ UDゴシック" panose="020B0400000000000000" pitchFamily="49" charset="-128"/>
              </a:rPr>
              <a:t>N </a:t>
            </a:r>
            <a:r>
              <a:rPr kumimoji="1" lang="ja-JP" altLang="en-US" dirty="0">
                <a:latin typeface="BIZ UDゴシック" panose="020B0400000000000000" pitchFamily="49" charset="-128"/>
                <a:ea typeface="BIZ UDゴシック" panose="020B0400000000000000" pitchFamily="49" charset="-128"/>
              </a:rPr>
              <a:t>と成功確率 </a:t>
            </a:r>
            <a:r>
              <a:rPr kumimoji="1" lang="en-US" altLang="ja-JP" dirty="0">
                <a:latin typeface="BIZ UDゴシック" panose="020B0400000000000000" pitchFamily="49" charset="-128"/>
                <a:ea typeface="BIZ UDゴシック" panose="020B0400000000000000" pitchFamily="49" charset="-128"/>
              </a:rPr>
              <a:t>p </a:t>
            </a:r>
            <a:r>
              <a:rPr kumimoji="1" lang="ja-JP" altLang="en-US" dirty="0">
                <a:latin typeface="BIZ UDゴシック" panose="020B0400000000000000" pitchFamily="49" charset="-128"/>
                <a:ea typeface="BIZ UDゴシック" panose="020B0400000000000000" pitchFamily="49" charset="-128"/>
              </a:rPr>
              <a:t>の</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つのパラメータを持ち、ベルヌーイ分布は </a:t>
            </a:r>
            <a:r>
              <a:rPr kumimoji="1" lang="en-US" altLang="ja-JP" dirty="0">
                <a:latin typeface="BIZ UDゴシック" panose="020B0400000000000000" pitchFamily="49" charset="-128"/>
                <a:ea typeface="BIZ UDゴシック" panose="020B0400000000000000" pitchFamily="49" charset="-128"/>
              </a:rPr>
              <a:t>N=1 </a:t>
            </a:r>
            <a:r>
              <a:rPr kumimoji="1" lang="ja-JP" altLang="en-US" dirty="0">
                <a:latin typeface="BIZ UDゴシック" panose="020B0400000000000000" pitchFamily="49" charset="-128"/>
                <a:ea typeface="BIZ UDゴシック" panose="020B0400000000000000" pitchFamily="49" charset="-128"/>
              </a:rPr>
              <a:t>の特殊ケースである。   捕獲再捕獲、占有モデル、</a:t>
            </a:r>
            <a:r>
              <a:rPr kumimoji="1" lang="en-US" altLang="ja-JP" dirty="0">
                <a:latin typeface="BIZ UDゴシック" panose="020B0400000000000000" pitchFamily="49" charset="-128"/>
                <a:ea typeface="BIZ UDゴシック" panose="020B0400000000000000" pitchFamily="49" charset="-128"/>
              </a:rPr>
              <a:t>N-mixture</a:t>
            </a:r>
            <a:r>
              <a:rPr kumimoji="1" lang="ja-JP" altLang="en-US" dirty="0">
                <a:latin typeface="BIZ UDゴシック" panose="020B0400000000000000" pitchFamily="49" charset="-128"/>
                <a:ea typeface="BIZ UDゴシック" panose="020B0400000000000000" pitchFamily="49" charset="-128"/>
              </a:rPr>
              <a:t>モデルなどの古典的な測定誤差モデルとして非常に重要である。   </a:t>
            </a:r>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3.2.4 </a:t>
            </a:r>
            <a:r>
              <a:rPr kumimoji="1" lang="ja-JP" altLang="en-US" dirty="0">
                <a:latin typeface="BIZ UDゴシック" panose="020B0400000000000000" pitchFamily="49" charset="-128"/>
                <a:ea typeface="BIZ UDゴシック" panose="020B0400000000000000" pitchFamily="49" charset="-128"/>
              </a:rPr>
              <a:t>ポアソン分布 </a:t>
            </a:r>
            <a:r>
              <a:rPr kumimoji="1" lang="en-US" altLang="ja-JP" dirty="0">
                <a:latin typeface="BIZ UDゴシック" panose="020B0400000000000000" pitchFamily="49" charset="-128"/>
                <a:ea typeface="BIZ UDゴシック" panose="020B0400000000000000" pitchFamily="49" charset="-128"/>
              </a:rPr>
              <a:t>(Poisson distribution)</a:t>
            </a:r>
            <a:r>
              <a:rPr kumimoji="1" lang="ja-JP" altLang="en-US" dirty="0">
                <a:latin typeface="BIZ UDゴシック" panose="020B0400000000000000" pitchFamily="49" charset="-128"/>
                <a:ea typeface="BIZ UDゴシック" panose="020B0400000000000000" pitchFamily="49" charset="-128"/>
              </a:rPr>
              <a:t>理論的な上限を持たないカウントデータの最初の選択肢である。   単一のパラメータ </a:t>
            </a:r>
            <a:r>
              <a:rPr kumimoji="1" lang="en-US" altLang="ja-JP" dirty="0">
                <a:latin typeface="BIZ UDゴシック" panose="020B0400000000000000" pitchFamily="49" charset="-128"/>
                <a:ea typeface="BIZ UDゴシック" panose="020B0400000000000000" pitchFamily="49" charset="-128"/>
              </a:rPr>
              <a:t>$\lambda$</a:t>
            </a:r>
            <a:r>
              <a:rPr kumimoji="1" lang="ja-JP" altLang="en-US" dirty="0">
                <a:latin typeface="BIZ UDゴシック" panose="020B0400000000000000" pitchFamily="49" charset="-128"/>
                <a:ea typeface="BIZ UDゴシック" panose="020B0400000000000000" pitchFamily="49" charset="-128"/>
              </a:rPr>
              <a:t>（強度）を持ち、平均と分散が等しいという特徴がある。   現実のデータでは分散が平均より大きくなる「過分散（</a:t>
            </a:r>
            <a:r>
              <a:rPr kumimoji="1" lang="en-US" altLang="ja-JP" dirty="0">
                <a:latin typeface="BIZ UDゴシック" panose="020B0400000000000000" pitchFamily="49" charset="-128"/>
                <a:ea typeface="BIZ UDゴシック" panose="020B0400000000000000" pitchFamily="49" charset="-128"/>
              </a:rPr>
              <a:t>Overdispersion</a:t>
            </a:r>
            <a:r>
              <a:rPr kumimoji="1" lang="ja-JP" altLang="en-US" dirty="0">
                <a:latin typeface="BIZ UDゴシック" panose="020B0400000000000000" pitchFamily="49" charset="-128"/>
                <a:ea typeface="BIZ UDゴシック" panose="020B0400000000000000" pitchFamily="49" charset="-128"/>
              </a:rPr>
              <a:t>）」が頻発する。   </a:t>
            </a:r>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3.2.5 </a:t>
            </a:r>
            <a:r>
              <a:rPr kumimoji="1" lang="ja-JP" altLang="en-US" dirty="0">
                <a:latin typeface="BIZ UDゴシック" panose="020B0400000000000000" pitchFamily="49" charset="-128"/>
                <a:ea typeface="BIZ UDゴシック" panose="020B0400000000000000" pitchFamily="49" charset="-128"/>
              </a:rPr>
              <a:t>統計分布に関するまとめ </a:t>
            </a:r>
            <a:r>
              <a:rPr kumimoji="1" lang="en-US" altLang="ja-JP" dirty="0">
                <a:latin typeface="BIZ UDゴシック" panose="020B0400000000000000" pitchFamily="49" charset="-128"/>
                <a:ea typeface="BIZ UDゴシック" panose="020B0400000000000000" pitchFamily="49" charset="-128"/>
              </a:rPr>
              <a:t>(Summary remarks on statistical distributions)</a:t>
            </a:r>
            <a:r>
              <a:rPr kumimoji="1" lang="ja-JP" altLang="en-US" dirty="0">
                <a:latin typeface="BIZ UDゴシック" panose="020B0400000000000000" pitchFamily="49" charset="-128"/>
                <a:ea typeface="BIZ UDゴシック" panose="020B0400000000000000" pitchFamily="49" charset="-128"/>
              </a:rPr>
              <a:t>統計分布はモデル内の確率変数を定量的に記述するための不可欠な構成要素である。   観測データや潜在変数の結合密度を表現し、最尤法やベイズ事後推論のための尤度関数の構築を可能にする。 </a:t>
            </a:r>
          </a:p>
        </p:txBody>
      </p:sp>
    </p:spTree>
    <p:extLst>
      <p:ext uri="{BB962C8B-B14F-4D97-AF65-F5344CB8AC3E}">
        <p14:creationId xmlns:p14="http://schemas.microsoft.com/office/powerpoint/2010/main" val="3681102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C2C9C-3870-1BDF-2457-EEABA4230E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BF8E13-2B16-CBE2-77A9-C644261EA7FF}"/>
              </a:ext>
            </a:extLst>
          </p:cNvPr>
          <p:cNvSpPr>
            <a:spLocks noGrp="1"/>
          </p:cNvSpPr>
          <p:nvPr>
            <p:ph type="title"/>
          </p:nvPr>
        </p:nvSpPr>
        <p:spPr/>
        <p:txBody>
          <a:bodyPr/>
          <a:lstStyle/>
          <a:p>
            <a:r>
              <a:rPr kumimoji="1" lang="en-US" altLang="ja-JP" dirty="0">
                <a:latin typeface="BIZ UDゴシック" panose="020B0400000000000000" pitchFamily="49" charset="-128"/>
                <a:ea typeface="BIZ UDゴシック" panose="020B0400000000000000" pitchFamily="49" charset="-128"/>
              </a:rPr>
              <a:t>3.2</a:t>
            </a:r>
            <a:r>
              <a:rPr kumimoji="1" lang="ja-JP" altLang="en-US" dirty="0">
                <a:latin typeface="BIZ UDゴシック" panose="020B0400000000000000" pitchFamily="49" charset="-128"/>
                <a:ea typeface="BIZ UDゴシック" panose="020B0400000000000000" pitchFamily="49" charset="-128"/>
              </a:rPr>
              <a:t>　確率変数</a:t>
            </a:r>
          </a:p>
        </p:txBody>
      </p:sp>
      <p:sp>
        <p:nvSpPr>
          <p:cNvPr id="3" name="コンテンツ プレースホルダー 2">
            <a:extLst>
              <a:ext uri="{FF2B5EF4-FFF2-40B4-BE49-F238E27FC236}">
                <a16:creationId xmlns:a16="http://schemas.microsoft.com/office/drawing/2014/main" id="{11D8B54B-DC09-8267-67E3-AF4F67320172}"/>
              </a:ext>
            </a:extLst>
          </p:cNvPr>
          <p:cNvSpPr>
            <a:spLocks noGrp="1"/>
          </p:cNvSpPr>
          <p:nvPr>
            <p:ph idx="1"/>
          </p:nvPr>
        </p:nvSpPr>
        <p:spPr>
          <a:xfrm>
            <a:off x="838200" y="1825625"/>
            <a:ext cx="5257800" cy="4893674"/>
          </a:xfrm>
        </p:spPr>
        <p:txBody>
          <a:bodyPr/>
          <a:lstStyle/>
          <a:p>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69B3A49D-0C1F-43BD-3432-9A6CF6F13EB7}"/>
              </a:ext>
            </a:extLst>
          </p:cNvPr>
          <p:cNvPicPr>
            <a:picLocks noChangeAspect="1"/>
          </p:cNvPicPr>
          <p:nvPr/>
        </p:nvPicPr>
        <p:blipFill>
          <a:blip r:embed="rId2"/>
          <a:stretch>
            <a:fillRect/>
          </a:stretch>
        </p:blipFill>
        <p:spPr>
          <a:xfrm>
            <a:off x="6259407" y="-33391"/>
            <a:ext cx="5488357" cy="6858000"/>
          </a:xfrm>
          <a:prstGeom prst="rect">
            <a:avLst/>
          </a:prstGeom>
        </p:spPr>
      </p:pic>
    </p:spTree>
    <p:extLst>
      <p:ext uri="{BB962C8B-B14F-4D97-AF65-F5344CB8AC3E}">
        <p14:creationId xmlns:p14="http://schemas.microsoft.com/office/powerpoint/2010/main" val="2859624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2B98-ACD4-59B6-B4BB-6833F6921B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7F450F-F5B1-D41C-B0AD-00103C54E528}"/>
              </a:ext>
            </a:extLst>
          </p:cNvPr>
          <p:cNvSpPr>
            <a:spLocks noGrp="1"/>
          </p:cNvSpPr>
          <p:nvPr>
            <p:ph type="title"/>
          </p:nvPr>
        </p:nvSpPr>
        <p:spPr>
          <a:xfrm>
            <a:off x="838200" y="365126"/>
            <a:ext cx="10515600" cy="765032"/>
          </a:xfrm>
        </p:spPr>
        <p:txBody>
          <a:bodyPr>
            <a:noAutofit/>
          </a:bodyPr>
          <a:lstStyle/>
          <a:p>
            <a:r>
              <a:rPr kumimoji="1" lang="en-US" altLang="ja-JP" sz="2800" dirty="0">
                <a:latin typeface="BIZ UDゴシック" panose="020B0400000000000000" pitchFamily="49" charset="-128"/>
                <a:ea typeface="BIZ UDゴシック" panose="020B0400000000000000" pitchFamily="49" charset="-128"/>
              </a:rPr>
              <a:t>3.3 </a:t>
            </a:r>
            <a:r>
              <a:rPr kumimoji="1" lang="ja-JP" altLang="en-US" sz="2800" dirty="0">
                <a:latin typeface="BIZ UDゴシック" panose="020B0400000000000000" pitchFamily="49" charset="-128"/>
                <a:ea typeface="BIZ UDゴシック" panose="020B0400000000000000" pitchFamily="49" charset="-128"/>
              </a:rPr>
              <a:t>パラメータ変換のためのリンク関数 </a:t>
            </a:r>
            <a:r>
              <a:rPr kumimoji="1" lang="en-US" altLang="ja-JP" sz="2800" dirty="0">
                <a:latin typeface="BIZ UDゴシック" panose="020B0400000000000000" pitchFamily="49" charset="-128"/>
                <a:ea typeface="BIZ UDゴシック" panose="020B0400000000000000" pitchFamily="49" charset="-128"/>
              </a:rPr>
              <a:t>(Link functions...)</a:t>
            </a:r>
            <a:endParaRPr kumimoji="1" lang="ja-JP" altLang="en-US" sz="28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A740BD5-4E95-147C-EEEF-11AF2A099DA9}"/>
              </a:ext>
            </a:extLst>
          </p:cNvPr>
          <p:cNvSpPr>
            <a:spLocks noGrp="1"/>
          </p:cNvSpPr>
          <p:nvPr>
            <p:ph idx="1"/>
          </p:nvPr>
        </p:nvSpPr>
        <p:spPr>
          <a:xfrm>
            <a:off x="838200" y="1825625"/>
            <a:ext cx="10515600" cy="4914222"/>
          </a:xfrm>
        </p:spPr>
        <p:txBody>
          <a:bodyPr>
            <a:normAutofit fontScale="92500" lnSpcReduction="20000"/>
          </a:bodyPr>
          <a:lstStyle/>
          <a:p>
            <a:r>
              <a:rPr kumimoji="1" lang="ja-JP" altLang="en-US" dirty="0">
                <a:latin typeface="BIZ UDゴシック" panose="020B0400000000000000" pitchFamily="49" charset="-128"/>
                <a:ea typeface="BIZ UDゴシック" panose="020B0400000000000000" pitchFamily="49" charset="-128"/>
              </a:rPr>
              <a:t>パラメータが取り得る値の範囲制限（例</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ポアソン平均の非負制約、二項確率の </a:t>
            </a:r>
            <a:r>
              <a:rPr kumimoji="1" lang="en-US" altLang="ja-JP" dirty="0">
                <a:latin typeface="BIZ UDゴシック" panose="020B0400000000000000" pitchFamily="49" charset="-128"/>
                <a:ea typeface="BIZ UDゴシック" panose="020B0400000000000000" pitchFamily="49" charset="-128"/>
              </a:rPr>
              <a:t>$[0, 1]$ </a:t>
            </a:r>
            <a:r>
              <a:rPr kumimoji="1" lang="ja-JP" altLang="en-US" dirty="0">
                <a:latin typeface="BIZ UDゴシック" panose="020B0400000000000000" pitchFamily="49" charset="-128"/>
                <a:ea typeface="BIZ UDゴシック" panose="020B0400000000000000" pitchFamily="49" charset="-128"/>
              </a:rPr>
              <a:t>制約）を保ちつつ共変量効果を線形モデル化するために、パラメータを変換するリンク関数を用います。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Identity</a:t>
            </a:r>
            <a:r>
              <a:rPr kumimoji="1" lang="ja-JP" altLang="en-US" dirty="0">
                <a:latin typeface="BIZ UDゴシック" panose="020B0400000000000000" pitchFamily="49" charset="-128"/>
                <a:ea typeface="BIZ UDゴシック" panose="020B0400000000000000" pitchFamily="49" charset="-128"/>
              </a:rPr>
              <a:t>リンク</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変形なし（</a:t>
            </a:r>
            <a:r>
              <a:rPr kumimoji="1" lang="en-US" altLang="ja-JP" dirty="0">
                <a:latin typeface="BIZ UDゴシック" panose="020B0400000000000000" pitchFamily="49" charset="-128"/>
                <a:ea typeface="BIZ UDゴシック" panose="020B0400000000000000" pitchFamily="49" charset="-128"/>
              </a:rPr>
              <a:t>$\mu = \eta$</a:t>
            </a:r>
            <a:r>
              <a:rPr kumimoji="1" lang="ja-JP" altLang="en-US" dirty="0">
                <a:latin typeface="BIZ UDゴシック" panose="020B0400000000000000" pitchFamily="49" charset="-128"/>
                <a:ea typeface="BIZ UDゴシック" panose="020B0400000000000000" pitchFamily="49" charset="-128"/>
              </a:rPr>
              <a:t>）。正規線形モデルで使用。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Log</a:t>
            </a:r>
            <a:r>
              <a:rPr kumimoji="1" lang="ja-JP" altLang="en-US" dirty="0">
                <a:latin typeface="BIZ UDゴシック" panose="020B0400000000000000" pitchFamily="49" charset="-128"/>
                <a:ea typeface="BIZ UDゴシック" panose="020B0400000000000000" pitchFamily="49" charset="-128"/>
              </a:rPr>
              <a:t>（対数）リンク</a:t>
            </a:r>
            <a:r>
              <a:rPr kumimoji="1" lang="en-US" altLang="ja-JP" dirty="0">
                <a:latin typeface="BIZ UDゴシック" panose="020B0400000000000000" pitchFamily="49" charset="-128"/>
                <a:ea typeface="BIZ UDゴシック" panose="020B0400000000000000" pitchFamily="49" charset="-128"/>
              </a:rPr>
              <a:t>: $\log(\lambda) = \eta \</a:t>
            </a:r>
            <a:r>
              <a:rPr kumimoji="1" lang="en-US" altLang="ja-JP" dirty="0" err="1">
                <a:latin typeface="BIZ UDゴシック" panose="020B0400000000000000" pitchFamily="49" charset="-128"/>
                <a:ea typeface="BIZ UDゴシック" panose="020B0400000000000000" pitchFamily="49" charset="-128"/>
              </a:rPr>
              <a:t>Rightarrow</a:t>
            </a:r>
            <a:r>
              <a:rPr kumimoji="1" lang="en-US" altLang="ja-JP" dirty="0">
                <a:latin typeface="BIZ UDゴシック" panose="020B0400000000000000" pitchFamily="49" charset="-128"/>
                <a:ea typeface="BIZ UDゴシック" panose="020B0400000000000000" pitchFamily="49" charset="-128"/>
              </a:rPr>
              <a:t> \lambda = \exp(\eta)$</a:t>
            </a:r>
            <a:r>
              <a:rPr kumimoji="1" lang="ja-JP" altLang="en-US" dirty="0">
                <a:latin typeface="BIZ UDゴシック" panose="020B0400000000000000" pitchFamily="49" charset="-128"/>
                <a:ea typeface="BIZ UDゴシック" panose="020B0400000000000000" pitchFamily="49" charset="-128"/>
              </a:rPr>
              <a:t>。ポアソン分布の平均値など、正の値を保証するために使用。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Logit</a:t>
            </a:r>
            <a:r>
              <a:rPr kumimoji="1" lang="ja-JP" altLang="en-US" dirty="0">
                <a:latin typeface="BIZ UDゴシック" panose="020B0400000000000000" pitchFamily="49" charset="-128"/>
                <a:ea typeface="BIZ UDゴシック" panose="020B0400000000000000" pitchFamily="49" charset="-128"/>
              </a:rPr>
              <a:t>（ロジット）リンク</a:t>
            </a:r>
            <a:r>
              <a:rPr kumimoji="1" lang="en-US" altLang="ja-JP" dirty="0">
                <a:latin typeface="BIZ UDゴシック" panose="020B0400000000000000" pitchFamily="49" charset="-128"/>
                <a:ea typeface="BIZ UDゴシック" panose="020B0400000000000000" pitchFamily="49" charset="-128"/>
              </a:rPr>
              <a:t>: $\text{logit}(p) = \log\left(\frac{p}{1-p}\right) = \eta$</a:t>
            </a:r>
            <a:r>
              <a:rPr kumimoji="1" lang="ja-JP" altLang="en-US" dirty="0">
                <a:latin typeface="BIZ UDゴシック" panose="020B0400000000000000" pitchFamily="49" charset="-128"/>
                <a:ea typeface="BIZ UDゴシック" panose="020B0400000000000000" pitchFamily="49" charset="-128"/>
              </a:rPr>
              <a:t>。確率 </a:t>
            </a:r>
            <a:r>
              <a:rPr kumimoji="1" lang="en-US" altLang="ja-JP" dirty="0">
                <a:latin typeface="BIZ UDゴシック" panose="020B0400000000000000" pitchFamily="49" charset="-128"/>
                <a:ea typeface="BIZ UDゴシック" panose="020B0400000000000000" pitchFamily="49" charset="-128"/>
              </a:rPr>
              <a:t>$p$ </a:t>
            </a:r>
            <a:r>
              <a:rPr kumimoji="1" lang="ja-JP" altLang="en-US" dirty="0">
                <a:latin typeface="BIZ UDゴシック" panose="020B0400000000000000" pitchFamily="49" charset="-128"/>
                <a:ea typeface="BIZ UDゴシック" panose="020B0400000000000000" pitchFamily="49" charset="-128"/>
              </a:rPr>
              <a:t>を実数全体に拡張する（ロジスティック回帰）。 </a:t>
            </a:r>
          </a:p>
        </p:txBody>
      </p:sp>
    </p:spTree>
    <p:extLst>
      <p:ext uri="{BB962C8B-B14F-4D97-AF65-F5344CB8AC3E}">
        <p14:creationId xmlns:p14="http://schemas.microsoft.com/office/powerpoint/2010/main" val="1105873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95137-4136-CB30-3C62-CBCD6B1582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D00626-B930-9FA1-E129-423A8D7E095D}"/>
              </a:ext>
            </a:extLst>
          </p:cNvPr>
          <p:cNvSpPr>
            <a:spLocks noGrp="1"/>
          </p:cNvSpPr>
          <p:nvPr>
            <p:ph type="title"/>
          </p:nvPr>
        </p:nvSpPr>
        <p:spPr/>
        <p:txBody>
          <a:bodyPr>
            <a:noAutofit/>
          </a:bodyPr>
          <a:lstStyle/>
          <a:p>
            <a:r>
              <a:rPr kumimoji="1" lang="en-US" altLang="ja-JP" sz="3200" dirty="0">
                <a:latin typeface="BIZ UDゴシック" panose="020B0400000000000000" pitchFamily="49" charset="-128"/>
                <a:ea typeface="BIZ UDゴシック" panose="020B0400000000000000" pitchFamily="49" charset="-128"/>
              </a:rPr>
              <a:t>3.3 </a:t>
            </a:r>
            <a:r>
              <a:rPr kumimoji="1" lang="ja-JP" altLang="en-US" sz="3200" dirty="0">
                <a:latin typeface="BIZ UDゴシック" panose="020B0400000000000000" pitchFamily="49" charset="-128"/>
                <a:ea typeface="BIZ UDゴシック" panose="020B0400000000000000" pitchFamily="49" charset="-128"/>
              </a:rPr>
              <a:t>パラメータ変換のためのリンク関数 </a:t>
            </a:r>
            <a:br>
              <a:rPr kumimoji="1" lang="en-US" altLang="ja-JP" sz="3200" dirty="0">
                <a:latin typeface="BIZ UDゴシック" panose="020B0400000000000000" pitchFamily="49" charset="-128"/>
                <a:ea typeface="BIZ UDゴシック" panose="020B0400000000000000" pitchFamily="49" charset="-128"/>
              </a:rPr>
            </a:br>
            <a:r>
              <a:rPr kumimoji="1" lang="en-US" altLang="ja-JP" sz="3200" dirty="0">
                <a:latin typeface="BIZ UDゴシック" panose="020B0400000000000000" pitchFamily="49" charset="-128"/>
                <a:ea typeface="BIZ UDゴシック" panose="020B0400000000000000" pitchFamily="49" charset="-128"/>
              </a:rPr>
              <a:t>(Link functions to model parameters on a transformed scale)</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5310487-AC29-292D-1D09-9578B82E22B6}"/>
              </a:ext>
            </a:extLst>
          </p:cNvPr>
          <p:cNvSpPr>
            <a:spLocks noGrp="1"/>
          </p:cNvSpPr>
          <p:nvPr>
            <p:ph idx="1"/>
          </p:nvPr>
        </p:nvSpPr>
        <p:spPr/>
        <p:txBody>
          <a:bodyPr>
            <a:normAutofit fontScale="92500" lnSpcReduction="10000"/>
          </a:bodyPr>
          <a:lstStyle/>
          <a:p>
            <a:r>
              <a:rPr kumimoji="1" lang="ja-JP" altLang="en-US" dirty="0">
                <a:latin typeface="BIZ UDゴシック" panose="020B0400000000000000" pitchFamily="49" charset="-128"/>
                <a:ea typeface="BIZ UDゴシック" panose="020B0400000000000000" pitchFamily="49" charset="-128"/>
              </a:rPr>
              <a:t>分布の正規パラメータ（平均など）に共変量の効果を組み込む際、パラメータの範囲制限（非負や</a:t>
            </a:r>
            <a:r>
              <a:rPr kumimoji="1" lang="en-US" altLang="ja-JP" dirty="0">
                <a:latin typeface="BIZ UDゴシック" panose="020B0400000000000000" pitchFamily="49" charset="-128"/>
                <a:ea typeface="BIZ UDゴシック" panose="020B0400000000000000" pitchFamily="49" charset="-128"/>
              </a:rPr>
              <a:t>0</a:t>
            </a:r>
            <a:r>
              <a:rPr kumimoji="1" lang="ja-JP" altLang="en-US" dirty="0">
                <a:latin typeface="BIZ UDゴシック" panose="020B0400000000000000" pitchFamily="49" charset="-128"/>
                <a:ea typeface="BIZ UDゴシック" panose="020B0400000000000000" pitchFamily="49" charset="-128"/>
              </a:rPr>
              <a:t>から</a:t>
            </a:r>
            <a:r>
              <a:rPr kumimoji="1" lang="en-US" altLang="ja-JP" dirty="0">
                <a:latin typeface="BIZ UDゴシック" panose="020B0400000000000000" pitchFamily="49" charset="-128"/>
                <a:ea typeface="BIZ UDゴシック" panose="020B0400000000000000" pitchFamily="49" charset="-128"/>
              </a:rPr>
              <a:t>1</a:t>
            </a:r>
            <a:r>
              <a:rPr kumimoji="1" lang="ja-JP" altLang="en-US" dirty="0">
                <a:latin typeface="BIZ UDゴシック" panose="020B0400000000000000" pitchFamily="49" charset="-128"/>
                <a:ea typeface="BIZ UDゴシック" panose="020B0400000000000000" pitchFamily="49" charset="-128"/>
              </a:rPr>
              <a:t>の間など）を維持するために、パラメータの変換（リンク関数）を用いる。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実際の応用では主に「ログリンク（対数リンク）」と「ロジットリンク」の</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つ、および変換を行わない「アイデンティティ（</a:t>
            </a:r>
            <a:r>
              <a:rPr kumimoji="1" lang="en-US" altLang="ja-JP" dirty="0">
                <a:latin typeface="BIZ UDゴシック" panose="020B0400000000000000" pitchFamily="49" charset="-128"/>
                <a:ea typeface="BIZ UDゴシック" panose="020B0400000000000000" pitchFamily="49" charset="-128"/>
              </a:rPr>
              <a:t>Identity</a:t>
            </a:r>
            <a:r>
              <a:rPr kumimoji="1" lang="ja-JP" altLang="en-US" dirty="0">
                <a:latin typeface="BIZ UDゴシック" panose="020B0400000000000000" pitchFamily="49" charset="-128"/>
                <a:ea typeface="BIZ UDゴシック" panose="020B0400000000000000" pitchFamily="49" charset="-128"/>
              </a:rPr>
              <a:t>）リンク」の合計</a:t>
            </a:r>
            <a:r>
              <a:rPr kumimoji="1" lang="en-US" altLang="ja-JP" dirty="0">
                <a:latin typeface="BIZ UDゴシック" panose="020B0400000000000000" pitchFamily="49" charset="-128"/>
                <a:ea typeface="BIZ UDゴシック" panose="020B0400000000000000" pitchFamily="49" charset="-128"/>
              </a:rPr>
              <a:t>3</a:t>
            </a:r>
            <a:r>
              <a:rPr kumimoji="1" lang="ja-JP" altLang="en-US" dirty="0">
                <a:latin typeface="BIZ UDゴシック" panose="020B0400000000000000" pitchFamily="49" charset="-128"/>
                <a:ea typeface="BIZ UDゴシック" panose="020B0400000000000000" pitchFamily="49" charset="-128"/>
              </a:rPr>
              <a:t>つが使用される。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ログリンクはポアソン平均などの非負パラメータに、ロジットリンクは二項分布の確率パラメータを実数全体に引き伸ばすために使用される。</a:t>
            </a:r>
          </a:p>
        </p:txBody>
      </p:sp>
    </p:spTree>
    <p:extLst>
      <p:ext uri="{BB962C8B-B14F-4D97-AF65-F5344CB8AC3E}">
        <p14:creationId xmlns:p14="http://schemas.microsoft.com/office/powerpoint/2010/main" val="481050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EFCF-2E9D-B012-032A-FA31DDD351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2594F6-1127-304D-B37F-61176535A32A}"/>
              </a:ext>
            </a:extLst>
          </p:cNvPr>
          <p:cNvSpPr>
            <a:spLocks noGrp="1"/>
          </p:cNvSpPr>
          <p:nvPr>
            <p:ph type="title"/>
          </p:nvPr>
        </p:nvSpPr>
        <p:spPr>
          <a:xfrm>
            <a:off x="838200" y="365126"/>
            <a:ext cx="10515600" cy="754758"/>
          </a:xfrm>
        </p:spPr>
        <p:txBody>
          <a:bodyPr>
            <a:normAutofit fontScale="90000"/>
          </a:bodyPr>
          <a:lstStyle/>
          <a:p>
            <a:r>
              <a:rPr kumimoji="1" lang="en-US" altLang="ja-JP" sz="3600" dirty="0">
                <a:latin typeface="BIZ UDゴシック" panose="020B0400000000000000" pitchFamily="49" charset="-128"/>
                <a:ea typeface="BIZ UDゴシック" panose="020B0400000000000000" pitchFamily="49" charset="-128"/>
              </a:rPr>
              <a:t>3.4 </a:t>
            </a:r>
            <a:r>
              <a:rPr kumimoji="1" lang="ja-JP" altLang="en-US" sz="3600" dirty="0">
                <a:latin typeface="BIZ UDゴシック" panose="020B0400000000000000" pitchFamily="49" charset="-128"/>
                <a:ea typeface="BIZ UDゴシック" panose="020B0400000000000000" pitchFamily="49" charset="-128"/>
              </a:rPr>
              <a:t>共変量効果の線形モデル化 </a:t>
            </a: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(Linear modeling of covariate effects)</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A8C8D27-B1EA-A07B-6930-2B5FE71C9E95}"/>
              </a:ext>
            </a:extLst>
          </p:cNvPr>
          <p:cNvSpPr>
            <a:spLocks noGrp="1"/>
          </p:cNvSpPr>
          <p:nvPr>
            <p:ph idx="1"/>
          </p:nvPr>
        </p:nvSpPr>
        <p:spPr>
          <a:xfrm>
            <a:off x="195209" y="1243173"/>
            <a:ext cx="11918022" cy="5486400"/>
          </a:xfrm>
        </p:spPr>
        <p:txBody>
          <a:bodyPr>
            <a:normAutofit fontScale="47500" lnSpcReduction="20000"/>
          </a:bodyPr>
          <a:lstStyle/>
          <a:p>
            <a:r>
              <a:rPr kumimoji="1" lang="ja-JP" altLang="en-US" dirty="0">
                <a:latin typeface="BIZ UDゴシック" panose="020B0400000000000000" pitchFamily="49" charset="-128"/>
                <a:ea typeface="BIZ UDゴシック" panose="020B0400000000000000" pitchFamily="49" charset="-128"/>
              </a:rPr>
              <a:t>応答変数 </a:t>
            </a:r>
            <a:r>
              <a:rPr kumimoji="1" lang="en-US" altLang="ja-JP" dirty="0">
                <a:latin typeface="BIZ UDゴシック" panose="020B0400000000000000" pitchFamily="49" charset="-128"/>
                <a:ea typeface="BIZ UDゴシック" panose="020B0400000000000000" pitchFamily="49" charset="-128"/>
              </a:rPr>
              <a:t>y </a:t>
            </a:r>
            <a:r>
              <a:rPr kumimoji="1" lang="ja-JP" altLang="en-US" dirty="0">
                <a:latin typeface="BIZ UDゴシック" panose="020B0400000000000000" pitchFamily="49" charset="-128"/>
                <a:ea typeface="BIZ UDゴシック" panose="020B0400000000000000" pitchFamily="49" charset="-128"/>
              </a:rPr>
              <a:t>と共変量（連続変数または因子）の機能的関係を、パラメータ（係数）を重みとする加重和として指定するのが線形モデル（</a:t>
            </a:r>
            <a:r>
              <a:rPr kumimoji="1" lang="en-US" altLang="ja-JP" dirty="0">
                <a:latin typeface="BIZ UDゴシック" panose="020B0400000000000000" pitchFamily="49" charset="-128"/>
                <a:ea typeface="BIZ UDゴシック" panose="020B0400000000000000" pitchFamily="49" charset="-128"/>
              </a:rPr>
              <a:t>LM</a:t>
            </a:r>
            <a:r>
              <a:rPr kumimoji="1" lang="ja-JP" altLang="en-US" dirty="0">
                <a:latin typeface="BIZ UDゴシック" panose="020B0400000000000000" pitchFamily="49" charset="-128"/>
                <a:ea typeface="BIZ UDゴシック" panose="020B0400000000000000" pitchFamily="49" charset="-128"/>
              </a:rPr>
              <a:t>）である。   </a:t>
            </a:r>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の</a:t>
            </a:r>
            <a:r>
              <a:rPr kumimoji="1" lang="en-US" altLang="ja-JP" dirty="0">
                <a:latin typeface="BIZ UDゴシック" panose="020B0400000000000000" pitchFamily="49" charset="-128"/>
                <a:ea typeface="BIZ UDゴシック" panose="020B0400000000000000" pitchFamily="49" charset="-128"/>
              </a:rPr>
              <a:t>Wilkinson-Rogers</a:t>
            </a:r>
            <a:r>
              <a:rPr kumimoji="1" lang="ja-JP" altLang="en-US" dirty="0">
                <a:latin typeface="BIZ UDゴシック" panose="020B0400000000000000" pitchFamily="49" charset="-128"/>
                <a:ea typeface="BIZ UDゴシック" panose="020B0400000000000000" pitchFamily="49" charset="-128"/>
              </a:rPr>
              <a:t>記法で指定されるデザイン行列（デザインマトリックス </a:t>
            </a:r>
            <a:r>
              <a:rPr kumimoji="1" lang="en-US" altLang="ja-JP" dirty="0">
                <a:latin typeface="BIZ UDゴシック" panose="020B0400000000000000" pitchFamily="49" charset="-128"/>
                <a:ea typeface="BIZ UDゴシック" panose="020B0400000000000000" pitchFamily="49" charset="-128"/>
              </a:rPr>
              <a:t>X</a:t>
            </a:r>
            <a:r>
              <a:rPr kumimoji="1" lang="ja-JP" altLang="en-US" dirty="0">
                <a:latin typeface="BIZ UDゴシック" panose="020B0400000000000000" pitchFamily="49" charset="-128"/>
                <a:ea typeface="BIZ UDゴシック" panose="020B0400000000000000" pitchFamily="49" charset="-128"/>
              </a:rPr>
              <a:t>）は、</a:t>
            </a:r>
            <a:r>
              <a:rPr kumimoji="1" lang="en-US" altLang="ja-JP" dirty="0">
                <a:latin typeface="BIZ UDゴシック" panose="020B0400000000000000" pitchFamily="49" charset="-128"/>
                <a:ea typeface="BIZ UDゴシック" panose="020B0400000000000000" pitchFamily="49" charset="-128"/>
              </a:rPr>
              <a:t>LM</a:t>
            </a:r>
            <a:r>
              <a:rPr kumimoji="1" lang="ja-JP" altLang="en-US" dirty="0">
                <a:latin typeface="BIZ UDゴシック" panose="020B0400000000000000" pitchFamily="49" charset="-128"/>
                <a:ea typeface="BIZ UDゴシック" panose="020B0400000000000000" pitchFamily="49" charset="-128"/>
              </a:rPr>
              <a:t>の種類とパラメータの意味を完全に定義する。</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3.4.1 </a:t>
            </a:r>
            <a:r>
              <a:rPr kumimoji="1" lang="ja-JP" altLang="en-US" dirty="0">
                <a:latin typeface="BIZ UDゴシック" panose="020B0400000000000000" pitchFamily="49" charset="-128"/>
                <a:ea typeface="BIZ UDゴシック" panose="020B0400000000000000" pitchFamily="49" charset="-128"/>
              </a:rPr>
              <a:t>「平均モデル」 </a:t>
            </a:r>
            <a:r>
              <a:rPr kumimoji="1" lang="en-US" altLang="ja-JP" dirty="0">
                <a:latin typeface="BIZ UDゴシック" panose="020B0400000000000000" pitchFamily="49" charset="-128"/>
                <a:ea typeface="BIZ UDゴシック" panose="020B0400000000000000" pitchFamily="49" charset="-128"/>
              </a:rPr>
              <a:t>(The “model of the mean”)</a:t>
            </a:r>
            <a:r>
              <a:rPr kumimoji="1" lang="ja-JP" altLang="en-US" dirty="0">
                <a:latin typeface="BIZ UDゴシック" panose="020B0400000000000000" pitchFamily="49" charset="-128"/>
                <a:ea typeface="BIZ UDゴシック" panose="020B0400000000000000" pitchFamily="49" charset="-128"/>
              </a:rPr>
              <a:t>全データに対して共通の平均を当てはめる、切片のみの最も単純な線形モデルである。   デザイン行列は</a:t>
            </a:r>
            <a:r>
              <a:rPr kumimoji="1" lang="en-US" altLang="ja-JP" dirty="0">
                <a:latin typeface="BIZ UDゴシック" panose="020B0400000000000000" pitchFamily="49" charset="-128"/>
                <a:ea typeface="BIZ UDゴシック" panose="020B0400000000000000" pitchFamily="49" charset="-128"/>
              </a:rPr>
              <a:t>1</a:t>
            </a:r>
            <a:r>
              <a:rPr kumimoji="1" lang="ja-JP" altLang="en-US" dirty="0">
                <a:latin typeface="BIZ UDゴシック" panose="020B0400000000000000" pitchFamily="49" charset="-128"/>
                <a:ea typeface="BIZ UDゴシック" panose="020B0400000000000000" pitchFamily="49" charset="-128"/>
              </a:rPr>
              <a:t>の列（切片）のみで構成される。   代数的には</a:t>
            </a:r>
            <a:r>
              <a:rPr lang="en-US" altLang="ja-JP" dirty="0" err="1">
                <a:latin typeface="BIZ UDゴシック" panose="020B0400000000000000" pitchFamily="49" charset="-128"/>
                <a:ea typeface="BIZ UDゴシック" panose="020B0400000000000000" pitchFamily="49" charset="-128"/>
              </a:rPr>
              <a:t>yi</a:t>
            </a:r>
            <a:r>
              <a:rPr lang="en-US" altLang="ja-JP" dirty="0">
                <a:latin typeface="BIZ UDゴシック" panose="020B0400000000000000" pitchFamily="49" charset="-128"/>
                <a:ea typeface="BIZ UDゴシック" panose="020B0400000000000000" pitchFamily="49" charset="-128"/>
              </a:rPr>
              <a:t>=</a:t>
            </a:r>
            <a:r>
              <a:rPr lang="en-US" altLang="ja-JP" dirty="0" err="1">
                <a:latin typeface="BIZ UDゴシック" panose="020B0400000000000000" pitchFamily="49" charset="-128"/>
                <a:ea typeface="BIZ UDゴシック" panose="020B0400000000000000" pitchFamily="49" charset="-128"/>
              </a:rPr>
              <a:t>μi+ε</a:t>
            </a:r>
            <a:r>
              <a:rPr kumimoji="1" lang="ja-JP" altLang="en-US" dirty="0">
                <a:latin typeface="BIZ UDゴシック" panose="020B0400000000000000" pitchFamily="49" charset="-128"/>
                <a:ea typeface="BIZ UDゴシック" panose="020B0400000000000000" pitchFamily="49" charset="-128"/>
              </a:rPr>
              <a:t>  </a:t>
            </a:r>
            <a:r>
              <a:rPr kumimoji="1" lang="en-US" altLang="ja-JP" dirty="0">
                <a:latin typeface="BIZ UDゴシック" panose="020B0400000000000000" pitchFamily="49" charset="-128"/>
                <a:ea typeface="BIZ UDゴシック" panose="020B0400000000000000" pitchFamily="49" charset="-128"/>
              </a:rPr>
              <a:t>ε</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Normal (0, σ</a:t>
            </a:r>
            <a:r>
              <a:rPr kumimoji="1" lang="en-US" altLang="ja-JP" baseline="30000"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）として表される。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3.4.2 2</a:t>
            </a:r>
            <a:r>
              <a:rPr kumimoji="1" lang="ja-JP" altLang="en-US" dirty="0">
                <a:latin typeface="BIZ UDゴシック" panose="020B0400000000000000" pitchFamily="49" charset="-128"/>
                <a:ea typeface="BIZ UDゴシック" panose="020B0400000000000000" pitchFamily="49" charset="-128"/>
              </a:rPr>
              <a:t>グループの比較 </a:t>
            </a:r>
            <a:r>
              <a:rPr kumimoji="1" lang="en-US" altLang="ja-JP" dirty="0">
                <a:latin typeface="BIZ UDゴシック" panose="020B0400000000000000" pitchFamily="49" charset="-128"/>
                <a:ea typeface="BIZ UDゴシック" panose="020B0400000000000000" pitchFamily="49" charset="-128"/>
              </a:rPr>
              <a:t>(Comparison of two groups)</a:t>
            </a:r>
            <a:r>
              <a:rPr kumimoji="1" lang="ja-JP" altLang="en-US" dirty="0">
                <a:latin typeface="BIZ UDゴシック" panose="020B0400000000000000" pitchFamily="49" charset="-128"/>
                <a:ea typeface="BIZ UDゴシック" panose="020B0400000000000000" pitchFamily="49" charset="-128"/>
              </a:rPr>
              <a:t>二値の因子の効果を記述する</a:t>
            </a:r>
            <a:r>
              <a:rPr kumimoji="1" lang="en-US" altLang="ja-JP" dirty="0">
                <a:latin typeface="BIZ UDゴシック" panose="020B0400000000000000" pitchFamily="49" charset="-128"/>
                <a:ea typeface="BIZ UDゴシック" panose="020B0400000000000000" pitchFamily="49" charset="-128"/>
              </a:rPr>
              <a:t>LM</a:t>
            </a:r>
            <a:r>
              <a:rPr kumimoji="1" lang="ja-JP" altLang="en-US" dirty="0">
                <a:latin typeface="BIZ UDゴシック" panose="020B0400000000000000" pitchFamily="49" charset="-128"/>
                <a:ea typeface="BIZ UDゴシック" panose="020B0400000000000000" pitchFamily="49" charset="-128"/>
              </a:rPr>
              <a:t>であり、正規応答の最小二乗法としては</a:t>
            </a:r>
            <a:r>
              <a:rPr kumimoji="1" lang="en-US" altLang="ja-JP" dirty="0">
                <a:latin typeface="BIZ UDゴシック" panose="020B0400000000000000" pitchFamily="49" charset="-128"/>
                <a:ea typeface="BIZ UDゴシック" panose="020B0400000000000000" pitchFamily="49" charset="-128"/>
              </a:rPr>
              <a:t>t</a:t>
            </a:r>
            <a:r>
              <a:rPr kumimoji="1" lang="ja-JP" altLang="en-US" dirty="0">
                <a:latin typeface="BIZ UDゴシック" panose="020B0400000000000000" pitchFamily="49" charset="-128"/>
                <a:ea typeface="BIZ UDゴシック" panose="020B0400000000000000" pitchFamily="49" charset="-128"/>
              </a:rPr>
              <a:t>検定に相当する。   基準レベルからの差分として表す「効果母数化（</a:t>
            </a:r>
            <a:r>
              <a:rPr kumimoji="1" lang="en-US" altLang="ja-JP" dirty="0">
                <a:latin typeface="BIZ UDゴシック" panose="020B0400000000000000" pitchFamily="49" charset="-128"/>
                <a:ea typeface="BIZ UDゴシック" panose="020B0400000000000000" pitchFamily="49" charset="-128"/>
              </a:rPr>
              <a:t>Effects parameterization</a:t>
            </a:r>
            <a:r>
              <a:rPr kumimoji="1" lang="ja-JP" altLang="en-US" dirty="0">
                <a:latin typeface="BIZ UDゴシック" panose="020B0400000000000000" pitchFamily="49" charset="-128"/>
                <a:ea typeface="BIZ UDゴシック" panose="020B0400000000000000" pitchFamily="49" charset="-128"/>
              </a:rPr>
              <a:t>）」と、各グループの平均値を直接表す「平均値母数化（</a:t>
            </a:r>
            <a:r>
              <a:rPr kumimoji="1" lang="en-US" altLang="ja-JP" dirty="0">
                <a:latin typeface="BIZ UDゴシック" panose="020B0400000000000000" pitchFamily="49" charset="-128"/>
                <a:ea typeface="BIZ UDゴシック" panose="020B0400000000000000" pitchFamily="49" charset="-128"/>
              </a:rPr>
              <a:t>Means parameterization</a:t>
            </a:r>
            <a:r>
              <a:rPr kumimoji="1" lang="ja-JP" altLang="en-US" dirty="0">
                <a:latin typeface="BIZ UDゴシック" panose="020B0400000000000000" pitchFamily="49" charset="-128"/>
                <a:ea typeface="BIZ UDゴシック" panose="020B0400000000000000" pitchFamily="49" charset="-128"/>
              </a:rPr>
              <a:t>）」がある。   過剰パラメータ化を防ぐため、</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ではデフォルトで最初の水準の効果を</a:t>
            </a:r>
            <a:r>
              <a:rPr kumimoji="1" lang="en-US" altLang="ja-JP" dirty="0">
                <a:latin typeface="BIZ UDゴシック" panose="020B0400000000000000" pitchFamily="49" charset="-128"/>
                <a:ea typeface="BIZ UDゴシック" panose="020B0400000000000000" pitchFamily="49" charset="-128"/>
              </a:rPr>
              <a:t>0</a:t>
            </a:r>
            <a:r>
              <a:rPr kumimoji="1" lang="ja-JP" altLang="en-US" dirty="0">
                <a:latin typeface="BIZ UDゴシック" panose="020B0400000000000000" pitchFamily="49" charset="-128"/>
                <a:ea typeface="BIZ UDゴシック" panose="020B0400000000000000" pitchFamily="49" charset="-128"/>
              </a:rPr>
              <a:t>に固定する制約（効果母数化）が自動的に適用される。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3.4.3 </a:t>
            </a:r>
            <a:r>
              <a:rPr kumimoji="1" lang="ja-JP" altLang="en-US" dirty="0">
                <a:latin typeface="BIZ UDゴシック" panose="020B0400000000000000" pitchFamily="49" charset="-128"/>
                <a:ea typeface="BIZ UDゴシック" panose="020B0400000000000000" pitchFamily="49" charset="-128"/>
              </a:rPr>
              <a:t>単純線形回帰：</a:t>
            </a:r>
            <a:r>
              <a:rPr kumimoji="1" lang="en-US" altLang="ja-JP" dirty="0">
                <a:latin typeface="BIZ UDゴシック" panose="020B0400000000000000" pitchFamily="49" charset="-128"/>
                <a:ea typeface="BIZ UDゴシック" panose="020B0400000000000000" pitchFamily="49" charset="-128"/>
              </a:rPr>
              <a:t>1</a:t>
            </a:r>
            <a:r>
              <a:rPr kumimoji="1" lang="ja-JP" altLang="en-US" dirty="0">
                <a:latin typeface="BIZ UDゴシック" panose="020B0400000000000000" pitchFamily="49" charset="-128"/>
                <a:ea typeface="BIZ UDゴシック" panose="020B0400000000000000" pitchFamily="49" charset="-128"/>
              </a:rPr>
              <a:t>つの連続共変量の効果 </a:t>
            </a:r>
            <a:r>
              <a:rPr kumimoji="1" lang="en-US" altLang="ja-JP" dirty="0">
                <a:latin typeface="BIZ UDゴシック" panose="020B0400000000000000" pitchFamily="49" charset="-128"/>
                <a:ea typeface="BIZ UDゴシック" panose="020B0400000000000000" pitchFamily="49" charset="-128"/>
              </a:rPr>
              <a:t>(Simple linear regression: modeling the effect of one continuous covariate)</a:t>
            </a:r>
            <a:r>
              <a:rPr kumimoji="1" lang="ja-JP" altLang="en-US" dirty="0">
                <a:latin typeface="BIZ UDゴシック" panose="020B0400000000000000" pitchFamily="49" charset="-128"/>
                <a:ea typeface="BIZ UDゴシック" panose="020B0400000000000000" pitchFamily="49" charset="-128"/>
              </a:rPr>
              <a:t>連続応答変数と連続共変量（例：長さ）の関係をモデル化する。   デザイン行列には切片の列と共変量の値が含まれる。   切片は共変量が</a:t>
            </a:r>
            <a:r>
              <a:rPr kumimoji="1" lang="en-US" altLang="ja-JP" dirty="0">
                <a:latin typeface="BIZ UDゴシック" panose="020B0400000000000000" pitchFamily="49" charset="-128"/>
                <a:ea typeface="BIZ UDゴシック" panose="020B0400000000000000" pitchFamily="49" charset="-128"/>
              </a:rPr>
              <a:t>0</a:t>
            </a:r>
            <a:r>
              <a:rPr kumimoji="1" lang="ja-JP" altLang="en-US" dirty="0">
                <a:latin typeface="BIZ UDゴシック" panose="020B0400000000000000" pitchFamily="49" charset="-128"/>
                <a:ea typeface="BIZ UDゴシック" panose="020B0400000000000000" pitchFamily="49" charset="-128"/>
              </a:rPr>
              <a:t>のときの期待値、係数は傾きを表す。共変量を平均中心化することで、切片の解釈をより意味のあるものにできる。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3.4.4 1</a:t>
            </a:r>
            <a:r>
              <a:rPr kumimoji="1" lang="ja-JP" altLang="en-US" dirty="0">
                <a:latin typeface="BIZ UDゴシック" panose="020B0400000000000000" pitchFamily="49" charset="-128"/>
                <a:ea typeface="BIZ UDゴシック" panose="020B0400000000000000" pitchFamily="49" charset="-128"/>
              </a:rPr>
              <a:t>つのカテゴリ共変量（因子）の効果 </a:t>
            </a:r>
            <a:r>
              <a:rPr kumimoji="1" lang="en-US" altLang="ja-JP" dirty="0">
                <a:latin typeface="BIZ UDゴシック" panose="020B0400000000000000" pitchFamily="49" charset="-128"/>
                <a:ea typeface="BIZ UDゴシック" panose="020B0400000000000000" pitchFamily="49" charset="-128"/>
              </a:rPr>
              <a:t>(Modeling the effects of one categorical covariate, or factor)</a:t>
            </a:r>
            <a:r>
              <a:rPr kumimoji="1" lang="ja-JP" altLang="en-US" dirty="0">
                <a:latin typeface="BIZ UDゴシック" panose="020B0400000000000000" pitchFamily="49" charset="-128"/>
                <a:ea typeface="BIZ UDゴシック" panose="020B0400000000000000" pitchFamily="49" charset="-128"/>
              </a:rPr>
              <a:t>水準数が</a:t>
            </a:r>
            <a:r>
              <a:rPr kumimoji="1" lang="en-US" altLang="ja-JP" dirty="0">
                <a:latin typeface="BIZ UDゴシック" panose="020B0400000000000000" pitchFamily="49" charset="-128"/>
                <a:ea typeface="BIZ UDゴシック" panose="020B0400000000000000" pitchFamily="49" charset="-128"/>
              </a:rPr>
              <a:t>3</a:t>
            </a:r>
            <a:r>
              <a:rPr kumimoji="1" lang="ja-JP" altLang="en-US" dirty="0">
                <a:latin typeface="BIZ UDゴシック" panose="020B0400000000000000" pitchFamily="49" charset="-128"/>
                <a:ea typeface="BIZ UDゴシック" panose="020B0400000000000000" pitchFamily="49" charset="-128"/>
              </a:rPr>
              <a:t>以上の場合の因子効果であり、</a:t>
            </a:r>
            <a:r>
              <a:rPr kumimoji="1" lang="en-US" altLang="ja-JP" dirty="0">
                <a:latin typeface="BIZ UDゴシック" panose="020B0400000000000000" pitchFamily="49" charset="-128"/>
                <a:ea typeface="BIZ UDゴシック" panose="020B0400000000000000" pitchFamily="49" charset="-128"/>
              </a:rPr>
              <a:t>1</a:t>
            </a:r>
            <a:r>
              <a:rPr kumimoji="1" lang="ja-JP" altLang="en-US" dirty="0">
                <a:latin typeface="BIZ UDゴシック" panose="020B0400000000000000" pitchFamily="49" charset="-128"/>
                <a:ea typeface="BIZ UDゴシック" panose="020B0400000000000000" pitchFamily="49" charset="-128"/>
              </a:rPr>
              <a:t>元配置分散分析（</a:t>
            </a:r>
            <a:r>
              <a:rPr kumimoji="1" lang="en-US" altLang="ja-JP" dirty="0">
                <a:latin typeface="BIZ UDゴシック" panose="020B0400000000000000" pitchFamily="49" charset="-128"/>
                <a:ea typeface="BIZ UDゴシック" panose="020B0400000000000000" pitchFamily="49" charset="-128"/>
              </a:rPr>
              <a:t>One-way ANOVA</a:t>
            </a:r>
            <a:r>
              <a:rPr kumimoji="1" lang="ja-JP" altLang="en-US" dirty="0">
                <a:latin typeface="BIZ UDゴシック" panose="020B0400000000000000" pitchFamily="49" charset="-128"/>
                <a:ea typeface="BIZ UDゴシック" panose="020B0400000000000000" pitchFamily="49" charset="-128"/>
              </a:rPr>
              <a:t>）に相当する。   効果母数化（基準水準からの差分）と、切片を落として各グループの平均を直接推定する平均値母数化を選択できる。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3.4.5 2</a:t>
            </a:r>
            <a:r>
              <a:rPr kumimoji="1" lang="ja-JP" altLang="en-US" dirty="0">
                <a:latin typeface="BIZ UDゴシック" panose="020B0400000000000000" pitchFamily="49" charset="-128"/>
                <a:ea typeface="BIZ UDゴシック" panose="020B0400000000000000" pitchFamily="49" charset="-128"/>
              </a:rPr>
              <a:t>つの因子の効果 </a:t>
            </a:r>
            <a:r>
              <a:rPr kumimoji="1" lang="en-US" altLang="ja-JP" dirty="0">
                <a:latin typeface="BIZ UDゴシック" panose="020B0400000000000000" pitchFamily="49" charset="-128"/>
                <a:ea typeface="BIZ UDゴシック" panose="020B0400000000000000" pitchFamily="49" charset="-128"/>
              </a:rPr>
              <a:t>(Modeling the effects of two factors)2</a:t>
            </a:r>
            <a:r>
              <a:rPr kumimoji="1" lang="ja-JP" altLang="en-US" dirty="0">
                <a:latin typeface="BIZ UDゴシック" panose="020B0400000000000000" pitchFamily="49" charset="-128"/>
                <a:ea typeface="BIZ UDゴシック" panose="020B0400000000000000" pitchFamily="49" charset="-128"/>
              </a:rPr>
              <a:t>元配置分散分析（</a:t>
            </a:r>
            <a:r>
              <a:rPr kumimoji="1" lang="en-US" altLang="ja-JP" dirty="0">
                <a:latin typeface="BIZ UDゴシック" panose="020B0400000000000000" pitchFamily="49" charset="-128"/>
                <a:ea typeface="BIZ UDゴシック" panose="020B0400000000000000" pitchFamily="49" charset="-128"/>
              </a:rPr>
              <a:t>Two-way ANOVA</a:t>
            </a:r>
            <a:r>
              <a:rPr kumimoji="1" lang="ja-JP" altLang="en-US" dirty="0">
                <a:latin typeface="BIZ UDゴシック" panose="020B0400000000000000" pitchFamily="49" charset="-128"/>
                <a:ea typeface="BIZ UDゴシック" panose="020B0400000000000000" pitchFamily="49" charset="-128"/>
              </a:rPr>
              <a:t>）に相当し、地域や生息地などの</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つの因子の関係を調べる。   効果が加算的な「主効果モデル」と、因子の組み合わせによる「交互作用モデル」がある。   観測データがないセルが存在する場合、パラメータが推定不能（</a:t>
            </a:r>
            <a:r>
              <a:rPr kumimoji="1" lang="en-US" altLang="ja-JP" dirty="0">
                <a:latin typeface="BIZ UDゴシック" panose="020B0400000000000000" pitchFamily="49" charset="-128"/>
                <a:ea typeface="BIZ UDゴシック" panose="020B0400000000000000" pitchFamily="49" charset="-128"/>
              </a:rPr>
              <a:t>Aliasing</a:t>
            </a:r>
            <a:r>
              <a:rPr kumimoji="1" lang="ja-JP" altLang="en-US" dirty="0">
                <a:latin typeface="BIZ UDゴシック" panose="020B0400000000000000" pitchFamily="49" charset="-128"/>
                <a:ea typeface="BIZ UDゴシック" panose="020B0400000000000000" pitchFamily="49" charset="-128"/>
              </a:rPr>
              <a:t>）になることがある。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3.4.6 </a:t>
            </a:r>
            <a:r>
              <a:rPr kumimoji="1" lang="ja-JP" altLang="en-US" dirty="0">
                <a:latin typeface="BIZ UDゴシック" panose="020B0400000000000000" pitchFamily="49" charset="-128"/>
                <a:ea typeface="BIZ UDゴシック" panose="020B0400000000000000" pitchFamily="49" charset="-128"/>
              </a:rPr>
              <a:t>因子と連続共変量の効果 </a:t>
            </a:r>
            <a:r>
              <a:rPr kumimoji="1" lang="en-US" altLang="ja-JP" dirty="0">
                <a:latin typeface="BIZ UDゴシック" panose="020B0400000000000000" pitchFamily="49" charset="-128"/>
                <a:ea typeface="BIZ UDゴシック" panose="020B0400000000000000" pitchFamily="49" charset="-128"/>
              </a:rPr>
              <a:t>(Modeling the effects of a factor and a continuous covariate)</a:t>
            </a:r>
            <a:r>
              <a:rPr kumimoji="1" lang="ja-JP" altLang="en-US" dirty="0">
                <a:latin typeface="BIZ UDゴシック" panose="020B0400000000000000" pitchFamily="49" charset="-128"/>
                <a:ea typeface="BIZ UDゴシック" panose="020B0400000000000000" pitchFamily="49" charset="-128"/>
              </a:rPr>
              <a:t>共分散分析（</a:t>
            </a:r>
            <a:r>
              <a:rPr kumimoji="1" lang="en-US" altLang="ja-JP" dirty="0">
                <a:latin typeface="BIZ UDゴシック" panose="020B0400000000000000" pitchFamily="49" charset="-128"/>
                <a:ea typeface="BIZ UDゴシック" panose="020B0400000000000000" pitchFamily="49" charset="-128"/>
              </a:rPr>
              <a:t>ANCOVA</a:t>
            </a:r>
            <a:r>
              <a:rPr kumimoji="1" lang="ja-JP" altLang="en-US" dirty="0">
                <a:latin typeface="BIZ UDゴシック" panose="020B0400000000000000" pitchFamily="49" charset="-128"/>
                <a:ea typeface="BIZ UDゴシック" panose="020B0400000000000000" pitchFamily="49" charset="-128"/>
              </a:rPr>
              <a:t>）モデルに相当し、因子と連続共変量の組み合わせ効果を調べる。   各グループで回帰の傾きが共通である「主効果</a:t>
            </a:r>
            <a:r>
              <a:rPr kumimoji="1" lang="en-US" altLang="ja-JP" dirty="0">
                <a:latin typeface="BIZ UDゴシック" panose="020B0400000000000000" pitchFamily="49" charset="-128"/>
                <a:ea typeface="BIZ UDゴシック" panose="020B0400000000000000" pitchFamily="49" charset="-128"/>
              </a:rPr>
              <a:t>ANCOVA</a:t>
            </a:r>
            <a:r>
              <a:rPr kumimoji="1" lang="ja-JP" altLang="en-US" dirty="0">
                <a:latin typeface="BIZ UDゴシック" panose="020B0400000000000000" pitchFamily="49" charset="-128"/>
                <a:ea typeface="BIZ UDゴシック" panose="020B0400000000000000" pitchFamily="49" charset="-128"/>
              </a:rPr>
              <a:t>（平行線）」と、グループごとに傾きが異なる「交互作用</a:t>
            </a:r>
            <a:r>
              <a:rPr kumimoji="1" lang="en-US" altLang="ja-JP" dirty="0">
                <a:latin typeface="BIZ UDゴシック" panose="020B0400000000000000" pitchFamily="49" charset="-128"/>
                <a:ea typeface="BIZ UDゴシック" panose="020B0400000000000000" pitchFamily="49" charset="-128"/>
              </a:rPr>
              <a:t>ANCOVA</a:t>
            </a:r>
            <a:r>
              <a:rPr kumimoji="1" lang="ja-JP" altLang="en-US" dirty="0">
                <a:latin typeface="BIZ UDゴシック" panose="020B0400000000000000" pitchFamily="49" charset="-128"/>
                <a:ea typeface="BIZ UDゴシック" panose="020B0400000000000000" pitchFamily="49" charset="-128"/>
              </a:rPr>
              <a:t>」がある。</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endParaRPr kumimoji="1" lang="ja-JP" altLang="en-US" dirty="0">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123774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4F3F6-011E-359A-3E8C-306F208AE2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82F90A-EDCD-8B1C-CF00-E23D0DF42862}"/>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A52F3826-30AA-1DA3-432D-9CD68E5BBE64}"/>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F163136C-A29E-AE75-D13E-90CACF083B89}"/>
              </a:ext>
            </a:extLst>
          </p:cNvPr>
          <p:cNvPicPr>
            <a:picLocks noChangeAspect="1"/>
          </p:cNvPicPr>
          <p:nvPr/>
        </p:nvPicPr>
        <p:blipFill>
          <a:blip r:embed="rId2"/>
          <a:stretch>
            <a:fillRect/>
          </a:stretch>
        </p:blipFill>
        <p:spPr>
          <a:xfrm>
            <a:off x="3351821" y="0"/>
            <a:ext cx="5488357" cy="6858000"/>
          </a:xfrm>
          <a:prstGeom prst="rect">
            <a:avLst/>
          </a:prstGeom>
        </p:spPr>
      </p:pic>
    </p:spTree>
    <p:extLst>
      <p:ext uri="{BB962C8B-B14F-4D97-AF65-F5344CB8AC3E}">
        <p14:creationId xmlns:p14="http://schemas.microsoft.com/office/powerpoint/2010/main" val="3584483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F122-3760-8629-5888-9007EE78AE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F26D12-931A-88BA-87FF-23C688F3C81A}"/>
              </a:ext>
            </a:extLst>
          </p:cNvPr>
          <p:cNvSpPr>
            <a:spLocks noGrp="1"/>
          </p:cNvSpPr>
          <p:nvPr>
            <p:ph type="title"/>
          </p:nvPr>
        </p:nvSpPr>
        <p:spPr/>
        <p:txBody>
          <a:bodyPr>
            <a:noAutofit/>
          </a:bodyPr>
          <a:lstStyle/>
          <a:p>
            <a:r>
              <a:rPr kumimoji="1" lang="en-US" altLang="ja-JP" sz="2400" dirty="0">
                <a:latin typeface="BIZ UDゴシック" panose="020B0400000000000000" pitchFamily="49" charset="-128"/>
                <a:ea typeface="BIZ UDゴシック" panose="020B0400000000000000" pitchFamily="49" charset="-128"/>
              </a:rPr>
              <a:t>3.5 </a:t>
            </a:r>
            <a:r>
              <a:rPr kumimoji="1" lang="ja-JP" altLang="en-US" sz="2400" dirty="0">
                <a:latin typeface="BIZ UDゴシック" panose="020B0400000000000000" pitchFamily="49" charset="-128"/>
                <a:ea typeface="BIZ UDゴシック" panose="020B0400000000000000" pitchFamily="49" charset="-128"/>
              </a:rPr>
              <a:t>線形、一般化線形、線形混合、一般化線形混合、階層、および統合モデルの概要 </a:t>
            </a:r>
            <a:br>
              <a:rPr kumimoji="1" lang="en-US" altLang="ja-JP" sz="2400" dirty="0">
                <a:latin typeface="BIZ UDゴシック" panose="020B0400000000000000" pitchFamily="49" charset="-128"/>
                <a:ea typeface="BIZ UDゴシック" panose="020B0400000000000000" pitchFamily="49" charset="-128"/>
              </a:rPr>
            </a:br>
            <a:r>
              <a:rPr kumimoji="1" lang="en-US" altLang="ja-JP" sz="2400" dirty="0">
                <a:latin typeface="BIZ UDゴシック" panose="020B0400000000000000" pitchFamily="49" charset="-128"/>
                <a:ea typeface="BIZ UDゴシック" panose="020B0400000000000000" pitchFamily="49" charset="-128"/>
              </a:rPr>
              <a:t>(Brief overview of linear, generalized linear, (generalized) linear mixed, hierarchical, and integrated models)</a:t>
            </a:r>
            <a:endParaRPr kumimoji="1" lang="ja-JP" altLang="en-US" sz="24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D6091ED-4EE0-9C13-F151-FEF120222F2D}"/>
              </a:ext>
            </a:extLst>
          </p:cNvPr>
          <p:cNvSpPr>
            <a:spLocks noGrp="1"/>
          </p:cNvSpPr>
          <p:nvPr>
            <p:ph idx="1"/>
          </p:nvPr>
        </p:nvSpPr>
        <p:spPr>
          <a:xfrm>
            <a:off x="838200" y="2404153"/>
            <a:ext cx="10515600" cy="3772810"/>
          </a:xfrm>
        </p:spPr>
        <p:txBody>
          <a:bodyPr>
            <a:normAutofit/>
          </a:bodyPr>
          <a:lstStyle/>
          <a:p>
            <a:r>
              <a:rPr kumimoji="1" lang="ja-JP" altLang="en-US" sz="2400" dirty="0">
                <a:latin typeface="BIZ UDゴシック" panose="020B0400000000000000" pitchFamily="49" charset="-128"/>
                <a:ea typeface="BIZ UDゴシック" panose="020B0400000000000000" pitchFamily="49" charset="-128"/>
              </a:rPr>
              <a:t>本書で扱う</a:t>
            </a:r>
            <a:r>
              <a:rPr kumimoji="1" lang="en-US" altLang="ja-JP" sz="2400" dirty="0">
                <a:latin typeface="BIZ UDゴシック" panose="020B0400000000000000" pitchFamily="49" charset="-128"/>
                <a:ea typeface="BIZ UDゴシック" panose="020B0400000000000000" pitchFamily="49" charset="-128"/>
              </a:rPr>
              <a:t>6</a:t>
            </a:r>
            <a:r>
              <a:rPr kumimoji="1" lang="ja-JP" altLang="en-US" sz="2400" dirty="0">
                <a:latin typeface="BIZ UDゴシック" panose="020B0400000000000000" pitchFamily="49" charset="-128"/>
                <a:ea typeface="BIZ UDゴシック" panose="020B0400000000000000" pitchFamily="49" charset="-128"/>
              </a:rPr>
              <a:t>つの大分類モデル（</a:t>
            </a:r>
            <a:r>
              <a:rPr kumimoji="1" lang="en-US" altLang="ja-JP" sz="2400" dirty="0">
                <a:latin typeface="BIZ UDゴシック" panose="020B0400000000000000" pitchFamily="49" charset="-128"/>
                <a:ea typeface="BIZ UDゴシック" panose="020B0400000000000000" pitchFamily="49" charset="-128"/>
              </a:rPr>
              <a:t>LM, GLM, LMM, GLMM, HM, IM</a:t>
            </a:r>
            <a:r>
              <a:rPr kumimoji="1" lang="ja-JP" altLang="en-US" sz="2400" dirty="0">
                <a:latin typeface="BIZ UDゴシック" panose="020B0400000000000000" pitchFamily="49" charset="-128"/>
                <a:ea typeface="BIZ UDゴシック" panose="020B0400000000000000" pitchFamily="49" charset="-128"/>
              </a:rPr>
              <a:t>）は、「応答変数が正規分布か指数型分布族か」および「ランダム過程が単一か複数（階層構造）か」の</a:t>
            </a:r>
            <a:r>
              <a:rPr kumimoji="1" lang="en-US" altLang="ja-JP" sz="2400" dirty="0">
                <a:latin typeface="BIZ UDゴシック" panose="020B0400000000000000" pitchFamily="49" charset="-128"/>
                <a:ea typeface="BIZ UDゴシック" panose="020B0400000000000000" pitchFamily="49" charset="-128"/>
              </a:rPr>
              <a:t>2</a:t>
            </a:r>
            <a:r>
              <a:rPr kumimoji="1" lang="ja-JP" altLang="en-US" sz="2400" dirty="0">
                <a:latin typeface="BIZ UDゴシック" panose="020B0400000000000000" pitchFamily="49" charset="-128"/>
                <a:ea typeface="BIZ UDゴシック" panose="020B0400000000000000" pitchFamily="49" charset="-128"/>
              </a:rPr>
              <a:t>軸で整理できる。   </a:t>
            </a:r>
            <a:endParaRPr kumimoji="1" lang="en-US" altLang="ja-JP" sz="2400" dirty="0">
              <a:latin typeface="BIZ UDゴシック" panose="020B0400000000000000" pitchFamily="49" charset="-128"/>
              <a:ea typeface="BIZ UDゴシック" panose="020B0400000000000000" pitchFamily="49" charset="-128"/>
            </a:endParaRPr>
          </a:p>
          <a:p>
            <a:endParaRPr lang="en-US" altLang="ja-JP" sz="2400" dirty="0">
              <a:latin typeface="BIZ UDゴシック" panose="020B0400000000000000" pitchFamily="49" charset="-128"/>
              <a:ea typeface="BIZ UDゴシック" panose="020B0400000000000000" pitchFamily="49" charset="-128"/>
            </a:endParaRPr>
          </a:p>
          <a:p>
            <a:r>
              <a:rPr kumimoji="1" lang="en-US" altLang="ja-JP" sz="2400" dirty="0">
                <a:latin typeface="BIZ UDゴシック" panose="020B0400000000000000" pitchFamily="49" charset="-128"/>
                <a:ea typeface="BIZ UDゴシック" panose="020B0400000000000000" pitchFamily="49" charset="-128"/>
              </a:rPr>
              <a:t>GLM</a:t>
            </a:r>
            <a:r>
              <a:rPr kumimoji="1" lang="ja-JP" altLang="en-US" sz="2400" dirty="0">
                <a:latin typeface="BIZ UDゴシック" panose="020B0400000000000000" pitchFamily="49" charset="-128"/>
                <a:ea typeface="BIZ UDゴシック" panose="020B0400000000000000" pitchFamily="49" charset="-128"/>
              </a:rPr>
              <a:t>は、統計分布、リンク関数、線形モデルの</a:t>
            </a:r>
            <a:r>
              <a:rPr kumimoji="1" lang="en-US" altLang="ja-JP" sz="2400" dirty="0">
                <a:latin typeface="BIZ UDゴシック" panose="020B0400000000000000" pitchFamily="49" charset="-128"/>
                <a:ea typeface="BIZ UDゴシック" panose="020B0400000000000000" pitchFamily="49" charset="-128"/>
              </a:rPr>
              <a:t>3</a:t>
            </a:r>
            <a:r>
              <a:rPr kumimoji="1" lang="ja-JP" altLang="en-US" sz="2400" dirty="0">
                <a:latin typeface="BIZ UDゴシック" panose="020B0400000000000000" pitchFamily="49" charset="-128"/>
                <a:ea typeface="BIZ UDゴシック" panose="020B0400000000000000" pitchFamily="49" charset="-128"/>
              </a:rPr>
              <a:t>つの概念から成り立っており、複雑な階層モデル（</a:t>
            </a:r>
            <a:r>
              <a:rPr kumimoji="1" lang="en-US" altLang="ja-JP" sz="2400" dirty="0">
                <a:latin typeface="BIZ UDゴシック" panose="020B0400000000000000" pitchFamily="49" charset="-128"/>
                <a:ea typeface="BIZ UDゴシック" panose="020B0400000000000000" pitchFamily="49" charset="-128"/>
              </a:rPr>
              <a:t>HM</a:t>
            </a:r>
            <a:r>
              <a:rPr kumimoji="1" lang="ja-JP" altLang="en-US" sz="2400" dirty="0">
                <a:latin typeface="BIZ UDゴシック" panose="020B0400000000000000" pitchFamily="49" charset="-128"/>
                <a:ea typeface="BIZ UDゴシック" panose="020B0400000000000000" pitchFamily="49" charset="-128"/>
              </a:rPr>
              <a:t>）も本質的には複数の</a:t>
            </a:r>
            <a:r>
              <a:rPr kumimoji="1" lang="en-US" altLang="ja-JP" sz="2400" dirty="0">
                <a:latin typeface="BIZ UDゴシック" panose="020B0400000000000000" pitchFamily="49" charset="-128"/>
                <a:ea typeface="BIZ UDゴシック" panose="020B0400000000000000" pitchFamily="49" charset="-128"/>
              </a:rPr>
              <a:t>GLM</a:t>
            </a:r>
            <a:r>
              <a:rPr kumimoji="1" lang="ja-JP" altLang="en-US" sz="2400" dirty="0">
                <a:latin typeface="BIZ UDゴシック" panose="020B0400000000000000" pitchFamily="49" charset="-128"/>
                <a:ea typeface="BIZ UDゴシック" panose="020B0400000000000000" pitchFamily="49" charset="-128"/>
              </a:rPr>
              <a:t>を直列に繋いだものとして理解できる。 </a:t>
            </a:r>
          </a:p>
        </p:txBody>
      </p:sp>
    </p:spTree>
    <p:extLst>
      <p:ext uri="{BB962C8B-B14F-4D97-AF65-F5344CB8AC3E}">
        <p14:creationId xmlns:p14="http://schemas.microsoft.com/office/powerpoint/2010/main" val="1354504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0E87A-FC82-FA2D-E017-E239866F4A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952223-D9CB-939D-82D5-E1946DBF5C31}"/>
              </a:ext>
            </a:extLst>
          </p:cNvPr>
          <p:cNvSpPr>
            <a:spLocks noGrp="1"/>
          </p:cNvSpPr>
          <p:nvPr>
            <p:ph type="title"/>
          </p:nvPr>
        </p:nvSpPr>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3.6 </a:t>
            </a:r>
            <a:r>
              <a:rPr kumimoji="1" lang="ja-JP" altLang="en-US" sz="3600" dirty="0">
                <a:latin typeface="BIZ UDゴシック" panose="020B0400000000000000" pitchFamily="49" charset="-128"/>
                <a:ea typeface="BIZ UDゴシック" panose="020B0400000000000000" pitchFamily="49" charset="-128"/>
              </a:rPr>
              <a:t>まとめと展望 </a:t>
            </a: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(Summary and outlook)</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F8E7089F-05A2-CB49-F2DF-906F09003C3B}"/>
              </a:ext>
            </a:extLst>
          </p:cNvPr>
          <p:cNvSpPr>
            <a:spLocks noGrp="1"/>
          </p:cNvSpPr>
          <p:nvPr>
            <p:ph idx="1"/>
          </p:nvPr>
        </p:nvSpPr>
        <p:spPr>
          <a:xfrm>
            <a:off x="838200" y="2681555"/>
            <a:ext cx="10515600" cy="3495408"/>
          </a:xfrm>
        </p:spPr>
        <p:txBody>
          <a:bodyPr/>
          <a:lstStyle/>
          <a:p>
            <a:r>
              <a:rPr kumimoji="1" lang="ja-JP" altLang="en-US" dirty="0">
                <a:latin typeface="BIZ UDゴシック" panose="020B0400000000000000" pitchFamily="49" charset="-128"/>
                <a:ea typeface="BIZ UDゴシック" panose="020B0400000000000000" pitchFamily="49" charset="-128"/>
              </a:rPr>
              <a:t>確率変数の統計分布、パラメータを変換するリンク関数、共変量効果の線形モデルという</a:t>
            </a:r>
            <a:r>
              <a:rPr kumimoji="1" lang="en-US" altLang="ja-JP" dirty="0">
                <a:latin typeface="BIZ UDゴシック" panose="020B0400000000000000" pitchFamily="49" charset="-128"/>
                <a:ea typeface="BIZ UDゴシック" panose="020B0400000000000000" pitchFamily="49" charset="-128"/>
              </a:rPr>
              <a:t>3</a:t>
            </a:r>
            <a:r>
              <a:rPr kumimoji="1" lang="ja-JP" altLang="en-US" dirty="0">
                <a:latin typeface="BIZ UDゴシック" panose="020B0400000000000000" pitchFamily="49" charset="-128"/>
                <a:ea typeface="BIZ UDゴシック" panose="020B0400000000000000" pitchFamily="49" charset="-128"/>
              </a:rPr>
              <a:t>つの基本選択がすべての回帰モデルの基礎をなす。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これらの関係（ファミリーツリー）を理解することで、膨大な統計モデルの「動物園」で迷うことなく、研究目的に最適なモデルを選択・構築できるようになる。</a:t>
            </a:r>
          </a:p>
        </p:txBody>
      </p:sp>
    </p:spTree>
    <p:extLst>
      <p:ext uri="{BB962C8B-B14F-4D97-AF65-F5344CB8AC3E}">
        <p14:creationId xmlns:p14="http://schemas.microsoft.com/office/powerpoint/2010/main" val="2635553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27F6C-0027-21C9-FB25-EE8295289D7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2BA1EE-98FD-54D4-2E0C-97B4C2C44365}"/>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3556F74-4524-46D2-0B2D-93273A6B4FAA}"/>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4291227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02452-6788-D8DE-FD1D-6DD935B9A1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59AE9C-0A35-2178-B878-4C9AF4EF47C1}"/>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AF6FD68-5E32-7220-9E19-3DE834A2EBF5}"/>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2853254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F9ED-407D-0DE8-23DA-4B78938114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0BA766-C429-CAF5-79F3-3BF95489CC5B}"/>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740BEC22-C337-6810-A8FA-5323384D44CC}"/>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8293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C5FE0-5750-F14C-DB98-8BB8479ABA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0201CE-066A-13D2-1F8E-6AFEBB2E14F3}"/>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9C7F8A9-E9A7-54EA-2AA7-EE739CDEB8C1}"/>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2883714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A13F6-7AAC-DBB3-CB88-FA7C661794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8A1A63-8FC8-551D-7D16-B3108DB42ABC}"/>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69101EFB-C1F5-EF0F-A18B-C30EF55FFB14}"/>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1963850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11ACB-000E-C378-80E2-6518F59A26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CB25B6-D3BD-F362-E7A8-AF4B2D71E91A}"/>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BE038B48-1675-39CC-2723-8CD4362CBD7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1746623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799A2-FA12-67B8-153D-28428AF5EF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74E8C7-E694-BC57-BFF1-5F2DB0B42877}"/>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5C6649E-8A69-9D59-62AA-724004E37034}"/>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210319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8BE83-C0EA-D3C0-8868-5CA718697A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07C6CE-9280-2B67-A015-FB04823243E2}"/>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61F29BB1-B02F-2FB3-B44E-39C28C9D537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2014585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23497-AD11-6172-DA18-42C0917A23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531919-7AC2-2E9B-B90B-A66F9F6846B7}"/>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2EADA702-FFD8-DD61-335E-B80502E585B8}"/>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42884097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TotalTime>
  <Words>1701</Words>
  <Application>Microsoft Office PowerPoint</Application>
  <PresentationFormat>ワイド画面</PresentationFormat>
  <Paragraphs>53</Paragraphs>
  <Slides>19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BIZ UDゴシック</vt:lpstr>
      <vt:lpstr>游ゴシック</vt:lpstr>
      <vt:lpstr>游ゴシック Light</vt:lpstr>
      <vt:lpstr>Aptos</vt:lpstr>
      <vt:lpstr>Arial</vt:lpstr>
      <vt:lpstr>Office テーマ</vt:lpstr>
      <vt:lpstr>Applied Statistical Modelling for Ecologists  ASPM</vt:lpstr>
      <vt:lpstr>3.1 導入 (Introduction)</vt:lpstr>
      <vt:lpstr>3.2 モデル内の確率変数に対する統計分布 (Statistical distributions for the random variables in our model)</vt:lpstr>
      <vt:lpstr>3.2　確率変数</vt:lpstr>
      <vt:lpstr>3.3 パラメータ変換のためのリンク関数 (Link functions...)</vt:lpstr>
      <vt:lpstr>3.3 パラメータ変換のためのリンク関数  (Link functions to model parameters on a transformed scale)</vt:lpstr>
      <vt:lpstr>3.4 共変量効果の線形モデル化  (Linear modeling of covariate effects)</vt:lpstr>
      <vt:lpstr>PowerPoint プレゼンテーション</vt:lpstr>
      <vt:lpstr>3.5 線形、一般化線形、線形混合、一般化線形混合、階層、および統合モデルの概要  (Brief overview of linear, generalized linear, (generalized) linear mixed, hierarchical, and integrated models)</vt:lpstr>
      <vt:lpstr>3.6 まとめと展望  (Summary and outlook)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大下　誠二</dc:creator>
  <cp:lastModifiedBy>誠二 大下</cp:lastModifiedBy>
  <cp:revision>7</cp:revision>
  <dcterms:created xsi:type="dcterms:W3CDTF">2026-10-06T23:13:34Z</dcterms:created>
  <dcterms:modified xsi:type="dcterms:W3CDTF">2026-10-10T05:58:39Z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2026-10-06T23:15:09Z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1d969f6b-a62f-407a-9855-5580c37b838a</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テーマ:8</vt:lpwstr>
  </property>
  <property fmtid="{D5CDD505-2E9C-101B-9397-08002B2CF9AE}" pid="11" name="ClassificationContentMarkingHeaderText">
    <vt:lpwstr>【機密性2情報】</vt:lpwstr>
  </property>
</Properties>
</file>